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50" b="0" i="0" u="none" strike="noStrike">
                <a:solidFill>
                  <a:srgbClr val="0D2B45"/>
                </a:solidFill>
                <a:latin typeface="PingFang SC"/>
              </a:defRPr>
            </a:pPr>
            <a:r>
              <a:rPr sz="1250" b="0" i="0" u="none" strike="noStrike">
                <a:solidFill>
                  <a:srgbClr val="0D2B45"/>
                </a:solidFill>
                <a:latin typeface="PingFang SC"/>
              </a:rPr>
              <a:t>主导方向的预测增益占比（各数据集 4 个 horizon 的中点, %）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主导方向占可获得增益</c:v>
                </c:pt>
              </c:strCache>
            </c:strRef>
          </c:tx>
          <c:spPr>
            <a:solidFill>
              <a:srgbClr val="2E7BB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2B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ETTh1</c:v>
                  </c:pt>
                  <c:pt idx="1">
                    <c:v>ETTh2</c:v>
                  </c:pt>
                  <c:pt idx="2">
                    <c:v>ETTm1</c:v>
                  </c:pt>
                  <c:pt idx="3">
                    <c:v>ETTm2</c:v>
                  </c:pt>
                  <c:pt idx="4">
                    <c:v>Weather</c:v>
                  </c:pt>
                  <c:pt idx="5">
                    <c:v>Electricity</c:v>
                  </c:pt>
                  <c:pt idx="6">
                    <c:v>Traffic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73</c:v>
                </c:pt>
                <c:pt idx="1">
                  <c:v>81.8</c:v>
                </c:pt>
                <c:pt idx="2">
                  <c:v>72.7</c:v>
                </c:pt>
                <c:pt idx="3">
                  <c:v>78.1</c:v>
                </c:pt>
                <c:pt idx="4">
                  <c:v>82.3</c:v>
                </c:pt>
                <c:pt idx="5">
                  <c:v>66.3</c:v>
                </c:pt>
                <c:pt idx="6">
                  <c:v>64.6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D2B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D2B45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E8F0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8B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50" b="0" i="0" u="none" strike="noStrike">
                <a:solidFill>
                  <a:srgbClr val="0D2B45"/>
                </a:solidFill>
                <a:latin typeface="PingFang SC"/>
              </a:defRPr>
            </a:pPr>
            <a:r>
              <a:rPr sz="1250" b="0" i="0" u="none" strike="noStrike">
                <a:solidFill>
                  <a:srgbClr val="0D2B45"/>
                </a:solidFill>
                <a:latin typeface="PingFang SC"/>
              </a:rPr>
              <a:t>同一方向：预测增益 vs 输入能量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占可获得预测增益</c:v>
                </c:pt>
              </c:strCache>
            </c:strRef>
          </c:tx>
          <c:spPr>
            <a:solidFill>
              <a:srgbClr val="2E7BB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2B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ETTh2</c:v>
                  </c:pt>
                  <c:pt idx="1">
                    <c:v>ETTm2</c:v>
                  </c:pt>
                  <c:pt idx="2">
                    <c:v>ETTh1</c:v>
                  </c:pt>
                  <c:pt idx="3">
                    <c:v>Weather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81.8</c:v>
                </c:pt>
                <c:pt idx="1">
                  <c:v>78.1</c:v>
                </c:pt>
                <c:pt idx="2">
                  <c:v>73</c:v>
                </c:pt>
                <c:pt idx="3">
                  <c:v>82.3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占输入方差（能量诊断）</c:v>
                </c:pt>
              </c:strCache>
            </c:strRef>
          </c:tx>
          <c:spPr>
            <a:solidFill>
              <a:srgbClr val="8FC2E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2B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ETTh2</c:v>
                  </c:pt>
                  <c:pt idx="1">
                    <c:v>ETTm2</c:v>
                  </c:pt>
                  <c:pt idx="2">
                    <c:v>ETTh1</c:v>
                  </c:pt>
                  <c:pt idx="3">
                    <c:v>Weather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2.85</c:v>
                </c:pt>
                <c:pt idx="1">
                  <c:v>2.55</c:v>
                </c:pt>
                <c:pt idx="2">
                  <c:v>6.45</c:v>
                </c:pt>
                <c:pt idx="3">
                  <c:v>14.1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D2B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0D2B45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0"/>
        </c:scaling>
        <c:delete val="0"/>
        <c:axPos val="l"/>
        <c:majorGridlines>
          <c:spPr>
            <a:ln w="12700" cap="flat">
              <a:solidFill>
                <a:srgbClr val="E8F0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8B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PingFang SC"/>
              <a:cs typeface="PingFang S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00" b="0" i="0" u="none" strike="noStrike">
                <a:solidFill>
                  <a:srgbClr val="0D2B45"/>
                </a:solidFill>
                <a:latin typeface="PingFang SC"/>
              </a:defRPr>
            </a:pPr>
            <a:r>
              <a:rPr sz="1200" b="0" i="0" u="none" strike="noStrike">
                <a:solidFill>
                  <a:srgbClr val="0D2B45"/>
                </a:solidFill>
                <a:latin typeface="PingFang SC"/>
              </a:rPr>
              <a:t>相对 MSE 变化 (%)　↓ 负值 = 优于 matched baseline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H=96</c:v>
                </c:pt>
              </c:strCache>
            </c:strRef>
          </c:tx>
          <c:spPr>
            <a:solidFill>
              <a:srgbClr val="1543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ETTh2</c:v>
                  </c:pt>
                  <c:pt idx="1">
                    <c:v>ETTm2</c:v>
                  </c:pt>
                  <c:pt idx="2">
                    <c:v>Weather</c:v>
                  </c:pt>
                  <c:pt idx="3">
                    <c:v>Electricity</c:v>
                  </c:pt>
                  <c:pt idx="4">
                    <c:v>ETTh1</c:v>
                  </c:pt>
                  <c:pt idx="5">
                    <c:v>ETTm1</c:v>
                  </c:pt>
                  <c:pt idx="6">
                    <c:v>Traffic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-3.06</c:v>
                </c:pt>
                <c:pt idx="1">
                  <c:v>-8.73</c:v>
                </c:pt>
                <c:pt idx="2">
                  <c:v>-2.42</c:v>
                </c:pt>
                <c:pt idx="3">
                  <c:v>-0.96</c:v>
                </c:pt>
                <c:pt idx="4">
                  <c:v>1.98</c:v>
                </c:pt>
                <c:pt idx="5">
                  <c:v>1.14</c:v>
                </c:pt>
                <c:pt idx="6">
                  <c:v>1.18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H=192</c:v>
                </c:pt>
              </c:strCache>
            </c:strRef>
          </c:tx>
          <c:spPr>
            <a:solidFill>
              <a:srgbClr val="2E7B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ETTh2</c:v>
                  </c:pt>
                  <c:pt idx="1">
                    <c:v>ETTm2</c:v>
                  </c:pt>
                  <c:pt idx="2">
                    <c:v>Weather</c:v>
                  </c:pt>
                  <c:pt idx="3">
                    <c:v>Electricity</c:v>
                  </c:pt>
                  <c:pt idx="4">
                    <c:v>ETTh1</c:v>
                  </c:pt>
                  <c:pt idx="5">
                    <c:v>ETTm1</c:v>
                  </c:pt>
                  <c:pt idx="6">
                    <c:v>Traffic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-1.37</c:v>
                </c:pt>
                <c:pt idx="1">
                  <c:v>-5.88</c:v>
                </c:pt>
                <c:pt idx="2">
                  <c:v>-1.55</c:v>
                </c:pt>
                <c:pt idx="3">
                  <c:v>-0.43</c:v>
                </c:pt>
                <c:pt idx="4">
                  <c:v>1.21</c:v>
                </c:pt>
                <c:pt idx="5">
                  <c:v>2.4</c:v>
                </c:pt>
                <c:pt idx="6">
                  <c:v>1.38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H=336</c:v>
                </c:pt>
              </c:strCache>
            </c:strRef>
          </c:tx>
          <c:spPr>
            <a:solidFill>
              <a:srgbClr val="8FC2E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ETTh2</c:v>
                  </c:pt>
                  <c:pt idx="1">
                    <c:v>ETTm2</c:v>
                  </c:pt>
                  <c:pt idx="2">
                    <c:v>Weather</c:v>
                  </c:pt>
                  <c:pt idx="3">
                    <c:v>Electricity</c:v>
                  </c:pt>
                  <c:pt idx="4">
                    <c:v>ETTh1</c:v>
                  </c:pt>
                  <c:pt idx="5">
                    <c:v>ETTm1</c:v>
                  </c:pt>
                  <c:pt idx="6">
                    <c:v>Traffic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-1.5</c:v>
                </c:pt>
                <c:pt idx="1">
                  <c:v>-3.12</c:v>
                </c:pt>
                <c:pt idx="2">
                  <c:v>-1.83</c:v>
                </c:pt>
                <c:pt idx="3">
                  <c:v>-2.88</c:v>
                </c:pt>
                <c:pt idx="4">
                  <c:v>-0.91</c:v>
                </c:pt>
                <c:pt idx="5">
                  <c:v>2.66</c:v>
                </c:pt>
                <c:pt idx="6">
                  <c:v>1.68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H=720</c:v>
                </c:pt>
              </c:strCache>
            </c:strRef>
          </c:tx>
          <c:spPr>
            <a:solidFill>
              <a:srgbClr val="DEEA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ETTh2</c:v>
                  </c:pt>
                  <c:pt idx="1">
                    <c:v>ETTm2</c:v>
                  </c:pt>
                  <c:pt idx="2">
                    <c:v>Weather</c:v>
                  </c:pt>
                  <c:pt idx="3">
                    <c:v>Electricity</c:v>
                  </c:pt>
                  <c:pt idx="4">
                    <c:v>ETTh1</c:v>
                  </c:pt>
                  <c:pt idx="5">
                    <c:v>ETTm1</c:v>
                  </c:pt>
                  <c:pt idx="6">
                    <c:v>Traffic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-5.68</c:v>
                </c:pt>
                <c:pt idx="1">
                  <c:v>-1.26</c:v>
                </c:pt>
                <c:pt idx="2">
                  <c:v>-0.52</c:v>
                </c:pt>
                <c:pt idx="3">
                  <c:v>-1.15</c:v>
                </c:pt>
                <c:pt idx="4">
                  <c:v>-0.41</c:v>
                </c:pt>
                <c:pt idx="5">
                  <c:v>0.4</c:v>
                </c:pt>
                <c:pt idx="6">
                  <c:v>1.75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0D2B45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-10"/>
        </c:scaling>
        <c:delete val="0"/>
        <c:axPos val="l"/>
        <c:majorGridlines>
          <c:spPr>
            <a:ln w="12700" cap="flat">
              <a:solidFill>
                <a:srgbClr val="E8F0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8B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PingFang SC"/>
              <a:cs typeface="PingFang S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分钟学术组会。定位：上级要结论，同行要证据。全篇 11 页，每页第一句先给结论。主线两条 insight：(1) 单一方向吃掉大部分可获得增益；(2) 该方向能量极小，预测价值与信号能量解耦。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777240"/>
            <a:ext cx="3227832" cy="5303520"/>
          </a:xfrm>
          <a:prstGeom prst="roundRect">
            <a:avLst>
              <a:gd name="adj" fmla="val 1700"/>
            </a:avLst>
          </a:prstGeom>
          <a:solidFill>
            <a:srgbClr val="F4F8FC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75320" y="14173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54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64%–86%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549640" y="2395728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可获得线性增益中，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单一方向所能占据的比例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823960" y="3310128"/>
            <a:ext cx="2130552" cy="32004"/>
          </a:xfrm>
          <a:prstGeom prst="roundRect">
            <a:avLst/>
          </a:prstGeom>
          <a:solidFill>
            <a:srgbClr val="CBD9E6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49640" y="3529584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但这个方向只占输入方差的</a:t>
            </a:r>
            <a:endParaRPr lang="en-US" sz="12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0.8%–4.6%——按能量降维会把它丢掉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549640" y="459028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跨周期电平漂移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是现存缺口的来源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2070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EXTENSION  ·  PHASEFORMER-L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572768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154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PhaseFormer-L</a:t>
            </a:r>
            <a:pPr indent="0" marL="0">
              <a:lnSpc>
                <a:spcPts val="5000"/>
              </a:lnSpc>
              <a:buNone/>
            </a:pP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低维电平适应：让相位域预测器</a:t>
            </a: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学会跨周期的电平漂移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685800" y="3822192"/>
            <a:ext cx="2834640" cy="32004"/>
          </a:xfrm>
          <a:prstGeom prst="round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04164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7C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Low-Dimensional Level Adaptation for Phase-Domain Time-Series Forecasting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02920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Yiming Niu  ·  学术组会  ·  2026-09-21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376672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来源：PhaseFormer-L 期刊版 minipaper（docs/minipaper_refined.md）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E7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 ·  问题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周期序列有两种变化，相位模型只解决了其中一种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9961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二者作用在观测矩阵的不同轴上；一个表示能处理好其一，不代表能同样处理好另一个。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883664"/>
            <a:ext cx="5263744" cy="2788920"/>
          </a:xfrm>
          <a:prstGeom prst="roundRect">
            <a:avLst>
              <a:gd name="adj" fmla="val 1967"/>
            </a:avLst>
          </a:prstGeom>
          <a:solidFill>
            <a:srgbClr val="F4F8FC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194560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4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已被 PhaseFormer 解决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2542032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周期内形状变化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69848" y="3634923"/>
            <a:ext cx="105156" cy="223845"/>
          </a:xfrm>
          <a:prstGeom prst="roundRect">
            <a:avLst>
              <a:gd name="adj" fmla="val 17391"/>
            </a:avLst>
          </a:prstGeom>
          <a:solidFill>
            <a:srgbClr val="8FC2E3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0996" y="3634923"/>
            <a:ext cx="47320" cy="223845"/>
          </a:xfrm>
          <a:prstGeom prst="roundRect">
            <a:avLst>
              <a:gd name="adj" fmla="val 38648"/>
            </a:avLst>
          </a:prstGeom>
          <a:solidFill>
            <a:srgbClr val="15436B"/>
          </a:solidFill>
          <a:ln w="12700">
            <a:solidFill>
              <a:srgbClr val="1543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3450580"/>
            <a:ext cx="105156" cy="408188"/>
          </a:xfrm>
          <a:prstGeom prst="roundRect">
            <a:avLst>
              <a:gd name="adj" fmla="val 17391"/>
            </a:avLst>
          </a:prstGeom>
          <a:solidFill>
            <a:srgbClr val="8FC2E3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1308" y="3384743"/>
            <a:ext cx="47320" cy="474025"/>
          </a:xfrm>
          <a:prstGeom prst="roundRect">
            <a:avLst>
              <a:gd name="adj" fmla="val 38648"/>
            </a:avLst>
          </a:prstGeom>
          <a:solidFill>
            <a:srgbClr val="15436B"/>
          </a:solidFill>
          <a:ln w="12700">
            <a:solidFill>
              <a:srgbClr val="1543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90472" y="3266237"/>
            <a:ext cx="105156" cy="592531"/>
          </a:xfrm>
          <a:prstGeom prst="roundRect">
            <a:avLst>
              <a:gd name="adj" fmla="val 17391"/>
            </a:avLst>
          </a:prstGeom>
          <a:solidFill>
            <a:srgbClr val="8FC2E3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31620" y="3292572"/>
            <a:ext cx="47320" cy="566196"/>
          </a:xfrm>
          <a:prstGeom prst="roundRect">
            <a:avLst>
              <a:gd name="adj" fmla="val 38648"/>
            </a:avLst>
          </a:prstGeom>
          <a:solidFill>
            <a:srgbClr val="15436B"/>
          </a:solidFill>
          <a:ln w="12700">
            <a:solidFill>
              <a:srgbClr val="1543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00784" y="3450580"/>
            <a:ext cx="105156" cy="408188"/>
          </a:xfrm>
          <a:prstGeom prst="roundRect">
            <a:avLst>
              <a:gd name="adj" fmla="val 17391"/>
            </a:avLst>
          </a:prstGeom>
          <a:solidFill>
            <a:srgbClr val="8FC2E3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41932" y="3496666"/>
            <a:ext cx="47320" cy="362102"/>
          </a:xfrm>
          <a:prstGeom prst="roundRect">
            <a:avLst>
              <a:gd name="adj" fmla="val 38648"/>
            </a:avLst>
          </a:prstGeom>
          <a:solidFill>
            <a:srgbClr val="15436B"/>
          </a:solidFill>
          <a:ln w="12700">
            <a:solidFill>
              <a:srgbClr val="1543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11096" y="3634923"/>
            <a:ext cx="105156" cy="223845"/>
          </a:xfrm>
          <a:prstGeom prst="roundRect">
            <a:avLst>
              <a:gd name="adj" fmla="val 17391"/>
            </a:avLst>
          </a:prstGeom>
          <a:solidFill>
            <a:srgbClr val="8FC2E3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52244" y="3595421"/>
            <a:ext cx="47320" cy="263347"/>
          </a:xfrm>
          <a:prstGeom prst="roundRect">
            <a:avLst>
              <a:gd name="adj" fmla="val 38648"/>
            </a:avLst>
          </a:prstGeom>
          <a:solidFill>
            <a:srgbClr val="15436B"/>
          </a:solidFill>
          <a:ln w="12700">
            <a:solidFill>
              <a:srgbClr val="1543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21408" y="3450580"/>
            <a:ext cx="105156" cy="408188"/>
          </a:xfrm>
          <a:prstGeom prst="roundRect">
            <a:avLst>
              <a:gd name="adj" fmla="val 17391"/>
            </a:avLst>
          </a:prstGeom>
          <a:solidFill>
            <a:srgbClr val="8FC2E3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62556" y="3411078"/>
            <a:ext cx="47320" cy="447690"/>
          </a:xfrm>
          <a:prstGeom prst="roundRect">
            <a:avLst>
              <a:gd name="adj" fmla="val 38648"/>
            </a:avLst>
          </a:prstGeom>
          <a:solidFill>
            <a:srgbClr val="15436B"/>
          </a:solidFill>
          <a:ln w="12700">
            <a:solidFill>
              <a:srgbClr val="1543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1720" y="3266237"/>
            <a:ext cx="105156" cy="592531"/>
          </a:xfrm>
          <a:prstGeom prst="roundRect">
            <a:avLst>
              <a:gd name="adj" fmla="val 17391"/>
            </a:avLst>
          </a:prstGeom>
          <a:solidFill>
            <a:srgbClr val="8FC2E3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2868" y="3233318"/>
            <a:ext cx="47320" cy="625450"/>
          </a:xfrm>
          <a:prstGeom prst="roundRect">
            <a:avLst>
              <a:gd name="adj" fmla="val 38648"/>
            </a:avLst>
          </a:prstGeom>
          <a:solidFill>
            <a:srgbClr val="15436B"/>
          </a:solidFill>
          <a:ln w="12700">
            <a:solidFill>
              <a:srgbClr val="1543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42032" y="3450580"/>
            <a:ext cx="105156" cy="408188"/>
          </a:xfrm>
          <a:prstGeom prst="roundRect">
            <a:avLst>
              <a:gd name="adj" fmla="val 17391"/>
            </a:avLst>
          </a:prstGeom>
          <a:solidFill>
            <a:srgbClr val="8FC2E3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83180" y="3476915"/>
            <a:ext cx="47320" cy="381853"/>
          </a:xfrm>
          <a:prstGeom prst="roundRect">
            <a:avLst>
              <a:gd name="adj" fmla="val 38648"/>
            </a:avLst>
          </a:prstGeom>
          <a:solidFill>
            <a:srgbClr val="15436B"/>
          </a:solidFill>
          <a:ln w="12700">
            <a:solidFill>
              <a:srgbClr val="1543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52344" y="3634923"/>
            <a:ext cx="105156" cy="223845"/>
          </a:xfrm>
          <a:prstGeom prst="roundRect">
            <a:avLst>
              <a:gd name="adj" fmla="val 17391"/>
            </a:avLst>
          </a:prstGeom>
          <a:solidFill>
            <a:srgbClr val="8FC2E3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93492" y="3661258"/>
            <a:ext cx="47320" cy="197510"/>
          </a:xfrm>
          <a:prstGeom prst="roundRect">
            <a:avLst>
              <a:gd name="adj" fmla="val 38648"/>
            </a:avLst>
          </a:prstGeom>
          <a:solidFill>
            <a:srgbClr val="15436B"/>
          </a:solidFill>
          <a:ln w="12700">
            <a:solidFill>
              <a:srgbClr val="1543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62656" y="3450580"/>
            <a:ext cx="105156" cy="408188"/>
          </a:xfrm>
          <a:prstGeom prst="roundRect">
            <a:avLst>
              <a:gd name="adj" fmla="val 17391"/>
            </a:avLst>
          </a:prstGeom>
          <a:solidFill>
            <a:srgbClr val="8FC2E3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03804" y="3424245"/>
            <a:ext cx="47320" cy="434523"/>
          </a:xfrm>
          <a:prstGeom prst="roundRect">
            <a:avLst>
              <a:gd name="adj" fmla="val 38648"/>
            </a:avLst>
          </a:prstGeom>
          <a:solidFill>
            <a:srgbClr val="15436B"/>
          </a:solidFill>
          <a:ln w="12700">
            <a:solidFill>
              <a:srgbClr val="1543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72968" y="3266237"/>
            <a:ext cx="105156" cy="592531"/>
          </a:xfrm>
          <a:prstGeom prst="roundRect">
            <a:avLst>
              <a:gd name="adj" fmla="val 17391"/>
            </a:avLst>
          </a:prstGeom>
          <a:solidFill>
            <a:srgbClr val="8FC2E3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14116" y="3279404"/>
            <a:ext cx="47320" cy="579364"/>
          </a:xfrm>
          <a:prstGeom prst="roundRect">
            <a:avLst>
              <a:gd name="adj" fmla="val 38648"/>
            </a:avLst>
          </a:prstGeom>
          <a:solidFill>
            <a:srgbClr val="15436B"/>
          </a:solidFill>
          <a:ln w="12700">
            <a:solidFill>
              <a:srgbClr val="1543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0" y="3450580"/>
            <a:ext cx="105156" cy="408188"/>
          </a:xfrm>
          <a:prstGeom prst="roundRect">
            <a:avLst>
              <a:gd name="adj" fmla="val 17391"/>
            </a:avLst>
          </a:prstGeom>
          <a:solidFill>
            <a:srgbClr val="8FC2E3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24428" y="3463747"/>
            <a:ext cx="47320" cy="395021"/>
          </a:xfrm>
          <a:prstGeom prst="roundRect">
            <a:avLst>
              <a:gd name="adj" fmla="val 38648"/>
            </a:avLst>
          </a:prstGeom>
          <a:solidFill>
            <a:srgbClr val="15436B"/>
          </a:solidFill>
          <a:ln w="12700">
            <a:solidFill>
              <a:srgbClr val="1543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69848" y="4005072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相位 tokenization 把同一 offset 的观测归入同一 token，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用紧凑的跨周期子空间刻画这种重复结构。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42152" y="1883664"/>
            <a:ext cx="5263744" cy="2788920"/>
          </a:xfrm>
          <a:prstGeom prst="roundRect">
            <a:avLst>
              <a:gd name="adj" fmla="val 1967"/>
            </a:avLst>
          </a:prstGeom>
          <a:solidFill>
            <a:srgbClr val="DEEAF5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26200" y="2194560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本文处理的缺口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626200" y="2542032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跨周期电平漂移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626200" y="3634923"/>
            <a:ext cx="105156" cy="223845"/>
          </a:xfrm>
          <a:prstGeom prst="roundRect">
            <a:avLst>
              <a:gd name="adj" fmla="val 17391"/>
            </a:avLst>
          </a:prstGeom>
          <a:solidFill>
            <a:srgbClr val="2E7BB5"/>
          </a:solidFill>
          <a:ln w="12700">
            <a:solidFill>
              <a:srgbClr val="2E7B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36512" y="3450580"/>
            <a:ext cx="105156" cy="408188"/>
          </a:xfrm>
          <a:prstGeom prst="roundRect">
            <a:avLst>
              <a:gd name="adj" fmla="val 17391"/>
            </a:avLst>
          </a:prstGeom>
          <a:solidFill>
            <a:srgbClr val="2E7BB5"/>
          </a:solidFill>
          <a:ln w="12700">
            <a:solidFill>
              <a:srgbClr val="2E7B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46824" y="3266237"/>
            <a:ext cx="105156" cy="592531"/>
          </a:xfrm>
          <a:prstGeom prst="roundRect">
            <a:avLst>
              <a:gd name="adj" fmla="val 17391"/>
            </a:avLst>
          </a:prstGeom>
          <a:solidFill>
            <a:srgbClr val="2E7BB5"/>
          </a:solidFill>
          <a:ln w="12700">
            <a:solidFill>
              <a:srgbClr val="2E7B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57136" y="3345241"/>
            <a:ext cx="105156" cy="408188"/>
          </a:xfrm>
          <a:prstGeom prst="roundRect">
            <a:avLst>
              <a:gd name="adj" fmla="val 17391"/>
            </a:avLst>
          </a:prstGeom>
          <a:solidFill>
            <a:srgbClr val="2E7BB5"/>
          </a:solidFill>
          <a:ln w="12700">
            <a:solidFill>
              <a:srgbClr val="2E7BB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67448" y="3529584"/>
            <a:ext cx="105156" cy="223845"/>
          </a:xfrm>
          <a:prstGeom prst="roundRect">
            <a:avLst>
              <a:gd name="adj" fmla="val 17391"/>
            </a:avLst>
          </a:prstGeom>
          <a:solidFill>
            <a:srgbClr val="2E7BB5"/>
          </a:solidFill>
          <a:ln w="12700">
            <a:solidFill>
              <a:srgbClr val="2E7BB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77760" y="3345241"/>
            <a:ext cx="105156" cy="408188"/>
          </a:xfrm>
          <a:prstGeom prst="roundRect">
            <a:avLst>
              <a:gd name="adj" fmla="val 17391"/>
            </a:avLst>
          </a:prstGeom>
          <a:solidFill>
            <a:srgbClr val="2E7BB5"/>
          </a:solidFill>
          <a:ln w="12700">
            <a:solidFill>
              <a:srgbClr val="2E7BB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88072" y="3055559"/>
            <a:ext cx="105156" cy="592531"/>
          </a:xfrm>
          <a:prstGeom prst="roundRect">
            <a:avLst>
              <a:gd name="adj" fmla="val 17391"/>
            </a:avLst>
          </a:prstGeom>
          <a:solidFill>
            <a:srgbClr val="2E7BB5"/>
          </a:solidFill>
          <a:ln w="12700">
            <a:solidFill>
              <a:srgbClr val="2E7BB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98384" y="3239902"/>
            <a:ext cx="105156" cy="408188"/>
          </a:xfrm>
          <a:prstGeom prst="roundRect">
            <a:avLst>
              <a:gd name="adj" fmla="val 17391"/>
            </a:avLst>
          </a:prstGeom>
          <a:solidFill>
            <a:srgbClr val="2E7BB5"/>
          </a:solidFill>
          <a:ln w="12700">
            <a:solidFill>
              <a:srgbClr val="2E7B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08696" y="3424245"/>
            <a:ext cx="105156" cy="223845"/>
          </a:xfrm>
          <a:prstGeom prst="roundRect">
            <a:avLst>
              <a:gd name="adj" fmla="val 17391"/>
            </a:avLst>
          </a:prstGeom>
          <a:solidFill>
            <a:srgbClr val="2E7BB5"/>
          </a:solidFill>
          <a:ln w="12700">
            <a:solidFill>
              <a:srgbClr val="2E7BB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19008" y="3134563"/>
            <a:ext cx="105156" cy="408188"/>
          </a:xfrm>
          <a:prstGeom prst="roundRect">
            <a:avLst>
              <a:gd name="adj" fmla="val 17391"/>
            </a:avLst>
          </a:prstGeom>
          <a:solidFill>
            <a:srgbClr val="2E7BB5"/>
          </a:solidFill>
          <a:ln w="12700">
            <a:solidFill>
              <a:srgbClr val="2E7BB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29320" y="2950220"/>
            <a:ext cx="105156" cy="592531"/>
          </a:xfrm>
          <a:prstGeom prst="roundRect">
            <a:avLst>
              <a:gd name="adj" fmla="val 17391"/>
            </a:avLst>
          </a:prstGeom>
          <a:solidFill>
            <a:srgbClr val="2E7BB5"/>
          </a:solidFill>
          <a:ln w="12700">
            <a:solidFill>
              <a:srgbClr val="2E7BB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39632" y="3134563"/>
            <a:ext cx="105156" cy="408188"/>
          </a:xfrm>
          <a:prstGeom prst="roundRect">
            <a:avLst>
              <a:gd name="adj" fmla="val 17391"/>
            </a:avLst>
          </a:prstGeom>
          <a:solidFill>
            <a:srgbClr val="2E7BB5"/>
          </a:solidFill>
          <a:ln w="12700">
            <a:solidFill>
              <a:srgbClr val="2E7BB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626200" y="4005072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形状不变，整体逐周期抬升。窗口中心化只移除共同电平，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并不消除周期之间的电平差异。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685800" y="578815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4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前者的有效表示不保证后者也能被有效利用——这正是本工作需要补上的一环。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8580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C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188720" y="6355080"/>
            <a:ext cx="10317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 minipaper 第 1–2.1 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E7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 ·  几何结构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电平漂移落在相位子空间之外，最多只多出一个方向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9961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窗口中心化移除了共同电平，却保留了周期间的电平差异。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901952"/>
            <a:ext cx="5989320" cy="2212848"/>
          </a:xfrm>
          <a:prstGeom prst="roundRect">
            <a:avLst>
              <a:gd name="adj" fmla="val 2479"/>
            </a:avLst>
          </a:prstGeom>
          <a:solidFill>
            <a:srgbClr val="F4F8FC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139696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4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命题 1（一个额外方向）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5603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</a:t>
            </a:r>
            <a:pPr indent="0" marL="0">
              <a:buNone/>
            </a:pPr>
            <a:r>
              <a:rPr lang="en-US" sz="1500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 (I − P</a:t>
            </a:r>
            <a:pPr indent="0" marL="0">
              <a:buNone/>
            </a:pPr>
            <a:r>
              <a:rPr lang="en-US" sz="1100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indent="0" marL="0">
              <a:buNone/>
            </a:pPr>
            <a:r>
              <a:rPr lang="en-US" sz="1500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C(X</a:t>
            </a:r>
            <a:pPr indent="0" marL="0">
              <a:buNone/>
            </a:pPr>
            <a:r>
              <a:rPr lang="en-US" sz="1100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ℓ</a:t>
            </a:r>
            <a:pPr indent="0" marL="0">
              <a:buNone/>
            </a:pPr>
            <a:r>
              <a:rPr lang="en-US" sz="1900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)  ≤ 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51560" y="3090672"/>
            <a:ext cx="5257800" cy="20117"/>
          </a:xfrm>
          <a:prstGeom prst="roundRect">
            <a:avLst/>
          </a:prstGeom>
          <a:solidFill>
            <a:srgbClr val="CBD9E6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3236976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只要残差中「不可预测」的部分足够小，单一秩就能承载几乎全部线性预测价值。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602736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C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∈ R^(K×P)：K 个周期、每周期 P 个位置；P_S 为原相位子空间的正交投影。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86600" y="1901952"/>
            <a:ext cx="4419295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60920" y="2084832"/>
            <a:ext cx="3870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43800" y="2871216"/>
            <a:ext cx="2286000" cy="841248"/>
          </a:xfrm>
          <a:prstGeom prst="ellipse">
            <a:avLst/>
          </a:prstGeom>
          <a:solidFill>
            <a:srgbClr val="DEEAF5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4380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4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相位子空间 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0" y="3291840"/>
            <a:ext cx="566928" cy="-86868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9326880" y="2377440"/>
            <a:ext cx="1813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电平漂移方向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（≤ 1 维）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352544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注意：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几何上的简洁性不等于预测价值。它有没有用，取决于这部分信息能否延续到未来，以及相位主干已经预测掉了多少。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C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6355080"/>
            <a:ext cx="10317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命题 1，minipaper 第 2.1 节（证明见论文；本文档只保留结论与被验证的假设）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E7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1  ·  预测频谱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单一方向就拿到 64%–86% 的可获得线性增益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9961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以「相对 last-value 持续性的改进」为回归目标，对 28 个 setting 做降秩分析。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828800"/>
          <a:ext cx="64008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828800"/>
            <a:ext cx="4007815" cy="1481328"/>
          </a:xfrm>
          <a:prstGeom prst="roundRect">
            <a:avLst>
              <a:gd name="adj" fmla="val 3704"/>
            </a:avLst>
          </a:prstGeom>
          <a:solidFill>
            <a:srgbClr val="DEEAF5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90688" y="2029968"/>
            <a:ext cx="34225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90% 增益需要几个方向？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790688" y="2359152"/>
            <a:ext cx="34225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2–4 个</a:t>
            </a:r>
            <a:pPr indent="0" marL="0">
              <a:lnSpc>
                <a:spcPts val="3000"/>
              </a:lnSpc>
              <a:buNone/>
            </a:pPr>
            <a:r>
              <a:rPr lang="en-US" sz="12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覆盖六个主数据集
</a:t>
            </a:r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5–7 个</a:t>
            </a:r>
            <a:pPr indent="0" marL="0">
              <a:lnSpc>
                <a:spcPts val="3000"/>
              </a:lnSpc>
              <a:buNone/>
            </a:pPr>
            <a:r>
              <a:rPr lang="en-US" sz="12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Traffic 才需要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98080" y="3493008"/>
            <a:ext cx="4007815" cy="1856232"/>
          </a:xfrm>
          <a:prstGeom prst="roundRect">
            <a:avLst>
              <a:gd name="adj" fmla="val 2956"/>
            </a:avLst>
          </a:prstGeom>
          <a:solidFill>
            <a:srgbClr val="F4F8FC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90688" y="3657600"/>
            <a:ext cx="34225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4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能量谱 vs 预测谱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790688" y="3986784"/>
            <a:ext cx="342259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ETTh2-720 的对比：普通权重谱要 418 维才到 95% 能量，预测谱只需 8 维就拿到 95% 的可获得改进。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C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6355080"/>
            <a:ext cx="10317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训练/验证集统计，非测试误差；各数据集 4 个 horizon 的区间见论文 Table 2。支撑式：R(abᵀ) − R(W*) ≤ (1/H)·E‖ε‖²。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E7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2  ·  反直觉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这个关键方向，只占输入方差的 0.8%–4.6%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9961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同一回归目标下，预测价值与信号能量几乎解耦。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810512"/>
          <a:ext cx="6583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810512"/>
            <a:ext cx="3824935" cy="1417320"/>
          </a:xfrm>
          <a:prstGeom prst="roundRect">
            <a:avLst>
              <a:gd name="adj" fmla="val 3871"/>
            </a:avLst>
          </a:prstGeom>
          <a:solidFill>
            <a:srgbClr val="DEEAF5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73568" y="202996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浅蓝柱几乎看不见——这本身就是结论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973568" y="2560320"/>
            <a:ext cx="3239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两条柱画在同一 0–95% 轴上。能量柱贴着零轴，它的数值只能靠标签读出。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80960" y="3410712"/>
            <a:ext cx="3824935" cy="1920240"/>
          </a:xfrm>
          <a:prstGeom prst="roundRect">
            <a:avLst>
              <a:gd name="adj" fmla="val 2857"/>
            </a:avLst>
          </a:prstGeom>
          <a:solidFill>
            <a:srgbClr val="F4F8FC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73568" y="3584448"/>
            <a:ext cx="3239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4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这意味着什么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973568" y="3913632"/>
            <a:ext cx="32397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按「能量/方差」做降维（PCA 一类）会把这个方向直接丢掉——它在能量上毫不显眼。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973568" y="4626864"/>
            <a:ext cx="32397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因此：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衡量一个分量值不值得保留，必须用预测准则，不能用方差准则。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C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6355080"/>
            <a:ext cx="10317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输入方差为源研究的 input-variance 诊断量，取自训练/验证数据；ETTh2 区间 1.1%–4.6%，ETTm2 区间 0.8%–4.3%，图中取区间中点。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E7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 ·  方法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保留相位主干，加一条门控的时间线性分支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9961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不替换主干，也不硬编码某个模板；只增加一条可学习的低维适应通道。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505456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F4F8FC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706624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输入窗口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 ∈ Rᴸ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03704" y="2889504"/>
            <a:ext cx="384048" cy="146304"/>
          </a:xfrm>
          <a:prstGeom prst="rightArrow">
            <a:avLst/>
          </a:prstGeom>
          <a:solidFill>
            <a:srgbClr val="8FC2E3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7480" y="2029968"/>
            <a:ext cx="3063240" cy="841248"/>
          </a:xfrm>
          <a:prstGeom prst="roundRect">
            <a:avLst>
              <a:gd name="adj" fmla="val 6522"/>
            </a:avLst>
          </a:prstGeom>
          <a:solidFill>
            <a:srgbClr val="DEEAF5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53512" y="219456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54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相位主干  ŷ_φ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953512" y="2505456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PhaseFormer 原结构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7480" y="3090672"/>
            <a:ext cx="3063240" cy="841248"/>
          </a:xfrm>
          <a:prstGeom prst="roundRect">
            <a:avLst>
              <a:gd name="adj" fmla="val 6522"/>
            </a:avLst>
          </a:prstGeom>
          <a:solidFill>
            <a:srgbClr val="DEEAF5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53512" y="3255264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时间线性分支  ŷ_r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3566160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ŷ_r = x_L·1 + W(x − x_L·1) + σc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33872" y="2450592"/>
            <a:ext cx="420624" cy="146304"/>
          </a:xfrm>
          <a:prstGeom prst="rightArrow">
            <a:avLst/>
          </a:prstGeom>
          <a:solidFill>
            <a:srgbClr val="8FC2E3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33872" y="3493008"/>
            <a:ext cx="420624" cy="146304"/>
          </a:xfrm>
          <a:prstGeom prst="rightArrow">
            <a:avLst/>
          </a:prstGeom>
          <a:solidFill>
            <a:srgbClr val="8FC2E3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7648" y="2779776"/>
            <a:ext cx="157276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9088" y="2962656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4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门控 g = σ(γ)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18704" y="3035808"/>
            <a:ext cx="384048" cy="146304"/>
          </a:xfrm>
          <a:prstGeom prst="rightArrow">
            <a:avLst/>
          </a:prstGeom>
          <a:solidFill>
            <a:srgbClr val="8FC2E3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39328" y="2505456"/>
            <a:ext cx="1481328" cy="960120"/>
          </a:xfrm>
          <a:prstGeom prst="roundRect">
            <a:avLst>
              <a:gd name="adj" fmla="val 5714"/>
            </a:avLst>
          </a:prstGeom>
          <a:solidFill>
            <a:srgbClr val="15436B"/>
          </a:solidFill>
          <a:ln w="12700">
            <a:solidFill>
              <a:srgbClr val="1543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30768" y="279806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融合预测  ŷ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85800" y="4279392"/>
            <a:ext cx="6720840" cy="1298448"/>
          </a:xfrm>
          <a:prstGeom prst="roundRect">
            <a:avLst>
              <a:gd name="adj" fmla="val 4225"/>
            </a:avLst>
          </a:prstGeom>
          <a:solidFill>
            <a:srgbClr val="F4F8FC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4498848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 = (1 − g) ⊙ ŷ_φ + g ⊙ ŷ_r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051560" y="4974336"/>
            <a:ext cx="5989320" cy="20117"/>
          </a:xfrm>
          <a:prstGeom prst="roundRect">
            <a:avLst/>
          </a:prstGeom>
          <a:solidFill>
            <a:srgbClr val="CBD9E6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1560" y="512064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等价写法：</a:t>
            </a:r>
            <a:pPr indent="0" marL="0">
              <a:buNone/>
            </a:pPr>
            <a:r>
              <a:rPr lang="en-US" sz="115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 = ŷ_φ + g ⊙ (ŷ_r − ŷ_φ)</a:t>
            </a:r>
            <a:pPr indent="0" marL="0">
              <a:buNone/>
            </a:pPr>
            <a:r>
              <a:rPr lang="en-US" sz="115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　→　实际修正量是两个预测的</a:t>
            </a:r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门控差值</a:t>
            </a:r>
            <a:pPr indent="0" marL="0">
              <a:buNone/>
            </a:pPr>
            <a:r>
              <a:rPr lang="en-US" sz="115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。把分支当成独立残差预测器，会漏掉这层依赖。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818120" y="4279392"/>
            <a:ext cx="3687775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92440" y="4425696"/>
            <a:ext cx="31391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4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设计取舍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092440" y="4718304"/>
            <a:ext cx="3139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分支始终启用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，不用数据集级诊断做开关。</a:t>
            </a:r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低秩只是效率选项（W = VU，rank-H/4 与 rank-H/8），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不强制平滑核或秩一瓶颈。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C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6355080"/>
            <a:ext cx="10317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公式 (10)–(12)，minipaper 第 3 节。归一化尺度在 (12) 中精确抵消，故亦可写作 x_L·1_H + W(x − x_L·1_L) + σc。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E7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 ·  主结果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ETTh2 / ETTm2 / Weather 全部 12 个 setting，双指标同时提升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9961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最高 MSE 降幅 −8.73%；对照是同一执行环境下的 matched phase-only baseline。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792224"/>
          <a:ext cx="10820095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157216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DEEAF5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14984" y="530352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个 setting 是本协议下新训练的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014984" y="5596128"/>
            <a:ext cx="4599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ETTh2-192/336、ETTm2-336/720、Weather-336/720 也双双提升（MSE −0.52% ~ −3.12%），说明该模式不是只存在于探索性开发集里。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45352" y="5157216"/>
            <a:ext cx="5260543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74536" y="5303520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4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为什么用 matched baseline 而不是原论文数字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574536" y="5596128"/>
            <a:ext cx="4602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前者衡量当前执行环境下的差异；后者是固定的前作结果。跨环境比较另计，本文不把环境差异归因于某一具体原因。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C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6355080"/>
            <a:ext cx="10317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† 该 setting 复用了 test-exposed 探索性开发记录（12 个提升 setting 中的 6 个：ETTh2-96/720、ETTm2-96/192、Weather-96/192）；其余为本协议下新训练。三 seed 平均；相对变化 = 100×(候选−基线)/基线。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E7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 ·  适用边界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我们不声称全面胜出：增益有清晰的适用范围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9961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把「电平信息可预测」和「加分支有额外价值」区分开——前者是回归任务的性质，后者取决于重叠、估计与联合优化。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263744" cy="2377440"/>
          </a:xfrm>
          <a:prstGeom prst="roundRect">
            <a:avLst>
              <a:gd name="adj" fmla="val 2308"/>
            </a:avLst>
          </a:prstGeom>
          <a:solidFill>
            <a:srgbClr val="DEEAF5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1762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4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提升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2523744"/>
            <a:ext cx="449564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ETTh2 · ETTm2 · Weather</a:t>
            </a:r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 12 个 setting，MSE 与 MAE 同时改善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Electricity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所有 horizon 的 MSE 均改善（MAE 表现不一）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ETTh1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 H=336/720 的 MSE 小幅改善，但 MAE 上升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2152" y="1920240"/>
            <a:ext cx="5263744" cy="2377440"/>
          </a:xfrm>
          <a:prstGeom prst="roundRect">
            <a:avLst>
              <a:gd name="adj" fmla="val 2308"/>
            </a:avLst>
          </a:prstGeom>
          <a:solidFill>
            <a:srgbClr val="F4F8FC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6200" y="21762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 未提升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26200" y="2523744"/>
            <a:ext cx="449564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ETTm1</a:t>
            </a:r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 4 个 horizon 双指标变差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Traffic（探索性）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 horizon 双指标变差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注意：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ETTm1/Traffic 预测谱同样集中——「可预测」不等于「对主干有增量」。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4681728"/>
            <a:ext cx="10820095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4828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4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什么在组织这个适用范围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5138928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 个 setting 上，训练集的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电平记忆统计 τ̂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与相对 MSE 变化的 Spearman 相关为 </a:t>
            </a:r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−0.750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；而「跨周期电平幅度」类描述子只有 −0.039 与 −0.139。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即：起作用的更像是电平信息的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持续性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，而不是它的幅度。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C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6355080"/>
            <a:ext cx="10317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诚实边界：τ̂ 的阈值是在已知五个开发集改善符号之后、由训练集统计固定下来的，属于假设性诊断而非独立的增益预测器；四个 horizon 共享同一组数据集级描述子，28 行并非 28 个独立数据集。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E7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CHECK  ·  互补性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分支自己变准，融合结果反而变差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9961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对分支输入做子空间移除干预，主干输入与训练参数保持不变。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938528"/>
            <a:ext cx="5263744" cy="1572768"/>
          </a:xfrm>
          <a:prstGeom prst="roundRect">
            <a:avLst>
              <a:gd name="adj" fmla="val 3488"/>
            </a:avLst>
          </a:prstGeom>
          <a:solidFill>
            <a:srgbClr val="F4F8FC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157984"/>
            <a:ext cx="453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分支单独的误差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487168"/>
            <a:ext cx="453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4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−83.9%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127248"/>
            <a:ext cx="453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移掉语义子空间后，分支作为独立预测器明显变好了。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2152" y="1938528"/>
            <a:ext cx="5263744" cy="1572768"/>
          </a:xfrm>
          <a:prstGeom prst="roundRect">
            <a:avLst>
              <a:gd name="adj" fmla="val 3488"/>
            </a:avLst>
          </a:prstGeom>
          <a:solidFill>
            <a:srgbClr val="DEEAF5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07912" y="2157984"/>
            <a:ext cx="453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融合后的误差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07912" y="2487168"/>
            <a:ext cx="453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+40.6%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07912" y="3127248"/>
            <a:ext cx="453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但部署的预测变差了——同一个改动方向相反。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767328"/>
            <a:ext cx="10820095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913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4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为什么会这样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224528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修正量是 g ⊙ (ŷ_r − ŷ_φ)，所以一个分量是否有用取决于它的搭档。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推论：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如果按「分支自己准不准」去优化或筛选，会做出伤害最终预测的改动。评估必须看融合后的误差。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C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6355080"/>
            <a:ext cx="10317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数值为源研究的相对误差汇总（dense ETTm2-192）。证据边界：语义缺失性检验未完全通过（要求仅保留语义子空间即在 0.5% 内保持融合精度），故支持的机制是「在 multidirection 修正中功能性地依赖近期电平信息」，而非「分支可被单一语义坐标替代」。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E7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 ·  容量–精度权衡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参数压到 1/8，MSE 平均只差 0.72%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9961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低秩只是效率选项：它把权衡量化出来，而不是宣称无损。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938528"/>
            <a:ext cx="3411626" cy="1664208"/>
          </a:xfrm>
          <a:prstGeom prst="roundRect">
            <a:avLst>
              <a:gd name="adj" fmla="val 3297"/>
            </a:avLst>
          </a:prstGeom>
          <a:solidFill>
            <a:srgbClr val="F4F8FC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6696" y="2212848"/>
            <a:ext cx="278983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4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16.4%–33.0%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96696" y="2926080"/>
            <a:ext cx="2789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rank-H/8 相对 dense 的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总参数量占比（含主干与门控）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90034" y="1938528"/>
            <a:ext cx="3411626" cy="1664208"/>
          </a:xfrm>
          <a:prstGeom prst="roundRect">
            <a:avLst>
              <a:gd name="adj" fmla="val 3297"/>
            </a:avLst>
          </a:prstGeom>
          <a:solidFill>
            <a:srgbClr val="DEEAF5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0930" y="2212848"/>
            <a:ext cx="278983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0.7183%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700930" y="2926080"/>
            <a:ext cx="2789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 个主 setting 上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MSE 的平均绝对相对差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94269" y="1938528"/>
            <a:ext cx="3411626" cy="1664208"/>
          </a:xfrm>
          <a:prstGeom prst="roundRect">
            <a:avLst>
              <a:gd name="adj" fmla="val 3297"/>
            </a:avLst>
          </a:prstGeom>
          <a:solidFill>
            <a:srgbClr val="F4F8FC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05165" y="2212848"/>
            <a:ext cx="278983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4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0.5343%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405165" y="2926080"/>
            <a:ext cx="2789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同一组设置上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MAE 的平均绝对相对差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858768"/>
            <a:ext cx="10820095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40050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这句话不能读成「无损压缩」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315968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0.72% 超过了预先声明的 0.5% 等价阈值，所以它是一个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可测量的权衡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，不是等价。而且 rank-H/8 与 dense 之间各项差异有正有负——平均绝对差与带符号平均（−1.31% vs −1.00%）可以并存。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C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6355080"/>
            <a:ext cx="10317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ETTh2-H192 的参数量为 23,863（rank-H/8）对 140,191（dense）；macro-average 总参比 23.8%。早期的 7-setting 探索性压缩实验（分支参数降至 3.5%–6.1%）为 test-exposed 结果，仅作动机，不替代上表的权衡。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E7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  ·  结论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容量要按「相对主干的预测价值」分配，而不是按信号能量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9961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这是本工作从几何分析到机制验证、再到实验边界的一条闭环论证。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901952"/>
            <a:ext cx="10820095" cy="859536"/>
          </a:xfrm>
          <a:prstGeom prst="roundRect">
            <a:avLst>
              <a:gd name="adj" fmla="val 6383"/>
            </a:avLst>
          </a:prstGeom>
          <a:solidFill>
            <a:srgbClr val="F4F8FC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6696" y="2084832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C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204825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几何上，电平漂移很简洁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029968"/>
            <a:ext cx="6568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跨周期电平扰动在相位子空间外最多增加 1 个方向。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944368"/>
            <a:ext cx="10820095" cy="859536"/>
          </a:xfrm>
          <a:prstGeom prst="roundRect">
            <a:avLst>
              <a:gd name="adj" fmla="val 6383"/>
            </a:avLst>
          </a:prstGeom>
          <a:solidFill>
            <a:srgbClr val="F4F8FC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96696" y="3127248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C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856232" y="30906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 1 个方向价值极高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072384"/>
            <a:ext cx="6568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它拿到 64%–86% 的可获得线性增益，却只占输入方差的 0.8%–4.6%：预测价值与能量解耦。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986784"/>
            <a:ext cx="10820095" cy="859536"/>
          </a:xfrm>
          <a:prstGeom prst="roundRect">
            <a:avLst>
              <a:gd name="adj" fmla="val 6383"/>
            </a:avLst>
          </a:prstGeom>
          <a:solidFill>
            <a:srgbClr val="F4F8FC"/>
          </a:solidFill>
          <a:ln w="12700">
            <a:solidFill>
              <a:srgbClr val="CBD9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96696" y="4169664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C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856232" y="413308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分支的价值由搭档定义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4114800"/>
            <a:ext cx="6568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修正量是门控差值，一个让分支单独变好的改动可能让融合结果变差。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5029200"/>
            <a:ext cx="10820095" cy="859536"/>
          </a:xfrm>
          <a:prstGeom prst="roundRect">
            <a:avLst>
              <a:gd name="adj" fmla="val 6383"/>
            </a:avLst>
          </a:prstGeom>
          <a:solidFill>
            <a:srgbClr val="DEEAF5"/>
          </a:solidFill>
          <a:ln w="12700">
            <a:solidFill>
              <a:srgbClr val="8FC2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6696" y="5212080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1856232" y="517550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D2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收益有明确边界与代价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5157216"/>
            <a:ext cx="6568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ETTh2/ETTm2/Weather 稳定双指标提升；ETTm1、Traffic 不提升；rank-H/8 给出显式的容量–精度权衡。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897880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4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设计原则：把预测容量分配给「相对主干仍有增量的方向」，保留那一小撮能把近期状态转成未来修正的方向。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C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6355080"/>
            <a:ext cx="10317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文献：Niu et al. PhaseFormer, ICLR 2026, arXiv:2510.04134。本页数字均来自 minipaper 的主协议结果与已完成的机制分析。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PhaseFormer-L: Low-Dimensional Level Adaptation</dc:title>
  <dc:subject>PptxGenJS Presentation</dc:subject>
  <dc:creator>Yiming Niu</dc:creator>
  <cp:lastModifiedBy>Yiming Niu</cp:lastModifiedBy>
  <cp:revision>1</cp:revision>
  <dcterms:created xsi:type="dcterms:W3CDTF">2026-09-21T14:03:45Z</dcterms:created>
  <dcterms:modified xsi:type="dcterms:W3CDTF">2026-09-21T14:03:45Z</dcterms:modified>
</cp:coreProperties>
</file>