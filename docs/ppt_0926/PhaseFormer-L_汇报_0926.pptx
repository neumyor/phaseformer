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6720f2c1597455c" Type="http://schemas.openxmlformats.org/officeDocument/2006/relationships/officeDocument" Target="ppt/presentation.xml"/><Relationship Id="R3575660d2a234ce3" Type="http://schemas.openxmlformats.org/package/2006/relationships/metadata/core-properties" Target="docProps/core.xml"/><Relationship Id="R60c1ada783e1478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e43d2707094784"/>
  </p:sldMasterIdLst>
  <p:notesMasterIdLst>
    <p:notesMasterId xmlns:r="http://schemas.openxmlformats.org/officeDocument/2006/relationships" r:id="R7dcea8eb197d42bf"/>
  </p:notesMasterIdLst>
  <p:sldIdLst>
    <p:sldId xmlns:r="http://schemas.openxmlformats.org/officeDocument/2006/relationships" id="256" r:id="R0754ea896127471c"/>
    <p:sldId xmlns:r="http://schemas.openxmlformats.org/officeDocument/2006/relationships" id="257" r:id="R5475fd54869d48e3"/>
    <p:sldId xmlns:r="http://schemas.openxmlformats.org/officeDocument/2006/relationships" id="258" r:id="Raad2e0be31084099"/>
    <p:sldId xmlns:ns0="http://schemas.openxmlformats.org/officeDocument/2006/relationships" id="261" ns0:id="rId11"/>
    <p:sldId xmlns:ns0="http://schemas.openxmlformats.org/officeDocument/2006/relationships" id="262" ns0:id="rId12"/>
    <p:sldId xmlns:ns0="http://schemas.openxmlformats.org/officeDocument/2006/relationships" id="263" ns0:id="rId13"/>
    <p:sldId xmlns:ns0="http://schemas.openxmlformats.org/officeDocument/2006/relationships" id="264" ns0:id="rId14"/>
    <p:sldId xmlns:ns0="http://schemas.openxmlformats.org/officeDocument/2006/relationships" id="265" ns0:id="rId15"/>
    <p:sldId xmlns:ns0="http://schemas.openxmlformats.org/officeDocument/2006/relationships" id="266" ns0:id="rId16"/>
    <p:sldId xmlns:ns0="http://schemas.openxmlformats.org/officeDocument/2006/relationships" id="267" ns0:id="rId17"/>
    <p:sldId xmlns:ns0="http://schemas.openxmlformats.org/officeDocument/2006/relationships" id="268" ns0:id="rId18"/>
    <p:sldId xmlns:ns0="http://schemas.openxmlformats.org/officeDocument/2006/relationships" id="269" ns0:id="rId19"/>
    <p:sldId xmlns:ns0="http://schemas.openxmlformats.org/officeDocument/2006/relationships" id="270" ns0:id="rId20"/>
    <p:sldId xmlns:r="http://schemas.openxmlformats.org/officeDocument/2006/relationships" id="260" r:id="R419b2dc8c0a846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754ea896127471c" Type="http://schemas.openxmlformats.org/officeDocument/2006/relationships/slide" Target="slides/slide1.xml"/><Relationship Id="R419b2dc8c0a846f5" Type="http://schemas.openxmlformats.org/officeDocument/2006/relationships/slide" Target="slides/slide5.xml"/><Relationship Id="R44e43d2707094784" Type="http://schemas.openxmlformats.org/officeDocument/2006/relationships/slideMaster" Target="slideMasters/slideMaster1.xml"/><Relationship Id="R4e44656fe2d741f8" Type="http://schemas.openxmlformats.org/officeDocument/2006/relationships/presProps" Target="presProps.xml"/><Relationship Id="R5475fd54869d48e3" Type="http://schemas.openxmlformats.org/officeDocument/2006/relationships/slide" Target="slides/slide2.xml"/><Relationship Id="R6979aee7362847d0" Type="http://schemas.openxmlformats.org/officeDocument/2006/relationships/tableStyles" Target="tableStyles.xml"/><Relationship Id="R7dcea8eb197d42bf" Type="http://schemas.openxmlformats.org/officeDocument/2006/relationships/notesMaster" Target="notesMasters/notesMaster1.xml"/><Relationship Id="Raad2e0be31084099" Type="http://schemas.openxmlformats.org/officeDocument/2006/relationships/slide" Target="slides/slide3.xml"/><Relationship Id="Raeae50195542460a" Type="http://schemas.openxmlformats.org/officeDocument/2006/relationships/theme" Target="theme/theme1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观测序列</c:v>
                </c:pt>
              </c:strCache>
            </c:strRef>
          </c:tx>
          <c:spPr>
            <a:ln w="28575">
              <a:solidFill>
                <a:srgbClr val="009FE3"/>
              </a:solidFill>
            </a:ln>
          </c:spPr>
          <c:marker>
            <c:symbol val="none"/>
          </c:marker>
          <c:cat>
            <c:numRef>
              <c:f>Sheet1!$A$2:$A$121</c:f>
              <c:numCache>
                <c:formatCode>General</c:formatCode>
                <c:ptCount val="1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</c:numCache>
            </c:numRef>
          </c:cat>
          <c:val>
            <c:numRef>
              <c:f>Sheet1!$B$2:$B$121</c:f>
              <c:numCache>
                <c:formatCode>General</c:formatCode>
                <c:ptCount val="120"/>
                <c:pt idx="0">
                  <c:v>0.19762486568826237</c:v>
                </c:pt>
                <c:pt idx="1">
                  <c:v>0.5744009318172373</c:v>
                </c:pt>
                <c:pt idx="2">
                  <c:v>0.8489789960500724</c:v>
                </c:pt>
                <c:pt idx="3">
                  <c:v>0.9959742464049348</c:v>
                </c:pt>
                <c:pt idx="4">
                  <c:v>1.0173795341462486</c:v>
                </c:pt>
                <c:pt idx="5">
                  <c:v>0.9392114047927391</c:v>
                </c:pt>
                <c:pt idx="6">
                  <c:v>0.8023751343117376</c:v>
                </c:pt>
                <c:pt idx="7">
                  <c:v>0.6503439395743518</c:v>
                </c:pt>
                <c:pt idx="8">
                  <c:v>0.5170464077343663</c:v>
                </c:pt>
                <c:pt idx="9">
                  <c:v>0.4182393159681601</c:v>
                </c:pt>
                <c:pt idx="10">
                  <c:v>0.34864586963818983</c:v>
                </c:pt>
                <c:pt idx="11">
                  <c:v>0.28553346659884987</c:v>
                </c:pt>
                <c:pt idx="12">
                  <c:v>0.1976248656882623</c:v>
                </c:pt>
                <c:pt idx="13">
                  <c:v>0.05676284161219569</c:v>
                </c:pt>
                <c:pt idx="14">
                  <c:v>-0.15102100394992735</c:v>
                </c:pt>
                <c:pt idx="15">
                  <c:v>-0.4182393159681596</c:v>
                </c:pt>
                <c:pt idx="16">
                  <c:v>-0.7146712734226279</c:v>
                </c:pt>
                <c:pt idx="17">
                  <c:v>-0.9926402477853975</c:v>
                </c:pt>
                <c:pt idx="18">
                  <c:v>-1.1976248656882622</c:v>
                </c:pt>
                <c:pt idx="19">
                  <c:v>-1.2815077130037849</c:v>
                </c:pt>
                <c:pt idx="20">
                  <c:v>-1.215004399834511</c:v>
                </c:pt>
                <c:pt idx="21">
                  <c:v>-0.9959742464049353</c:v>
                </c:pt>
                <c:pt idx="22">
                  <c:v>-0.6513541303618109</c:v>
                </c:pt>
                <c:pt idx="23">
                  <c:v>-0.2321046236061931</c:v>
                </c:pt>
                <c:pt idx="24">
                  <c:v>0.8976248656882618</c:v>
                </c:pt>
                <c:pt idx="25">
                  <c:v>1.2744009318172376</c:v>
                </c:pt>
                <c:pt idx="26">
                  <c:v>1.5489789960500724</c:v>
                </c:pt>
                <c:pt idx="27">
                  <c:v>1.6959742464049348</c:v>
                </c:pt>
                <c:pt idx="28">
                  <c:v>1.7173795341462488</c:v>
                </c:pt>
                <c:pt idx="29">
                  <c:v>1.6392114047927393</c:v>
                </c:pt>
                <c:pt idx="30">
                  <c:v>1.5023751343117384</c:v>
                </c:pt>
                <c:pt idx="31">
                  <c:v>1.3503439395743517</c:v>
                </c:pt>
                <c:pt idx="32">
                  <c:v>1.2170464077343666</c:v>
                </c:pt>
                <c:pt idx="33">
                  <c:v>1.1182393159681603</c:v>
                </c:pt>
                <c:pt idx="34">
                  <c:v>1.0486458696381904</c:v>
                </c:pt>
                <c:pt idx="35">
                  <c:v>0.9855334665988503</c:v>
                </c:pt>
                <c:pt idx="36">
                  <c:v>0.8976248656882628</c:v>
                </c:pt>
                <c:pt idx="37">
                  <c:v>0.7567628416121964</c:v>
                </c:pt>
                <c:pt idx="38">
                  <c:v>0.5489789960500733</c:v>
                </c:pt>
                <c:pt idx="39">
                  <c:v>0.281760684031841</c:v>
                </c:pt>
                <c:pt idx="40">
                  <c:v>-0.014671273422629277</c:v>
                </c:pt>
                <c:pt idx="41">
                  <c:v>-0.29264024778539616</c:v>
                </c:pt>
                <c:pt idx="42">
                  <c:v>-0.4976248656882626</c:v>
                </c:pt>
                <c:pt idx="43">
                  <c:v>-0.5815077130037851</c:v>
                </c:pt>
                <c:pt idx="44">
                  <c:v>-0.5150043998345116</c:v>
                </c:pt>
                <c:pt idx="45">
                  <c:v>-0.2959742464049342</c:v>
                </c:pt>
                <c:pt idx="46">
                  <c:v>0.04864586963818787</c:v>
                </c:pt>
                <c:pt idx="47">
                  <c:v>0.4678953763938085</c:v>
                </c:pt>
                <c:pt idx="48">
                  <c:v>0.547624865688262</c:v>
                </c:pt>
                <c:pt idx="49">
                  <c:v>0.9244009318172365</c:v>
                </c:pt>
                <c:pt idx="50">
                  <c:v>1.198978996050073</c:v>
                </c:pt>
                <c:pt idx="51">
                  <c:v>1.3459742464049342</c:v>
                </c:pt>
                <c:pt idx="52">
                  <c:v>1.3673795341462482</c:v>
                </c:pt>
                <c:pt idx="53">
                  <c:v>1.2892114047927388</c:v>
                </c:pt>
                <c:pt idx="54">
                  <c:v>1.1523751343117377</c:v>
                </c:pt>
                <c:pt idx="55">
                  <c:v>1.000343939574351</c:v>
                </c:pt>
                <c:pt idx="56">
                  <c:v>0.8670464077343669</c:v>
                </c:pt>
                <c:pt idx="57">
                  <c:v>0.7682393159681608</c:v>
                </c:pt>
                <c:pt idx="58">
                  <c:v>0.6986458696381904</c:v>
                </c:pt>
                <c:pt idx="59">
                  <c:v>0.6355334665988505</c:v>
                </c:pt>
                <c:pt idx="60">
                  <c:v>0.5476248656882627</c:v>
                </c:pt>
                <c:pt idx="61">
                  <c:v>0.4067628416121961</c:v>
                </c:pt>
                <c:pt idx="62">
                  <c:v>0.19897899605007346</c:v>
                </c:pt>
                <c:pt idx="63">
                  <c:v>-0.06823931596816069</c:v>
                </c:pt>
                <c:pt idx="64">
                  <c:v>-0.36467127342262695</c:v>
                </c:pt>
                <c:pt idx="65">
                  <c:v>-0.6426402477853976</c:v>
                </c:pt>
                <c:pt idx="66">
                  <c:v>-0.8476248656882635</c:v>
                </c:pt>
                <c:pt idx="67">
                  <c:v>-0.931507713003785</c:v>
                </c:pt>
                <c:pt idx="68">
                  <c:v>-0.8650043998345107</c:v>
                </c:pt>
                <c:pt idx="69">
                  <c:v>-0.6459742464049365</c:v>
                </c:pt>
                <c:pt idx="70">
                  <c:v>-0.3013541303618098</c:v>
                </c:pt>
                <c:pt idx="71">
                  <c:v>0.11789537639381112</c:v>
                </c:pt>
                <c:pt idx="72">
                  <c:v>1.5476248656882619</c:v>
                </c:pt>
                <c:pt idx="73">
                  <c:v>1.9244009318172342</c:v>
                </c:pt>
                <c:pt idx="74">
                  <c:v>2.198978996050071</c:v>
                </c:pt>
                <c:pt idx="75">
                  <c:v>2.3459742464049347</c:v>
                </c:pt>
                <c:pt idx="76">
                  <c:v>2.3673795341462487</c:v>
                </c:pt>
                <c:pt idx="77">
                  <c:v>2.2892114047927388</c:v>
                </c:pt>
                <c:pt idx="78">
                  <c:v>2.1523751343117388</c:v>
                </c:pt>
                <c:pt idx="79">
                  <c:v>2.0003439395743525</c:v>
                </c:pt>
                <c:pt idx="80">
                  <c:v>1.867046407734366</c:v>
                </c:pt>
                <c:pt idx="81">
                  <c:v>1.768239315968161</c:v>
                </c:pt>
                <c:pt idx="82">
                  <c:v>1.6986458696381914</c:v>
                </c:pt>
                <c:pt idx="83">
                  <c:v>1.6355334665988503</c:v>
                </c:pt>
                <c:pt idx="84">
                  <c:v>1.5476248656882632</c:v>
                </c:pt>
                <c:pt idx="85">
                  <c:v>1.4067628416121956</c:v>
                </c:pt>
                <c:pt idx="86">
                  <c:v>1.1989789960500739</c:v>
                </c:pt>
                <c:pt idx="87">
                  <c:v>0.9317606840318435</c:v>
                </c:pt>
                <c:pt idx="88">
                  <c:v>0.6353287265773734</c:v>
                </c:pt>
                <c:pt idx="89">
                  <c:v>0.35735975221460275</c:v>
                </c:pt>
                <c:pt idx="90">
                  <c:v>0.15237513431173683</c:v>
                </c:pt>
                <c:pt idx="91">
                  <c:v>0.06849228699621507</c:v>
                </c:pt>
                <c:pt idx="92">
                  <c:v>0.13499560016548728</c:v>
                </c:pt>
                <c:pt idx="93">
                  <c:v>0.3540257535950635</c:v>
                </c:pt>
                <c:pt idx="94">
                  <c:v>0.6986458696381899</c:v>
                </c:pt>
                <c:pt idx="95">
                  <c:v>1.1178953763938109</c:v>
                </c:pt>
                <c:pt idx="96">
                  <c:v>2.1976248656882613</c:v>
                </c:pt>
                <c:pt idx="97">
                  <c:v>2.5744009318172334</c:v>
                </c:pt>
                <c:pt idx="98">
                  <c:v>2.848978996050071</c:v>
                </c:pt>
                <c:pt idx="99">
                  <c:v>2.9959742464049346</c:v>
                </c:pt>
                <c:pt idx="100">
                  <c:v>3.017379534146248</c:v>
                </c:pt>
                <c:pt idx="101">
                  <c:v>2.939211404792739</c:v>
                </c:pt>
                <c:pt idx="102">
                  <c:v>2.8023751343117387</c:v>
                </c:pt>
                <c:pt idx="103">
                  <c:v>2.6503439395743524</c:v>
                </c:pt>
                <c:pt idx="104">
                  <c:v>2.517046407734366</c:v>
                </c:pt>
                <c:pt idx="105">
                  <c:v>2.41823931596816</c:v>
                </c:pt>
                <c:pt idx="106">
                  <c:v>2.3486458696381907</c:v>
                </c:pt>
                <c:pt idx="107">
                  <c:v>2.285533466598851</c:v>
                </c:pt>
                <c:pt idx="108">
                  <c:v>2.197624865688263</c:v>
                </c:pt>
                <c:pt idx="109">
                  <c:v>2.056762841612198</c:v>
                </c:pt>
                <c:pt idx="110">
                  <c:v>1.8489789960500707</c:v>
                </c:pt>
                <c:pt idx="111">
                  <c:v>1.5817606840318397</c:v>
                </c:pt>
                <c:pt idx="112">
                  <c:v>1.2853287265773736</c:v>
                </c:pt>
                <c:pt idx="113">
                  <c:v>1.0073597522146027</c:v>
                </c:pt>
                <c:pt idx="114">
                  <c:v>0.8023751343117389</c:v>
                </c:pt>
                <c:pt idx="115">
                  <c:v>0.7184922869962149</c:v>
                </c:pt>
                <c:pt idx="116">
                  <c:v>0.784995600165489</c:v>
                </c:pt>
                <c:pt idx="117">
                  <c:v>1.004025753595063</c:v>
                </c:pt>
                <c:pt idx="118">
                  <c:v>1.3486458696381896</c:v>
                </c:pt>
                <c:pt idx="119">
                  <c:v>1.7678953763938043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每个周期的水平</c:v>
                </c:pt>
              </c:strCache>
            </c:strRef>
          </c:tx>
          <c:spPr>
            <a:ln w="31750">
              <a:solidFill>
                <a:srgbClr val="FF0000"/>
              </a:solidFill>
              <a:prstDash val="dash"/>
            </a:ln>
          </c:spPr>
          <c:marker>
            <c:symbol val="none"/>
          </c:marker>
          <c:cat>
            <c:numRef>
              <c:f>Sheet1!$A$2:$A$121</c:f>
              <c:numCache>
                <c:formatCode>General</c:formatCode>
                <c:ptCount val="1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</c:numCache>
            </c:numRef>
          </c:cat>
          <c:val>
            <c:numRef>
              <c:f>Sheet1!$C$2:$C$121</c:f>
              <c:numCache>
                <c:formatCode>General</c:formatCode>
                <c:ptCount val="12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0.7</c:v>
                </c:pt>
                <c:pt idx="25">
                  <c:v>0.7</c:v>
                </c:pt>
                <c:pt idx="26">
                  <c:v>0.7</c:v>
                </c:pt>
                <c:pt idx="27">
                  <c:v>0.7</c:v>
                </c:pt>
                <c:pt idx="28">
                  <c:v>0.7</c:v>
                </c:pt>
                <c:pt idx="29">
                  <c:v>0.7</c:v>
                </c:pt>
                <c:pt idx="30">
                  <c:v>0.7</c:v>
                </c:pt>
                <c:pt idx="31">
                  <c:v>0.7</c:v>
                </c:pt>
                <c:pt idx="32">
                  <c:v>0.7</c:v>
                </c:pt>
                <c:pt idx="33">
                  <c:v>0.7</c:v>
                </c:pt>
                <c:pt idx="34">
                  <c:v>0.7</c:v>
                </c:pt>
                <c:pt idx="35">
                  <c:v>0.7</c:v>
                </c:pt>
                <c:pt idx="36">
                  <c:v>0.7</c:v>
                </c:pt>
                <c:pt idx="37">
                  <c:v>0.7</c:v>
                </c:pt>
                <c:pt idx="38">
                  <c:v>0.7</c:v>
                </c:pt>
                <c:pt idx="39">
                  <c:v>0.7</c:v>
                </c:pt>
                <c:pt idx="40">
                  <c:v>0.7</c:v>
                </c:pt>
                <c:pt idx="41">
                  <c:v>0.7</c:v>
                </c:pt>
                <c:pt idx="42">
                  <c:v>0.7</c:v>
                </c:pt>
                <c:pt idx="43">
                  <c:v>0.7</c:v>
                </c:pt>
                <c:pt idx="44">
                  <c:v>0.7</c:v>
                </c:pt>
                <c:pt idx="45">
                  <c:v>0.7</c:v>
                </c:pt>
                <c:pt idx="46">
                  <c:v>0.7</c:v>
                </c:pt>
                <c:pt idx="47">
                  <c:v>0.7</c:v>
                </c:pt>
                <c:pt idx="48">
                  <c:v>0.35</c:v>
                </c:pt>
                <c:pt idx="49">
                  <c:v>0.35</c:v>
                </c:pt>
                <c:pt idx="50">
                  <c:v>0.35</c:v>
                </c:pt>
                <c:pt idx="51">
                  <c:v>0.35</c:v>
                </c:pt>
                <c:pt idx="52">
                  <c:v>0.35</c:v>
                </c:pt>
                <c:pt idx="53">
                  <c:v>0.35</c:v>
                </c:pt>
                <c:pt idx="54">
                  <c:v>0.35</c:v>
                </c:pt>
                <c:pt idx="55">
                  <c:v>0.35</c:v>
                </c:pt>
                <c:pt idx="56">
                  <c:v>0.35</c:v>
                </c:pt>
                <c:pt idx="57">
                  <c:v>0.35</c:v>
                </c:pt>
                <c:pt idx="58">
                  <c:v>0.35</c:v>
                </c:pt>
                <c:pt idx="59">
                  <c:v>0.35</c:v>
                </c:pt>
                <c:pt idx="60">
                  <c:v>0.35</c:v>
                </c:pt>
                <c:pt idx="61">
                  <c:v>0.35</c:v>
                </c:pt>
                <c:pt idx="62">
                  <c:v>0.35</c:v>
                </c:pt>
                <c:pt idx="63">
                  <c:v>0.35</c:v>
                </c:pt>
                <c:pt idx="64">
                  <c:v>0.35</c:v>
                </c:pt>
                <c:pt idx="65">
                  <c:v>0.35</c:v>
                </c:pt>
                <c:pt idx="66">
                  <c:v>0.35</c:v>
                </c:pt>
                <c:pt idx="67">
                  <c:v>0.35</c:v>
                </c:pt>
                <c:pt idx="68">
                  <c:v>0.35</c:v>
                </c:pt>
                <c:pt idx="69">
                  <c:v>0.35</c:v>
                </c:pt>
                <c:pt idx="70">
                  <c:v>0.35</c:v>
                </c:pt>
                <c:pt idx="71">
                  <c:v>0.35</c:v>
                </c:pt>
                <c:pt idx="72">
                  <c:v>1.35</c:v>
                </c:pt>
                <c:pt idx="73">
                  <c:v>1.35</c:v>
                </c:pt>
                <c:pt idx="74">
                  <c:v>1.35</c:v>
                </c:pt>
                <c:pt idx="75">
                  <c:v>1.35</c:v>
                </c:pt>
                <c:pt idx="76">
                  <c:v>1.35</c:v>
                </c:pt>
                <c:pt idx="77">
                  <c:v>1.35</c:v>
                </c:pt>
                <c:pt idx="78">
                  <c:v>1.35</c:v>
                </c:pt>
                <c:pt idx="79">
                  <c:v>1.35</c:v>
                </c:pt>
                <c:pt idx="80">
                  <c:v>1.35</c:v>
                </c:pt>
                <c:pt idx="81">
                  <c:v>1.35</c:v>
                </c:pt>
                <c:pt idx="82">
                  <c:v>1.35</c:v>
                </c:pt>
                <c:pt idx="83">
                  <c:v>1.35</c:v>
                </c:pt>
                <c:pt idx="84">
                  <c:v>1.35</c:v>
                </c:pt>
                <c:pt idx="85">
                  <c:v>1.35</c:v>
                </c:pt>
                <c:pt idx="86">
                  <c:v>1.35</c:v>
                </c:pt>
                <c:pt idx="87">
                  <c:v>1.35</c:v>
                </c:pt>
                <c:pt idx="88">
                  <c:v>1.35</c:v>
                </c:pt>
                <c:pt idx="89">
                  <c:v>1.35</c:v>
                </c:pt>
                <c:pt idx="90">
                  <c:v>1.35</c:v>
                </c:pt>
                <c:pt idx="91">
                  <c:v>1.35</c:v>
                </c:pt>
                <c:pt idx="92">
                  <c:v>1.35</c:v>
                </c:pt>
                <c:pt idx="93">
                  <c:v>1.35</c:v>
                </c:pt>
                <c:pt idx="94">
                  <c:v>1.35</c:v>
                </c:pt>
                <c:pt idx="95">
                  <c:v>1.35</c:v>
                </c:pt>
                <c:pt idx="96">
                  <c:v>2.0</c:v>
                </c:pt>
                <c:pt idx="97">
                  <c:v>2.0</c:v>
                </c:pt>
                <c:pt idx="98">
                  <c:v>2.0</c:v>
                </c:pt>
                <c:pt idx="99">
                  <c:v>2.0</c:v>
                </c:pt>
                <c:pt idx="100">
                  <c:v>2.0</c:v>
                </c:pt>
                <c:pt idx="101">
                  <c:v>2.0</c:v>
                </c:pt>
                <c:pt idx="102">
                  <c:v>2.0</c:v>
                </c:pt>
                <c:pt idx="103">
                  <c:v>2.0</c:v>
                </c:pt>
                <c:pt idx="104">
                  <c:v>2.0</c:v>
                </c:pt>
                <c:pt idx="105">
                  <c:v>2.0</c:v>
                </c:pt>
                <c:pt idx="106">
                  <c:v>2.0</c:v>
                </c:pt>
                <c:pt idx="107">
                  <c:v>2.0</c:v>
                </c:pt>
                <c:pt idx="108">
                  <c:v>2.0</c:v>
                </c:pt>
                <c:pt idx="109">
                  <c:v>2.0</c:v>
                </c:pt>
                <c:pt idx="110">
                  <c:v>2.0</c:v>
                </c:pt>
                <c:pt idx="111">
                  <c:v>2.0</c:v>
                </c:pt>
                <c:pt idx="112">
                  <c:v>2.0</c:v>
                </c:pt>
                <c:pt idx="113">
                  <c:v>2.0</c:v>
                </c:pt>
                <c:pt idx="114">
                  <c:v>2.0</c:v>
                </c:pt>
                <c:pt idx="115">
                  <c:v>2.0</c:v>
                </c:pt>
                <c:pt idx="116">
                  <c:v>2.0</c:v>
                </c:pt>
                <c:pt idx="117">
                  <c:v>2.0</c:v>
                </c:pt>
                <c:pt idx="118">
                  <c:v>2.0</c:v>
                </c:pt>
                <c:pt idx="119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1A1A1A"/>
          </a:solidFill>
          <a:latin typeface="Times New Roman"/>
          <a:ea typeface="黑体"/>
          <a:cs typeface="黑体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MSE 降幅 (%)</c:v>
                </c:pt>
              </c:strCache>
            </c:strRef>
          </c:tx>
          <c:spPr>
            <a:solidFill>
              <a:srgbClr val="003DA6"/>
            </a:solidFill>
          </c:spPr>
          <c:dPt>
            <c:idx val="0"/>
            <c:spPr>
              <a:solidFill>
                <a:srgbClr val="003DA6"/>
              </a:solidFill>
            </c:spPr>
          </c:dPt>
          <c:dPt>
            <c:idx val="1"/>
            <c:spPr>
              <a:solidFill>
                <a:srgbClr val="003DA6"/>
              </a:solidFill>
            </c:spPr>
          </c:dPt>
          <c:dPt>
            <c:idx val="2"/>
            <c:spPr>
              <a:solidFill>
                <a:srgbClr val="003DA6"/>
              </a:solidFill>
            </c:spPr>
          </c:dPt>
          <c:dPt>
            <c:idx val="3"/>
            <c:spPr>
              <a:solidFill>
                <a:srgbClr val="003DA6"/>
              </a:solidFill>
            </c:spPr>
          </c:dPt>
          <c:dPt>
            <c:idx val="4"/>
            <c:spPr>
              <a:solidFill>
                <a:srgbClr val="FF0000"/>
              </a:solidFill>
            </c:spPr>
          </c:dPt>
          <c:dPt>
            <c:idx val="5"/>
            <c:spPr>
              <a:solidFill>
                <a:srgbClr val="009FE3"/>
              </a:solidFill>
            </c:spPr>
          </c:dPt>
          <c:dPt>
            <c:idx val="6"/>
            <c:spPr>
              <a:solidFill>
                <a:srgbClr val="009FE3"/>
              </a:solidFill>
            </c:spPr>
          </c:dPt>
          <c:dPt>
            <c:idx val="7"/>
            <c:spPr>
              <a:solidFill>
                <a:srgbClr val="009FE3"/>
              </a:solidFill>
            </c:spPr>
          </c:dPt>
          <c:dPt>
            <c:idx val="8"/>
            <c:spPr>
              <a:solidFill>
                <a:srgbClr val="5B7FC7"/>
              </a:solidFill>
            </c:spPr>
          </c:dPt>
          <c:dPt>
            <c:idx val="9"/>
            <c:spPr>
              <a:solidFill>
                <a:srgbClr val="5B7FC7"/>
              </a:solidFill>
            </c:spPr>
          </c:dPt>
          <c:dPt>
            <c:idx val="10"/>
            <c:spPr>
              <a:solidFill>
                <a:srgbClr val="5B7FC7"/>
              </a:solidFill>
            </c:spPr>
          </c:dPt>
          <c:dPt>
            <c:idx val="11"/>
            <c:spPr>
              <a:solidFill>
                <a:srgbClr val="5B7FC7"/>
              </a:solidFill>
            </c:spPr>
          </c:dPt>
          <c:cat>
            <c:strRef>
              <c:f>Sheet1!$A$2:$A$13</c:f>
              <c:strCache>
                <c:ptCount val="12"/>
                <c:pt idx="0">
                  <c:v>ETTh2-96</c:v>
                </c:pt>
                <c:pt idx="1">
                  <c:v>ETTh2-192</c:v>
                </c:pt>
                <c:pt idx="2">
                  <c:v>ETTh2-336</c:v>
                </c:pt>
                <c:pt idx="3">
                  <c:v>ETTh2-720</c:v>
                </c:pt>
                <c:pt idx="4">
                  <c:v>ETTm2-96</c:v>
                </c:pt>
                <c:pt idx="5">
                  <c:v>ETTm2-192</c:v>
                </c:pt>
                <c:pt idx="6">
                  <c:v>ETTm2-336</c:v>
                </c:pt>
                <c:pt idx="7">
                  <c:v>ETTm2-720</c:v>
                </c:pt>
                <c:pt idx="8">
                  <c:v>Weather-96</c:v>
                </c:pt>
                <c:pt idx="9">
                  <c:v>Weather-192</c:v>
                </c:pt>
                <c:pt idx="10">
                  <c:v>Weather-336</c:v>
                </c:pt>
                <c:pt idx="11">
                  <c:v>Weather-720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3.06</c:v>
                </c:pt>
                <c:pt idx="1">
                  <c:v>1.37</c:v>
                </c:pt>
                <c:pt idx="2">
                  <c:v>1.5</c:v>
                </c:pt>
                <c:pt idx="3">
                  <c:v>5.68</c:v>
                </c:pt>
                <c:pt idx="4">
                  <c:v>8.73</c:v>
                </c:pt>
                <c:pt idx="5">
                  <c:v>5.88</c:v>
                </c:pt>
                <c:pt idx="6">
                  <c:v>3.12</c:v>
                </c:pt>
                <c:pt idx="7">
                  <c:v>1.26</c:v>
                </c:pt>
                <c:pt idx="8">
                  <c:v>2.42</c:v>
                </c:pt>
                <c:pt idx="9">
                  <c:v>1.55</c:v>
                </c:pt>
                <c:pt idx="10">
                  <c:v>1.83</c:v>
                </c:pt>
                <c:pt idx="11">
                  <c:v>0.52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latin typeface="Times New Roman"/>
                  <a:ea typeface="黑体"/>
                  <a:cs typeface="黑体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9CBEA"/>
            </a:solidFill>
          </a:ln>
        </c:spPr>
        <c:txPr>
          <a:bodyPr/>
          <a:lstStyle/>
          <a:p>
            <a:pPr>
              <a:defRPr sz="1200">
                <a:latin typeface="Times New Roman"/>
                <a:ea typeface="黑体"/>
                <a:cs typeface="黑体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A1A1A"/>
          </a:solidFill>
          <a:latin typeface="Times New Roman"/>
          <a:ea typeface="黑体"/>
          <a:cs typeface="黑体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贡献 (%)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009FE3"/>
              </a:solidFill>
            </c:spPr>
          </c:dPt>
          <c:dPt>
            <c:idx val="2"/>
            <c:spPr>
              <a:solidFill>
                <a:srgbClr val="8CC8EC"/>
              </a:solidFill>
            </c:spPr>
          </c:dPt>
          <c:cat>
            <c:strRef>
              <c:f>Sheet1!$A$2:$A$4</c:f>
              <c:strCache>
                <c:ptCount val="3"/>
                <c:pt idx="0">
                  <c:v>读水平→写平移</c:v>
                </c:pt>
                <c:pt idx="1">
                  <c:v>周期形状修正</c:v>
                </c:pt>
                <c:pt idx="2">
                  <c:v>高阶细节修正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75.9</c:v>
                </c:pt>
                <c:pt idx="1">
                  <c:v>15.0</c:v>
                </c:pt>
                <c:pt idx="2">
                  <c:v>4.3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>
                  <a:latin typeface="Times New Roman"/>
                  <a:ea typeface="黑体"/>
                  <a:cs typeface="黑体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9CBEA"/>
            </a:solidFill>
          </a:ln>
        </c:spPr>
        <c:txPr>
          <a:bodyPr/>
          <a:lstStyle/>
          <a:p>
            <a:pPr>
              <a:defRPr sz="1300">
                <a:latin typeface="Times New Roman"/>
                <a:ea typeface="黑体"/>
                <a:cs typeface="黑体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A1A1A"/>
          </a:solidFill>
          <a:latin typeface="Times New Roman"/>
          <a:ea typeface="黑体"/>
          <a:cs typeface="黑体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68c0a9ecf66f4cb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参考稿蓝色主题">
      <a:dk1>
        <a:srgbClr val="000000"/>
      </a:dk1>
      <a:lt1>
        <a:srgbClr val="FFFFFF"/>
      </a:lt1>
      <a:dk2>
        <a:srgbClr val="0D2542"/>
      </a:dk2>
      <a:lt2>
        <a:srgbClr val="DEE7F0"/>
      </a:lt2>
      <a:accent1>
        <a:srgbClr val="003DA6"/>
      </a:accent1>
      <a:accent2>
        <a:srgbClr val="009FE3"/>
      </a:accent2>
      <a:accent3>
        <a:srgbClr val="1A62A8"/>
      </a:accent3>
      <a:accent4>
        <a:srgbClr val="46617D"/>
      </a:accent4>
      <a:accent5>
        <a:srgbClr val="A9CBEA"/>
      </a:accent5>
      <a:accent6>
        <a:srgbClr val="C0392B"/>
      </a:accent6>
      <a:hlink>
        <a:srgbClr val="003DA6"/>
      </a:hlink>
      <a:folHlink>
        <a:srgbClr val="46617D"/>
      </a:folHlink>
    </a:clrScheme>
    <a:fontScheme name="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参考稿蓝色主题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fb9a4f1985640a3" Type="http://schemas.openxmlformats.org/officeDocument/2006/relationships/slide" Target="../slides/slide1.xml"/><Relationship Id="R26c823e6919f4328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56f85c2276c741b3" Type="http://schemas.openxmlformats.org/officeDocument/2006/relationships/notesMaster" Target="../notesMasters/notesMaster1.xml"/><Relationship Id="Rb8c730a8a56d481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b13d9256e7a4b9c" Type="http://schemas.openxmlformats.org/officeDocument/2006/relationships/notesMaster" Target="../notesMasters/notesMaster1.xml"/><Relationship Id="R8577491713384266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3c02113b9c614c58" Type="http://schemas.openxmlformats.org/officeDocument/2006/relationships/notesMaster" Target="../notesMasters/notesMaster1.xml"/><Relationship Id="R92b100af3b824e84" Type="http://schemas.openxmlformats.org/officeDocument/2006/relationships/slide" Target="../slides/slide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81c17f5e327495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199b767c8ed44cc" Type="http://schemas.openxmlformats.org/officeDocument/2006/relationships/theme" Target="theme/theme2.xml"/><Relationship Id="Rd295fa2f90b24e4a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95fa2f90b24e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/>
          <a:ea typeface="黑体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/>
          <a:ea typeface="黑体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/>
          <a:ea typeface="黑体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/>
          <a:ea typeface="黑体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参考稿蓝色主题">
      <a:dk1>
        <a:srgbClr val="000000"/>
      </a:dk1>
      <a:lt1>
        <a:srgbClr val="FFFFFF"/>
      </a:lt1>
      <a:dk2>
        <a:srgbClr val="0D2542"/>
      </a:dk2>
      <a:lt2>
        <a:srgbClr val="DEE7F0"/>
      </a:lt2>
      <a:accent1>
        <a:srgbClr val="003DA6"/>
      </a:accent1>
      <a:accent2>
        <a:srgbClr val="009FE3"/>
      </a:accent2>
      <a:accent3>
        <a:srgbClr val="1A62A8"/>
      </a:accent3>
      <a:accent4>
        <a:srgbClr val="46617D"/>
      </a:accent4>
      <a:accent5>
        <a:srgbClr val="A9CBEA"/>
      </a:accent5>
      <a:accent6>
        <a:srgbClr val="C0392B"/>
      </a:accent6>
      <a:hlink>
        <a:srgbClr val="003DA6"/>
      </a:hlink>
      <a:folHlink>
        <a:srgbClr val="46617D"/>
      </a:folHlink>
    </a:clrScheme>
    <a:fontScheme name="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参考稿蓝色主题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9251711ff144a12" Type="http://schemas.openxmlformats.org/officeDocument/2006/relationships/image" Target="../media/image.jpeg"/><Relationship Id="Rd4ee0e09d5744b64" Type="http://schemas.openxmlformats.org/officeDocument/2006/relationships/notesSlide" Target="../notesSlides/notesSlide1.xml"/><Relationship Id="Rdcfbe4e2a6904ef5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d848c6e4ca34251" Type="http://schemas.openxmlformats.org/officeDocument/2006/relationships/slideLayout" Target="../slideLayouts/slideLayout1.xml"/><Relationship Id="R483812c0a1fd42fb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8f61b76680434149" Type="http://schemas.openxmlformats.org/officeDocument/2006/relationships/slideLayout" Target="../slideLayouts/slideLayout1.xml"/><Relationship Id="Rad1ce4662b0c4b49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92605ea2a2bb4f04" Type="http://schemas.openxmlformats.org/officeDocument/2006/relationships/notesSlide" Target="../notesSlides/notesSlide5.xml"/><Relationship Id="Rfe6df3ed36ab4a7a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封面标题">
            <a:extLst xmlns:a="http://schemas.openxmlformats.org/drawingml/2006/main">
              <a:ext uri="{FF2B5EF4-FFF2-40B4-BE49-F238E27FC236}">
                <a16:creationId xmlns:a16="http://schemas.microsoft.com/office/drawing/2014/main" id="{539BBCCE-D899-4B62-AAC3-C59A7AA4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6928"/>
            <a:ext cx="990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435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PhaseFormer-L：条件水平自适应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51711ff144a12"/>
          <a:srcRect xmlns:a="http://schemas.openxmlformats.org/drawingml/2006/main" l="0" t="2884" r="0" b="28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095500"/>
            <a:ext cx="12192000" cy="2038350"/>
          </a:xfrm>
          <a:prstGeom xmlns:a="http://schemas.openxmlformats.org/drawingml/2006/main" prst="rect">
            <a:avLst/>
          </a:prstGeom>
        </p:spPr>
      </p:pic>
      <p:sp>
        <p:nvSpPr>
          <p:cNvPr id="3" name="汇报人">
            <a:extLst xmlns:a="http://schemas.openxmlformats.org/drawingml/2006/main">
              <a:ext uri="{FF2B5EF4-FFF2-40B4-BE49-F238E27FC236}">
                <a16:creationId xmlns:a16="http://schemas.microsoft.com/office/drawing/2014/main" id="{67756537-052D-4E9A-A226-332FD847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2175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汇报人：Yiming Niu</a:t>
            </a:r>
          </a:p>
        </p:txBody>
      </p:sp>
      <p:sp>
        <p:nvSpPr>
          <p:cNvPr id="4" name="汇报日期">
            <a:extLst xmlns:a="http://schemas.openxmlformats.org/drawingml/2006/main">
              <a:ext uri="{FF2B5EF4-FFF2-40B4-BE49-F238E27FC236}">
                <a16:creationId xmlns:a16="http://schemas.microsoft.com/office/drawing/2014/main" id="{A6DC799A-A1C2-4E5D-8F94-1D2750D9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817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27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2026 / 09 / 29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1143000" y="1389888"/>
            <a:ext cx="99029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相位建模之外的低维互补修正 —— 从理论到落地的完整证据链</a:t>
            </a:r>
          </a:p>
        </p:txBody>
      </p:sp>
    </p:spTree>
    <p:extLst>
      <p:ext uri="{BB962C8B-B14F-4D97-AF65-F5344CB8AC3E}">
        <p14:creationId xmlns:p14="http://schemas.microsoft.com/office/powerpoint/2010/main" val="19454833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页标题">
            <a:extLst xmlns:a="http://schemas.openxmlformats.org/drawingml/2006/main">
              <a:ext uri="{FF2B5EF4-FFF2-40B4-BE49-F238E27FC236}">
                <a16:creationId xmlns:a16="http://schemas.microsoft.com/office/drawing/2014/main" id="{15889C3D-BAFB-4AFA-9F8E-A65F75C2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汇报内容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C35E5AD1-FC4C-4CD4-9F7D-D4B6C27D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2</a:t>
            </a:r>
          </a:p>
        </p:txBody>
      </p:sp>
      <p:sp>
        <p:nvSpPr>
          <p:cNvPr id="3" name="深蓝横线">
            <a:extLst xmlns:a="http://schemas.openxmlformats.org/drawingml/2006/main">
              <a:ext uri="{FF2B5EF4-FFF2-40B4-BE49-F238E27FC236}">
                <a16:creationId xmlns:a16="http://schemas.microsoft.com/office/drawing/2014/main" id="{7352AAF7-CE92-4AF1-84E1-8A507797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4" name="亮蓝横线">
            <a:extLst xmlns:a="http://schemas.openxmlformats.org/drawingml/2006/main">
              <a:ext uri="{FF2B5EF4-FFF2-40B4-BE49-F238E27FC236}">
                <a16:creationId xmlns:a16="http://schemas.microsoft.com/office/drawing/2014/main" id="{C9DBDE39-DC1D-47C0-85DD-649A6C5E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914400"/>
            <a:ext cx="910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E3"/>
          </a:solidFill>
          <a:ln xmlns:a="http://schemas.openxmlformats.org/drawingml/2006/main" w="0">
            <a:noFill/>
          </a:ln>
        </p:spPr>
      </p:sp>
      <p:sp>
        <p:nvSpPr>
          <p:cNvPr id="5" name="论文题目">
            <a:extLst xmlns:a="http://schemas.openxmlformats.org/drawingml/2006/main">
              <a:ext uri="{FF2B5EF4-FFF2-40B4-BE49-F238E27FC236}">
                <a16:creationId xmlns:a16="http://schemas.microsoft.com/office/drawing/2014/main" id="{41D7EC67-E2DB-4542-AD7B-E9E0B527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00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PhaseFormer-L：相位分词之外的条件水平自适应</a:t>
            </a:r>
          </a:p>
        </p:txBody>
      </p:sp>
      <p:sp>
        <p:nvSpPr>
          <p:cNvPr id="6" name="文献信息">
            <a:extLst xmlns:a="http://schemas.openxmlformats.org/drawingml/2006/main">
              <a:ext uri="{FF2B5EF4-FFF2-40B4-BE49-F238E27FC236}">
                <a16:creationId xmlns:a16="http://schemas.microsoft.com/office/drawing/2014/main" id="{DB4A305E-9BF5-4E9C-B657-344774F5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895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6B6B6B"/>
                </a:solidFill>
                <a:latin typeface="Times New Roman"/>
                <a:ea typeface="黑体"/>
                <a:cs typeface="黑体"/>
              </a:defRPr>
            </a:pPr>
            <a:r>
              <a:rPr sz="1875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PhaseFormer（ICLR 2026）期刊扩展 · Minipaper 0926</a:t>
            </a:r>
          </a:p>
        </p:txBody>
      </p:sp>
      <p:sp xmlns:a="http://schemas.openxmlformats.org/drawingml/2006/main">
        <p:nvSpPr>
          <p:cNvPr id="8" name="Rounded Rectangle 7"/>
          <p:cNvSpPr/>
          <p:nvPr/>
        </p:nvSpPr>
        <p:spPr>
          <a:xfrm>
            <a:off x="769467" y="3520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9" name="Oval 8"/>
          <p:cNvSpPr/>
          <p:nvPr/>
        </p:nvSpPr>
        <p:spPr>
          <a:xfrm>
            <a:off x="1363827" y="3749039"/>
            <a:ext cx="685800" cy="68580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01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769467" y="457200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研究问题</a:t>
            </a:r>
          </a:p>
        </p:txBody>
      </p:sp>
      <p:sp xmlns:a="http://schemas.openxmlformats.org/drawingml/2006/main">
        <p:nvSpPr>
          <p:cNvPr id="11" name="Rounded Rectangle 10"/>
          <p:cNvSpPr/>
          <p:nvPr/>
        </p:nvSpPr>
        <p:spPr>
          <a:xfrm>
            <a:off x="2964027" y="3520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2" name="Oval 11"/>
          <p:cNvSpPr/>
          <p:nvPr/>
        </p:nvSpPr>
        <p:spPr>
          <a:xfrm>
            <a:off x="3558387" y="3749039"/>
            <a:ext cx="685800" cy="68580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02</a:t>
            </a:r>
          </a:p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2964027" y="457200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理论依据</a:t>
            </a:r>
          </a:p>
        </p:txBody>
      </p:sp>
      <p:sp xmlns:a="http://schemas.openxmlformats.org/drawingml/2006/main">
        <p:nvSpPr>
          <p:cNvPr id="14" name="Rounded Rectangle 13"/>
          <p:cNvSpPr/>
          <p:nvPr/>
        </p:nvSpPr>
        <p:spPr>
          <a:xfrm>
            <a:off x="5158587" y="3520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5" name="Oval 14"/>
          <p:cNvSpPr/>
          <p:nvPr/>
        </p:nvSpPr>
        <p:spPr>
          <a:xfrm>
            <a:off x="5752947" y="3749039"/>
            <a:ext cx="685800" cy="68580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03</a:t>
            </a:r>
          </a:p>
        </p:txBody>
      </p:sp>
      <p:sp xmlns:a="http://schemas.openxmlformats.org/drawingml/2006/main">
        <p:nvSpPr>
          <p:cNvPr id="16" name="TextBox 15"/>
          <p:cNvSpPr txBox="1"/>
          <p:nvPr/>
        </p:nvSpPr>
        <p:spPr>
          <a:xfrm>
            <a:off x="5158587" y="457200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方法设计</a:t>
            </a:r>
          </a:p>
        </p:txBody>
      </p:sp>
      <p:sp xmlns:a="http://schemas.openxmlformats.org/drawingml/2006/main">
        <p:nvSpPr>
          <p:cNvPr id="17" name="Rounded Rectangle 16"/>
          <p:cNvSpPr/>
          <p:nvPr/>
        </p:nvSpPr>
        <p:spPr>
          <a:xfrm>
            <a:off x="7353147" y="3520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8" name="Oval 17"/>
          <p:cNvSpPr/>
          <p:nvPr/>
        </p:nvSpPr>
        <p:spPr>
          <a:xfrm>
            <a:off x="7947507" y="3749039"/>
            <a:ext cx="685800" cy="68580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04</a:t>
            </a:r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7353147" y="457200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实验证据</a:t>
            </a:r>
          </a:p>
        </p:txBody>
      </p:sp>
      <p:sp xmlns:a="http://schemas.openxmlformats.org/drawingml/2006/main">
        <p:nvSpPr>
          <p:cNvPr id="20" name="Rounded Rectangle 19"/>
          <p:cNvSpPr/>
          <p:nvPr/>
        </p:nvSpPr>
        <p:spPr>
          <a:xfrm>
            <a:off x="9547707" y="3520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21" name="Oval 20"/>
          <p:cNvSpPr/>
          <p:nvPr/>
        </p:nvSpPr>
        <p:spPr>
          <a:xfrm>
            <a:off x="10142067" y="3749039"/>
            <a:ext cx="685800" cy="68580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05</a:t>
            </a:r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9547707" y="457200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价值总结</a:t>
            </a:r>
          </a:p>
        </p:txBody>
      </p:sp>
    </p:spTree>
    <p:extLst>
      <p:ext uri="{BB962C8B-B14F-4D97-AF65-F5344CB8AC3E}">
        <p14:creationId xmlns:p14="http://schemas.microsoft.com/office/powerpoint/2010/main" val="4915294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页标题">
            <a:extLst xmlns:a="http://schemas.openxmlformats.org/drawingml/2006/main"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一页看懂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3</a:t>
            </a:r>
          </a:p>
        </p:txBody>
      </p:sp>
      <p:sp>
        <p:nvSpPr>
          <p:cNvPr id="3" name="深蓝横线">
            <a:extLst xmlns:a="http://schemas.openxmlformats.org/drawingml/2006/main"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4" name="亮蓝横线">
            <a:extLst xmlns:a="http://schemas.openxmlformats.org/drawingml/2006/main"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914400"/>
            <a:ext cx="910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E3"/>
          </a:solidFill>
          <a:ln xmlns:a="http://schemas.openxmlformats.org/drawingml/2006/main" w="0">
            <a:noFill/>
          </a:ln>
        </p:spPr>
      </p:sp>
      <p:sp>
        <p:nvSpPr>
          <p:cNvPr id="5" name="核心思想">
            <a:extLst xmlns:a="http://schemas.openxmlformats.org/drawingml/2006/main">
              <a:ext uri="{FF2B5EF4-FFF2-40B4-BE49-F238E27FC236}">
                <a16:creationId xmlns:a16="http://schemas.microsoft.com/office/drawing/2014/main" id="{590BE95B-78E2-494C-BA8F-7446E896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325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相位主干之外仍有一块可预测误差：结构简单、可解释，补上即稳定增益</a:t>
            </a:r>
          </a:p>
        </p:txBody>
      </p:sp>
      <p:sp>
        <p:nvSpPr>
          <p:cNvPr id="6" name="问题标记">
            <a:extLst xmlns:a="http://schemas.openxmlformats.org/drawingml/2006/main">
              <a:ext uri="{FF2B5EF4-FFF2-40B4-BE49-F238E27FC236}">
                <a16:creationId xmlns:a16="http://schemas.microsoft.com/office/drawing/2014/main" id="{1C7DF132-B2F2-478E-8BAA-9188501D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24100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7" name="问题标题">
            <a:extLst xmlns:a="http://schemas.openxmlformats.org/drawingml/2006/main">
              <a:ext uri="{FF2B5EF4-FFF2-40B4-BE49-F238E27FC236}">
                <a16:creationId xmlns:a16="http://schemas.microsoft.com/office/drawing/2014/main" id="{8975AB97-AFE8-4775-B779-3190AAC7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问题</a:t>
            </a:r>
          </a:p>
        </p:txBody>
      </p:sp>
      <p:sp>
        <p:nvSpPr>
          <p:cNvPr id="8" name="问题内容">
            <a:extLst xmlns:a="http://schemas.openxmlformats.org/drawingml/2006/main">
              <a:ext uri="{FF2B5EF4-FFF2-40B4-BE49-F238E27FC236}">
                <a16:creationId xmlns:a16="http://schemas.microsoft.com/office/drawing/2014/main" id="{64835E54-3199-47EC-9A38-AA4393D6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18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PhaseFormer 擅长刻画周期内的形状，但跨周期的“水平漂移”仍有一部分没被利用</a:t>
            </a:r>
          </a:p>
        </p:txBody>
      </p:sp>
      <p:sp>
        <p:nvSpPr>
          <p:cNvPr id="9" name="方法标记">
            <a:extLst xmlns:a="http://schemas.openxmlformats.org/drawingml/2006/main">
              <a:ext uri="{FF2B5EF4-FFF2-40B4-BE49-F238E27FC236}">
                <a16:creationId xmlns:a16="http://schemas.microsoft.com/office/drawing/2014/main" id="{BE4EB521-2D4E-4B58-9E9C-C793C082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448050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10" name="方法标题">
            <a:extLst xmlns:a="http://schemas.openxmlformats.org/drawingml/2006/main">
              <a:ext uri="{FF2B5EF4-FFF2-40B4-BE49-F238E27FC236}">
                <a16:creationId xmlns:a16="http://schemas.microsoft.com/office/drawing/2014/main" id="{9C550FDE-E486-4E4D-8344-42800B93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方法</a:t>
            </a:r>
          </a:p>
        </p:txBody>
      </p:sp>
      <p:sp>
        <p:nvSpPr>
          <p:cNvPr id="11" name="方法内容">
            <a:extLst xmlns:a="http://schemas.openxmlformats.org/drawingml/2006/main">
              <a:ext uri="{FF2B5EF4-FFF2-40B4-BE49-F238E27FC236}">
                <a16:creationId xmlns:a16="http://schemas.microsoft.com/office/drawing/2014/main" id="{6C6290CA-947D-4E33-A465-A26B9980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18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理论证明缺口只有一个方向；据此增加带门控的线性修正分支，并按低维结构压缩</a:t>
            </a:r>
          </a:p>
        </p:txBody>
      </p:sp>
      <p:sp>
        <p:nvSpPr>
          <p:cNvPr id="12" name="结果标记">
            <a:extLst xmlns:a="http://schemas.openxmlformats.org/drawingml/2006/main">
              <a:ext uri="{FF2B5EF4-FFF2-40B4-BE49-F238E27FC236}">
                <a16:creationId xmlns:a16="http://schemas.microsoft.com/office/drawing/2014/main" id="{6CA72F75-BD73-4465-92C1-6285C1D9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572000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13" name="结果标题">
            <a:extLst xmlns:a="http://schemas.openxmlformats.org/drawingml/2006/main">
              <a:ext uri="{FF2B5EF4-FFF2-40B4-BE49-F238E27FC236}">
                <a16:creationId xmlns:a16="http://schemas.microsoft.com/office/drawing/2014/main" id="{5CAD5E49-3109-4A36-AA34-545A7C1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结果</a:t>
            </a:r>
          </a:p>
        </p:txBody>
      </p:sp>
      <p:sp>
        <p:nvSpPr>
          <p:cNvPr id="14" name="结果内容">
            <a:extLst xmlns:a="http://schemas.openxmlformats.org/drawingml/2006/main">
              <a:ext uri="{FF2B5EF4-FFF2-40B4-BE49-F238E27FC236}">
                <a16:creationId xmlns:a16="http://schemas.microsoft.com/office/drawing/2014/main" id="{AD0EC429-B64D-4F5F-8C35-91FBF83F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18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三个数据集 12 个设定误差全部下降（最高 </a:t>
            </a:r>
            <a:r>
              <a:rPr sz="1800" b="1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8.73%</a:t>
            </a:r>
            <a:r>
              <a:rPr sz="18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）；修正分支仅需 </a:t>
            </a:r>
            <a:r>
              <a:rPr sz="1800" b="1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3.5%–6.1%</a:t>
            </a:r>
            <a:r>
              <a:rPr sz="18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 的参数</a:t>
            </a:r>
          </a:p>
        </p:txBody>
      </p:sp>
      <p:sp>
        <p:nvSpPr>
          <p:cNvPr id="15" name="论文引用">
            <a:extLst xmlns:a="http://schemas.openxmlformats.org/drawingml/2006/main">
              <a:ext uri="{FF2B5EF4-FFF2-40B4-BE49-F238E27FC236}">
                <a16:creationId xmlns:a16="http://schemas.microsoft.com/office/drawing/2014/main" id="{463910FF-AAB2-4FAD-95A8-61DDD4E8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53175"/>
            <a:ext cx="1081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6B6B"/>
                </a:solidFill>
                <a:latin typeface="Times New Roman"/>
                <a:ea typeface="黑体"/>
                <a:cs typeface="黑体"/>
              </a:defRPr>
            </a:pPr>
            <a:r>
              <a:rPr sz="1275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参考：Niu et al. PhaseFormer. ICLR 2026. arXiv:2510.04134；本工作：PhaseFormer-L 期刊扩展稿（Minipaper 0926）</a:t>
            </a:r>
          </a:p>
        </p:txBody>
      </p:sp>
    </p:spTree>
    <p:extLst>
      <p:ext uri="{BB962C8B-B14F-4D97-AF65-F5344CB8AC3E}">
        <p14:creationId xmlns:p14="http://schemas.microsoft.com/office/powerpoint/2010/main" val="9915954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深蓝横线">
            <a:extLst xmlns:a="http://schemas.openxmlformats.org/drawingml/2006/main">
              <a:ext uri="{FF2B5EF4-FFF2-40B4-BE49-F238E27FC236}">
                <a16:creationId xmlns:a16="http://schemas.microsoft.com/office/drawing/2014/main" id="{7D8BB683-0098-45C4-B21D-5A19B132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2" name="亮蓝横线">
            <a:extLst xmlns:a="http://schemas.openxmlformats.org/drawingml/2006/main">
              <a:ext uri="{FF2B5EF4-FFF2-40B4-BE49-F238E27FC236}">
                <a16:creationId xmlns:a16="http://schemas.microsoft.com/office/drawing/2014/main" id="{643D3D94-6FC5-48A7-98E7-A974DF73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914400"/>
            <a:ext cx="910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E3"/>
          </a:solidFill>
          <a:ln xmlns:a="http://schemas.openxmlformats.org/drawingml/2006/main" w="0">
            <a:noFill/>
          </a:ln>
        </p:spPr>
      </p:sp>
      <p:sp>
        <p:nvSpPr>
          <p:cNvPr id="3" name="结束语">
            <a:extLst xmlns:a="http://schemas.openxmlformats.org/drawingml/2006/main">
              <a:ext uri="{FF2B5EF4-FFF2-40B4-BE49-F238E27FC236}">
                <a16:creationId xmlns:a16="http://schemas.microsoft.com/office/drawing/2014/main" id="{5D7A3FFE-0D7C-4CDF-96C9-F503DDA9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914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675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谢谢大家，欢迎讨论</a:t>
            </a:r>
          </a:p>
        </p:txBody>
      </p:sp>
    </p:spTree>
    <p:extLst>
      <p:ext uri="{BB962C8B-B14F-4D97-AF65-F5344CB8AC3E}">
        <p14:creationId xmlns:p14="http://schemas.microsoft.com/office/powerpoint/2010/main" val="952513530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研究问题：相位建模之后还剩什么？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4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PhaseFormer 抓住了“周期内的形状”，我们关注“跨周期的水平漂移”还有没有可挖的价值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2920" y="1828800"/>
          <a:ext cx="60350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94360" y="56235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FE3"/>
                </a:solidFill>
                <a:latin typeface="Times New Roman"/>
                <a:ea typeface="黑体"/>
                <a:cs typeface="黑体"/>
              </a:rPr>
              <a:t>蓝线：</a:t>
            </a: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周期内形状（相位路径强项）   </a:t>
            </a:r>
            <a:r>
              <a:rPr sz="14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红线：</a:t>
            </a: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跨周期水平漂移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1828800"/>
            <a:ext cx="470916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32320" y="194767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PhaseFormer 的做法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28600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把不同周期中同一相位的观测放在一起建模，参数少、预测长，擅长刻画周期内形状。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3063240"/>
            <a:ext cx="470916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32320" y="318211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已有能力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52044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相位路径本身已能解释一部分水平变化——本工作并非否定它，而是在它之上做补充。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4297680"/>
            <a:ext cx="4709160" cy="105156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32320" y="441655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关键问题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75488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相位路径预测之后，剩下的误差里还有没有可预测的部分？结构是什么？能否低成本补上？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57784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目标：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找到并补上这块“剩余价值”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研究路线：五步证据链，环环相扣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5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每一步回答一个问题，前一步的结论是后一步的出发点</a:t>
            </a:r>
          </a:p>
        </p:txBody>
      </p:sp>
      <p:sp>
        <p:nvSpPr>
          <p:cNvPr id="18" name="Oval 17"/>
          <p:cNvSpPr/>
          <p:nvPr/>
        </p:nvSpPr>
        <p:spPr>
          <a:xfrm>
            <a:off x="1020927" y="1920240"/>
            <a:ext cx="822960" cy="82296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567" y="2880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理论推导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567" y="32918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缺口在哪？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567" y="37033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18007" y="3703320"/>
            <a:ext cx="182880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水平漂移最多留下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1 个缺口方向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17039" y="2331720"/>
            <a:ext cx="1362456" cy="0"/>
          </a:xfrm>
          <a:prstGeom prst="line">
            <a:avLst/>
          </a:prstGeom>
          <a:ln w="22225">
            <a:solidFill>
              <a:srgbClr val="009F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352647" y="1920240"/>
            <a:ext cx="822960" cy="82296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58287" y="2880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量化测量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58287" y="32918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缺口有多大？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58287" y="37033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849727" y="3703320"/>
            <a:ext cx="182880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少数方向拿到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绝大部分收益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48759" y="2331720"/>
            <a:ext cx="1362456" cy="0"/>
          </a:xfrm>
          <a:prstGeom prst="line">
            <a:avLst/>
          </a:prstGeom>
          <a:ln w="22225">
            <a:solidFill>
              <a:srgbClr val="009F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684367" y="1920240"/>
            <a:ext cx="822960" cy="82296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0007" y="2880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机制识别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90007" y="32918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补的是什么？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90007" y="37033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181447" y="3703320"/>
            <a:ext cx="182880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模型学到理论预言的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“读水平→写平移”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0479" y="2331720"/>
            <a:ext cx="1362456" cy="0"/>
          </a:xfrm>
          <a:prstGeom prst="line">
            <a:avLst/>
          </a:prstGeom>
          <a:ln w="22225">
            <a:solidFill>
              <a:srgbClr val="009F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016087" y="1920240"/>
            <a:ext cx="822960" cy="82296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1727" y="2880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干预验证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1727" y="32918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真的有用吗？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21727" y="37033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513167" y="3703320"/>
            <a:ext cx="182880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删掉它，整体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预测一致变差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912199" y="2331720"/>
            <a:ext cx="1362456" cy="0"/>
          </a:xfrm>
          <a:prstGeom prst="line">
            <a:avLst/>
          </a:prstGeom>
          <a:ln w="22225">
            <a:solidFill>
              <a:srgbClr val="009F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347807" y="1920240"/>
            <a:ext cx="822960" cy="82296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3447" y="2880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工程落地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53447" y="32918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能否更省？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53447" y="37033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844887" y="3703320"/>
            <a:ext cx="182880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按低维结构压缩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参数减少 94% 以上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166360"/>
            <a:ext cx="11018520" cy="73152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2960" y="516636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效果锚点：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PhaseFormer-L 在三个数据集全部 12 个设定上误差双指标下降，最高降低 </a:t>
            </a:r>
            <a:r>
              <a:rPr sz="1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8.73%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理论：水平漂移只留下一个“缺口方向”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6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两个命题说明：需要补的东西本质上很简单——“读一个数，写一条线”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5349240" cy="306324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命题 1　缺口最多一个方向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2514600"/>
            <a:ext cx="48006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2514600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(I − P</a:t>
            </a:r>
            <a:r>
              <a:rPr sz="2200" b="0" i="1" baseline="-2500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S</a:t>
            </a:r>
            <a:r>
              <a:rPr sz="22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) X</a:t>
            </a:r>
            <a:r>
              <a:rPr sz="2200" b="0" i="1" baseline="-2500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ℓ</a:t>
            </a:r>
            <a:r>
              <a:rPr sz="22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  =  (I − P</a:t>
            </a:r>
            <a:r>
              <a:rPr sz="2200" b="0" i="1" baseline="-2500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S</a:t>
            </a:r>
            <a:r>
              <a:rPr sz="22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) X  +  </a:t>
            </a:r>
            <a:r>
              <a:rPr sz="22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ℓ</a:t>
            </a:r>
            <a:r>
              <a:rPr sz="2200" b="0" i="1" baseline="-2500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⊥</a:t>
            </a:r>
            <a:r>
              <a:rPr sz="22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 1</a:t>
            </a:r>
            <a:r>
              <a:rPr sz="2200" b="0" i="1" baseline="3000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38328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把水平变化拆成两部分：相位主干能表示的部分，以及它之外的部分 ℓ⊥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后者是一个“外积”，秩不超过 1 —— 相位主干之外最多只多出一个方向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828800"/>
            <a:ext cx="5349240" cy="306324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命题 2　最优修正是秩一的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2514600"/>
            <a:ext cx="48006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37960" y="2514600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W</a:t>
            </a:r>
            <a:r>
              <a:rPr sz="2200" b="0" i="1" baseline="3000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*</a:t>
            </a:r>
            <a:r>
              <a:rPr sz="22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 = a b</a:t>
            </a:r>
            <a:r>
              <a:rPr sz="2200" b="0" i="1" baseline="3000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T</a:t>
            </a:r>
            <a:r>
              <a:rPr sz="22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 + 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38328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b：从近期历史中“读出”当前水平（近似指数加权平均）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a：把这个水平“写成”整段预测区间的平移；R 只来自剩余噪声，大小有上界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166360"/>
            <a:ext cx="11018520" cy="73152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" y="516636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推论：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修正器不需要很大，主导方向是 </a:t>
            </a:r>
            <a:r>
              <a:rPr sz="1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“近期水平 → 整体平移”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，其余少数方向只做细节修正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方法：相位主干 + 门控线性修正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7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结构改动很小：在原模型旁并联一条线性分支，由门控自动决定用多少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0632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7512" y="3063240"/>
            <a:ext cx="1133856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历史序列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L = 720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19202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359152" y="1920240"/>
            <a:ext cx="204825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相位主干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PhaseFormer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42062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359152" y="4206240"/>
            <a:ext cx="204825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锚定线性修正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分支（新增）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1920240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10912" y="1920240"/>
            <a:ext cx="996696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相位预测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4206240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010912" y="4206240"/>
            <a:ext cx="996696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修正预测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06324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65392" y="3063240"/>
            <a:ext cx="1179576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门控融合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g ∈ (0, 1)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874519" y="2377440"/>
            <a:ext cx="411481" cy="100584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74519" y="3657600"/>
            <a:ext cx="411481" cy="100584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480560" y="2377440"/>
            <a:ext cx="457200" cy="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80560" y="4663440"/>
            <a:ext cx="457200" cy="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80760" y="2377440"/>
            <a:ext cx="411480" cy="96012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080760" y="3703320"/>
            <a:ext cx="411480" cy="96012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94360" y="544068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融合： </a:t>
            </a:r>
            <a:r>
              <a:rPr sz="1600" b="0" i="1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ŷ = (1 − g) · ŷ</a:t>
            </a:r>
            <a:r>
              <a:rPr sz="1600" b="0" i="1" baseline="-250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φ</a:t>
            </a:r>
            <a:r>
              <a:rPr sz="1600" b="0" i="1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  +  g · ŷ</a:t>
            </a:r>
            <a:r>
              <a:rPr sz="1600" b="0" i="1" baseline="-250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r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　三部分联合训练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412480" y="1993392"/>
            <a:ext cx="502920" cy="50292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19842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锚定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235000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以最后一个观测为基准，只学习“相对变化”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310896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8412480" y="3273552"/>
            <a:ext cx="502920" cy="50292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26440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门控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363016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自动学习修正信号的使用比例，不需要时影响很小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438912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8412480" y="4553712"/>
            <a:ext cx="502920" cy="50292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45445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联合训练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491032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只补相位主干没做到的部分，与主干形成互补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效果：12 个设定全部提升，最高 8.73%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8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在 ETTh2、ETTm2、Weather 三个数据集的全部预测长度上，两项误差指标同时改善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329184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192024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12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54203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设定上 MSE、MAE 双指标全部下降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154680"/>
            <a:ext cx="329184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324612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8.73%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679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最大降幅（ETTm2，预测 96 步）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480560"/>
            <a:ext cx="329184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3 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937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独立训练取平均，结果稳定可复现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1783080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相对原始 PhaseFormer（仅相位路径）的预测误差（MSE）降低幅度，%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4114800" y="2148840"/>
          <a:ext cx="758952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9436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对比设置：同配置、同随机种子下的原始 PhaseFormer；输入长度 720，预测长度 96 / 192 / 336 / 720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量化：可预测收益集中在一个方向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9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在 28 个数据集-预测长度组合上测量“一个线性修正器最多能拿到多少收益、分布在几个方向上”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3474720" cy="25146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20116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64%–86%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83464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第一个方向独占的可达收益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一个方向就拿到大头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1828800"/>
            <a:ext cx="3474720" cy="25146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0" y="20116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2–7 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83464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拿到 90% 收益所需的方向数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缺口确实是低维的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1828800"/>
            <a:ext cx="3474720" cy="25146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21040" y="20116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0.89–0.99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83464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与“整体平移”的相似度（满分 1）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主要作用就是整体平移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663440"/>
            <a:ext cx="11018520" cy="114300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68680" y="4892040"/>
            <a:ext cx="685800" cy="68580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4663440"/>
            <a:ext cx="960120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与理论一致，且在相位主干之后依然成立：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扣除相位主干的预测后重新测量，主方向与原结果的一致度 ≥ </a:t>
            </a:r>
            <a:r>
              <a:rPr sz="1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0.999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，指向同一个“近期水平”方向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机制：模型学到“读近期水平→写平移”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10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拆开训练好的修正分支，看它“读什么、写什么”——与理论预言逐项吻合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18 /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195681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组模型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226771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读取的都是“近期加权水平”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2608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292608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12 /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05409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组（ETT 数据）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36499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把它写成整段预测的“整体平移”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02336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009FE3"/>
                </a:solidFill>
                <a:latin typeface="Times New Roman"/>
                <a:ea typeface="黑体"/>
                <a:cs typeface="黑体"/>
              </a:rPr>
              <a:t>6 / 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15137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组（Weather）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46227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写成平滑的“倾斜 / 弯曲”修正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21208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结论：</a:t>
            </a: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两类数据读的是同一个量，只是“写法”随数据特点不同——正是理论中 a、b 两个因子的体现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783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典型模型（ETTh2-720）各机制的收益占比，%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6400800" y="2148840"/>
          <a:ext cx="53035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6492240" y="5257800"/>
            <a:ext cx="5120640" cy="68580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75120" y="5257800"/>
            <a:ext cx="484632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72 个模型中，</a:t>
            </a:r>
            <a:r>
              <a:rPr sz="15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3–5 个</a:t>
            </a: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机制即解释 </a:t>
            </a:r>
            <a:r>
              <a:rPr sz="15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≥95%</a:t>
            </a: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 的收益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验证：删掉这个方向，整体一致变差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11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固定模型其余部分，只删除理论指出的“近期水平”方向，并用随机方向做对照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2011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只看修正分支自身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4688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52 / 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290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个模型反而“变好”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单独看，这个方向似乎没用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69080" y="3200400"/>
            <a:ext cx="548640" cy="0"/>
          </a:xfrm>
          <a:prstGeom prst="line">
            <a:avLst/>
          </a:prstGeom>
          <a:ln w="31750">
            <a:solidFill>
              <a:srgbClr val="00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709160" y="182880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92040" y="2011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看融合后的整体预测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4688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72 / 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4290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个模型全部“变差”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误差中位数上升 30.43%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18288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对照严格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157984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以同维度随机方向为对照：18 / 18 组中，删除理论方向的影响均明显超出对照范围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926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反转说明互补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255264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单看分支是“多余”的，放进整体却“必不可少”——它的价值来自与相位主干的配合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23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结论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352544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这个方向是整体预测必需的互补部件，而不是巧合出现的相关特征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937760"/>
            <a:ext cx="11018520" cy="86868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2960" y="493776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一句话：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理论预言的方向 → 模型确实学到 → 删掉就变差，三者闭环，说明机制解释是</a:t>
            </a:r>
            <a:r>
              <a:rPr sz="1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可验证的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而非事后附会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落地：参数大减，效果基本不变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12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既然有用的方向只有少数几个，修正分支就可以大幅“瘦身”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187451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参数占比（相对未压缩版本）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187451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效果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286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修正分支（未压缩）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23317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611880" y="23317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21040" y="22860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2860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/>
            </a: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基准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29718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修正分支（压缩后）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30175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11880" y="3017520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160520" y="29718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3.5%–6.1%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971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92%–102%</a:t>
            </a: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 收益保留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886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整模型（未压缩）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11880" y="39319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3611880" y="39319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21040" y="38862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886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/>
            </a: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基准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572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整模型（压缩后）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1880" y="46177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3611880" y="461772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257800" y="45720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16.4%–33.0%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5720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仅 0.72%</a:t>
            </a: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 误差差异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349240"/>
            <a:ext cx="11018520" cy="73152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意义：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理论告诉我们“为什么能压”，实测告诉我们“压到多少合适”——精度与成本可按需取舍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总结：理论 — 机制 — 效果 — 效率，形成闭环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13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Rounded Rectangle 16"/>
          <p:cNvSpPr/>
          <p:nvPr/>
        </p:nvSpPr>
        <p:spPr>
          <a:xfrm>
            <a:off x="594360" y="128016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68680" y="1554480"/>
            <a:ext cx="640080" cy="64008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155448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理论清晰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029967"/>
            <a:ext cx="40690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水平漂移在相位主干之外只留下一个缺口方向，最优修正就是“读近期水平、写整体平移”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28016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492240" y="1554480"/>
            <a:ext cx="640080" cy="64008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155448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机制可解释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029967"/>
            <a:ext cx="40690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训练出的模型确实学到这一机制；3–5 个可命名的机制解释 ≥95% 的收益，且经删除实验验证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154679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68680" y="3428999"/>
            <a:ext cx="640080" cy="64008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428999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效果稳定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3904487"/>
            <a:ext cx="40690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ETTh2、ETTm2、Weather 全部 12 个设定误差双指标下降，最高降低 8.73%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54679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492240" y="3428999"/>
            <a:ext cx="640080" cy="64008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428999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部署高效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904487"/>
            <a:ext cx="40690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修正分支压缩到 3.5%–6.1% 的参数，收益基本保留；整模型可降至 16.4%–33.0%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166360"/>
            <a:ext cx="11018520" cy="73152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2960" y="516636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价值：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在 PhaseFormer（ICLR 2026）基础上形成一条</a:t>
            </a:r>
            <a:r>
              <a:rPr sz="1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从理论到落地的完整主线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，支撑期刊扩展版本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参考稿蓝色主题">
      <a:dk1>
        <a:srgbClr val="000000"/>
      </a:dk1>
      <a:lt1>
        <a:srgbClr val="FFFFFF"/>
      </a:lt1>
      <a:dk2>
        <a:srgbClr val="0D2542"/>
      </a:dk2>
      <a:lt2>
        <a:srgbClr val="DEE7F0"/>
      </a:lt2>
      <a:accent1>
        <a:srgbClr val="003DA6"/>
      </a:accent1>
      <a:accent2>
        <a:srgbClr val="009FE3"/>
      </a:accent2>
      <a:accent3>
        <a:srgbClr val="1A62A8"/>
      </a:accent3>
      <a:accent4>
        <a:srgbClr val="46617D"/>
      </a:accent4>
      <a:accent5>
        <a:srgbClr val="A9CBEA"/>
      </a:accent5>
      <a:accent6>
        <a:srgbClr val="C0392B"/>
      </a:accent6>
      <a:hlink>
        <a:srgbClr val="003DA6"/>
      </a:hlink>
      <a:folHlink>
        <a:srgbClr val="46617D"/>
      </a:folHlink>
    </a:clrScheme>
    <a:fontScheme name="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参考稿蓝色主题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2026-09-28T07:23:43.0240000Z</dcterms:created>
  <dcterms:modified xsi:type="dcterms:W3CDTF">2026-09-28T07:23:43.0240000Z</dcterms:modified>
</coreProperties>
</file>