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60" r:id="rId1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观测序列</c:v>
                </c:pt>
              </c:strCache>
            </c:strRef>
          </c:tx>
          <c:spPr>
            <a:ln w="28575" cap="rnd">
              <a:solidFill>
                <a:srgbClr val="009FE3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Sheet1!$A$2:$A$121</c:f>
              <c:numCache>
                <c:formatCode>General</c:formatCode>
                <c:ptCount val="1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</c:numCache>
            </c:numRef>
          </c:cat>
          <c:val>
            <c:numRef>
              <c:f>Sheet1!$B$2:$B$121</c:f>
              <c:numCache>
                <c:formatCode>General</c:formatCode>
                <c:ptCount val="120"/>
                <c:pt idx="0">
                  <c:v>0.197624865688262</c:v>
                </c:pt>
                <c:pt idx="1">
                  <c:v>0.574400931817237</c:v>
                </c:pt>
                <c:pt idx="2">
                  <c:v>0.848978996050072</c:v>
                </c:pt>
                <c:pt idx="3">
                  <c:v>0.995974246404935</c:v>
                </c:pt>
                <c:pt idx="4">
                  <c:v>1.01737953414625</c:v>
                </c:pt>
                <c:pt idx="5">
                  <c:v>0.939211404792739</c:v>
                </c:pt>
                <c:pt idx="6">
                  <c:v>0.802375134311738</c:v>
                </c:pt>
                <c:pt idx="7">
                  <c:v>0.650343939574352</c:v>
                </c:pt>
                <c:pt idx="8">
                  <c:v>0.517046407734366</c:v>
                </c:pt>
                <c:pt idx="9">
                  <c:v>0.41823931596816</c:v>
                </c:pt>
                <c:pt idx="10">
                  <c:v>0.34864586963819</c:v>
                </c:pt>
                <c:pt idx="11">
                  <c:v>0.28553346659885</c:v>
                </c:pt>
                <c:pt idx="12">
                  <c:v>0.197624865688262</c:v>
                </c:pt>
                <c:pt idx="13">
                  <c:v>0.0567628416121957</c:v>
                </c:pt>
                <c:pt idx="14">
                  <c:v>-0.151021003949927</c:v>
                </c:pt>
                <c:pt idx="15">
                  <c:v>-0.41823931596816</c:v>
                </c:pt>
                <c:pt idx="16">
                  <c:v>-0.714671273422628</c:v>
                </c:pt>
                <c:pt idx="17">
                  <c:v>-0.992640247785398</c:v>
                </c:pt>
                <c:pt idx="18">
                  <c:v>-1.19762486568826</c:v>
                </c:pt>
                <c:pt idx="19">
                  <c:v>-1.28150771300378</c:v>
                </c:pt>
                <c:pt idx="20">
                  <c:v>-1.21500439983451</c:v>
                </c:pt>
                <c:pt idx="21">
                  <c:v>-0.995974246404935</c:v>
                </c:pt>
                <c:pt idx="22">
                  <c:v>-0.651354130361811</c:v>
                </c:pt>
                <c:pt idx="23">
                  <c:v>-0.232104623606193</c:v>
                </c:pt>
                <c:pt idx="24">
                  <c:v>0.897624865688262</c:v>
                </c:pt>
                <c:pt idx="25">
                  <c:v>1.27440093181724</c:v>
                </c:pt>
                <c:pt idx="26">
                  <c:v>1.54897899605007</c:v>
                </c:pt>
                <c:pt idx="27">
                  <c:v>1.69597424640493</c:v>
                </c:pt>
                <c:pt idx="28">
                  <c:v>1.71737953414625</c:v>
                </c:pt>
                <c:pt idx="29">
                  <c:v>1.63921140479274</c:v>
                </c:pt>
                <c:pt idx="30">
                  <c:v>1.50237513431174</c:v>
                </c:pt>
                <c:pt idx="31">
                  <c:v>1.35034393957435</c:v>
                </c:pt>
                <c:pt idx="32">
                  <c:v>1.21704640773437</c:v>
                </c:pt>
                <c:pt idx="33">
                  <c:v>1.11823931596816</c:v>
                </c:pt>
                <c:pt idx="34">
                  <c:v>1.04864586963819</c:v>
                </c:pt>
                <c:pt idx="35">
                  <c:v>0.98553346659885</c:v>
                </c:pt>
                <c:pt idx="36">
                  <c:v>0.897624865688263</c:v>
                </c:pt>
                <c:pt idx="37">
                  <c:v>0.756762841612196</c:v>
                </c:pt>
                <c:pt idx="38">
                  <c:v>0.548978996050073</c:v>
                </c:pt>
                <c:pt idx="39">
                  <c:v>0.281760684031841</c:v>
                </c:pt>
                <c:pt idx="40">
                  <c:v>-0.0146712734226293</c:v>
                </c:pt>
                <c:pt idx="41">
                  <c:v>-0.292640247785396</c:v>
                </c:pt>
                <c:pt idx="42">
                  <c:v>-0.497624865688263</c:v>
                </c:pt>
                <c:pt idx="43">
                  <c:v>-0.581507713003785</c:v>
                </c:pt>
                <c:pt idx="44">
                  <c:v>-0.515004399834512</c:v>
                </c:pt>
                <c:pt idx="45">
                  <c:v>-0.295974246404934</c:v>
                </c:pt>
                <c:pt idx="46">
                  <c:v>0.0486458696381879</c:v>
                </c:pt>
                <c:pt idx="47">
                  <c:v>0.467895376393809</c:v>
                </c:pt>
                <c:pt idx="48">
                  <c:v>0.547624865688262</c:v>
                </c:pt>
                <c:pt idx="49">
                  <c:v>0.924400931817236</c:v>
                </c:pt>
                <c:pt idx="50">
                  <c:v>1.19897899605007</c:v>
                </c:pt>
                <c:pt idx="51">
                  <c:v>1.34597424640493</c:v>
                </c:pt>
                <c:pt idx="52">
                  <c:v>1.36737953414625</c:v>
                </c:pt>
                <c:pt idx="53">
                  <c:v>1.28921140479274</c:v>
                </c:pt>
                <c:pt idx="54">
                  <c:v>1.15237513431174</c:v>
                </c:pt>
                <c:pt idx="55">
                  <c:v>1.00034393957435</c:v>
                </c:pt>
                <c:pt idx="56">
                  <c:v>0.867046407734367</c:v>
                </c:pt>
                <c:pt idx="57">
                  <c:v>0.768239315968161</c:v>
                </c:pt>
                <c:pt idx="58">
                  <c:v>0.69864586963819</c:v>
                </c:pt>
                <c:pt idx="59">
                  <c:v>0.63553346659885</c:v>
                </c:pt>
                <c:pt idx="60">
                  <c:v>0.547624865688263</c:v>
                </c:pt>
                <c:pt idx="61">
                  <c:v>0.406762841612196</c:v>
                </c:pt>
                <c:pt idx="62">
                  <c:v>0.198978996050073</c:v>
                </c:pt>
                <c:pt idx="63">
                  <c:v>-0.0682393159681607</c:v>
                </c:pt>
                <c:pt idx="64">
                  <c:v>-0.364671273422627</c:v>
                </c:pt>
                <c:pt idx="65">
                  <c:v>-0.642640247785398</c:v>
                </c:pt>
                <c:pt idx="66">
                  <c:v>-0.847624865688263</c:v>
                </c:pt>
                <c:pt idx="67">
                  <c:v>-0.931507713003785</c:v>
                </c:pt>
                <c:pt idx="68">
                  <c:v>-0.865004399834511</c:v>
                </c:pt>
                <c:pt idx="69">
                  <c:v>-0.645974246404937</c:v>
                </c:pt>
                <c:pt idx="70">
                  <c:v>-0.30135413036181</c:v>
                </c:pt>
                <c:pt idx="71">
                  <c:v>0.117895376393811</c:v>
                </c:pt>
                <c:pt idx="72">
                  <c:v>1.54762486568826</c:v>
                </c:pt>
                <c:pt idx="73">
                  <c:v>1.92440093181723</c:v>
                </c:pt>
                <c:pt idx="74">
                  <c:v>2.19897899605007</c:v>
                </c:pt>
                <c:pt idx="75">
                  <c:v>2.34597424640493</c:v>
                </c:pt>
                <c:pt idx="76">
                  <c:v>2.36737953414625</c:v>
                </c:pt>
                <c:pt idx="77">
                  <c:v>2.28921140479274</c:v>
                </c:pt>
                <c:pt idx="78">
                  <c:v>2.15237513431174</c:v>
                </c:pt>
                <c:pt idx="79">
                  <c:v>2.00034393957435</c:v>
                </c:pt>
                <c:pt idx="80">
                  <c:v>1.86704640773437</c:v>
                </c:pt>
                <c:pt idx="81">
                  <c:v>1.76823931596816</c:v>
                </c:pt>
                <c:pt idx="82">
                  <c:v>1.69864586963819</c:v>
                </c:pt>
                <c:pt idx="83">
                  <c:v>1.63553346659885</c:v>
                </c:pt>
                <c:pt idx="84">
                  <c:v>1.54762486568826</c:v>
                </c:pt>
                <c:pt idx="85">
                  <c:v>1.4067628416122</c:v>
                </c:pt>
                <c:pt idx="86">
                  <c:v>1.19897899605007</c:v>
                </c:pt>
                <c:pt idx="87">
                  <c:v>0.931760684031844</c:v>
                </c:pt>
                <c:pt idx="88">
                  <c:v>0.635328726577373</c:v>
                </c:pt>
                <c:pt idx="89">
                  <c:v>0.357359752214603</c:v>
                </c:pt>
                <c:pt idx="90">
                  <c:v>0.152375134311737</c:v>
                </c:pt>
                <c:pt idx="91">
                  <c:v>0.0684922869962151</c:v>
                </c:pt>
                <c:pt idx="92">
                  <c:v>0.134995600165487</c:v>
                </c:pt>
                <c:pt idx="93">
                  <c:v>0.354025753595063</c:v>
                </c:pt>
                <c:pt idx="94">
                  <c:v>0.69864586963819</c:v>
                </c:pt>
                <c:pt idx="95">
                  <c:v>1.11789537639381</c:v>
                </c:pt>
                <c:pt idx="96">
                  <c:v>2.19762486568826</c:v>
                </c:pt>
                <c:pt idx="97">
                  <c:v>2.57440093181723</c:v>
                </c:pt>
                <c:pt idx="98">
                  <c:v>2.84897899605007</c:v>
                </c:pt>
                <c:pt idx="99">
                  <c:v>2.99597424640493</c:v>
                </c:pt>
                <c:pt idx="100">
                  <c:v>3.01737953414625</c:v>
                </c:pt>
                <c:pt idx="101">
                  <c:v>2.93921140479274</c:v>
                </c:pt>
                <c:pt idx="102">
                  <c:v>2.80237513431174</c:v>
                </c:pt>
                <c:pt idx="103">
                  <c:v>2.65034393957435</c:v>
                </c:pt>
                <c:pt idx="104">
                  <c:v>2.51704640773437</c:v>
                </c:pt>
                <c:pt idx="105">
                  <c:v>2.41823931596816</c:v>
                </c:pt>
                <c:pt idx="106">
                  <c:v>2.34864586963819</c:v>
                </c:pt>
                <c:pt idx="107">
                  <c:v>2.28553346659885</c:v>
                </c:pt>
                <c:pt idx="108">
                  <c:v>2.19762486568826</c:v>
                </c:pt>
                <c:pt idx="109">
                  <c:v>2.0567628416122</c:v>
                </c:pt>
                <c:pt idx="110">
                  <c:v>1.84897899605007</c:v>
                </c:pt>
                <c:pt idx="111">
                  <c:v>1.58176068403184</c:v>
                </c:pt>
                <c:pt idx="112">
                  <c:v>1.28532872657737</c:v>
                </c:pt>
                <c:pt idx="113">
                  <c:v>1.0073597522146</c:v>
                </c:pt>
                <c:pt idx="114">
                  <c:v>0.802375134311739</c:v>
                </c:pt>
                <c:pt idx="115">
                  <c:v>0.718492286996215</c:v>
                </c:pt>
                <c:pt idx="116">
                  <c:v>0.784995600165489</c:v>
                </c:pt>
                <c:pt idx="117">
                  <c:v>1.00402575359506</c:v>
                </c:pt>
                <c:pt idx="118">
                  <c:v>1.34864586963819</c:v>
                </c:pt>
                <c:pt idx="119">
                  <c:v>1.7678953763938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每个周期的水平</c:v>
                </c:pt>
              </c:strCache>
            </c:strRef>
          </c:tx>
          <c:spPr>
            <a:ln w="31750" cap="rnd">
              <a:solidFill>
                <a:srgbClr val="FF0000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Sheet1!$A$2:$A$121</c:f>
              <c:numCache>
                <c:formatCode>General</c:formatCode>
                <c:ptCount val="12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</c:numCache>
            </c:numRef>
          </c:cat>
          <c:val>
            <c:numRef>
              <c:f>Sheet1!$C$2:$C$121</c:f>
              <c:numCache>
                <c:formatCode>General</c:formatCode>
                <c:ptCount val="1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0.7</c:v>
                </c:pt>
                <c:pt idx="25">
                  <c:v>0.7</c:v>
                </c:pt>
                <c:pt idx="26">
                  <c:v>0.7</c:v>
                </c:pt>
                <c:pt idx="27">
                  <c:v>0.7</c:v>
                </c:pt>
                <c:pt idx="28">
                  <c:v>0.7</c:v>
                </c:pt>
                <c:pt idx="29">
                  <c:v>0.7</c:v>
                </c:pt>
                <c:pt idx="30">
                  <c:v>0.7</c:v>
                </c:pt>
                <c:pt idx="31">
                  <c:v>0.7</c:v>
                </c:pt>
                <c:pt idx="32">
                  <c:v>0.7</c:v>
                </c:pt>
                <c:pt idx="33">
                  <c:v>0.7</c:v>
                </c:pt>
                <c:pt idx="34">
                  <c:v>0.7</c:v>
                </c:pt>
                <c:pt idx="35">
                  <c:v>0.7</c:v>
                </c:pt>
                <c:pt idx="36">
                  <c:v>0.7</c:v>
                </c:pt>
                <c:pt idx="37">
                  <c:v>0.7</c:v>
                </c:pt>
                <c:pt idx="38">
                  <c:v>0.7</c:v>
                </c:pt>
                <c:pt idx="39">
                  <c:v>0.7</c:v>
                </c:pt>
                <c:pt idx="40">
                  <c:v>0.7</c:v>
                </c:pt>
                <c:pt idx="41">
                  <c:v>0.7</c:v>
                </c:pt>
                <c:pt idx="42">
                  <c:v>0.7</c:v>
                </c:pt>
                <c:pt idx="43">
                  <c:v>0.7</c:v>
                </c:pt>
                <c:pt idx="44">
                  <c:v>0.7</c:v>
                </c:pt>
                <c:pt idx="45">
                  <c:v>0.7</c:v>
                </c:pt>
                <c:pt idx="46">
                  <c:v>0.7</c:v>
                </c:pt>
                <c:pt idx="47">
                  <c:v>0.7</c:v>
                </c:pt>
                <c:pt idx="48">
                  <c:v>0.35</c:v>
                </c:pt>
                <c:pt idx="49">
                  <c:v>0.35</c:v>
                </c:pt>
                <c:pt idx="50">
                  <c:v>0.35</c:v>
                </c:pt>
                <c:pt idx="51">
                  <c:v>0.35</c:v>
                </c:pt>
                <c:pt idx="52">
                  <c:v>0.35</c:v>
                </c:pt>
                <c:pt idx="53">
                  <c:v>0.35</c:v>
                </c:pt>
                <c:pt idx="54">
                  <c:v>0.35</c:v>
                </c:pt>
                <c:pt idx="55">
                  <c:v>0.35</c:v>
                </c:pt>
                <c:pt idx="56">
                  <c:v>0.35</c:v>
                </c:pt>
                <c:pt idx="57">
                  <c:v>0.35</c:v>
                </c:pt>
                <c:pt idx="58">
                  <c:v>0.35</c:v>
                </c:pt>
                <c:pt idx="59">
                  <c:v>0.35</c:v>
                </c:pt>
                <c:pt idx="60">
                  <c:v>0.35</c:v>
                </c:pt>
                <c:pt idx="61">
                  <c:v>0.35</c:v>
                </c:pt>
                <c:pt idx="62">
                  <c:v>0.35</c:v>
                </c:pt>
                <c:pt idx="63">
                  <c:v>0.35</c:v>
                </c:pt>
                <c:pt idx="64">
                  <c:v>0.35</c:v>
                </c:pt>
                <c:pt idx="65">
                  <c:v>0.35</c:v>
                </c:pt>
                <c:pt idx="66">
                  <c:v>0.35</c:v>
                </c:pt>
                <c:pt idx="67">
                  <c:v>0.35</c:v>
                </c:pt>
                <c:pt idx="68">
                  <c:v>0.35</c:v>
                </c:pt>
                <c:pt idx="69">
                  <c:v>0.35</c:v>
                </c:pt>
                <c:pt idx="70">
                  <c:v>0.35</c:v>
                </c:pt>
                <c:pt idx="71">
                  <c:v>0.35</c:v>
                </c:pt>
                <c:pt idx="72">
                  <c:v>1.35</c:v>
                </c:pt>
                <c:pt idx="73">
                  <c:v>1.35</c:v>
                </c:pt>
                <c:pt idx="74">
                  <c:v>1.35</c:v>
                </c:pt>
                <c:pt idx="75">
                  <c:v>1.35</c:v>
                </c:pt>
                <c:pt idx="76">
                  <c:v>1.35</c:v>
                </c:pt>
                <c:pt idx="77">
                  <c:v>1.35</c:v>
                </c:pt>
                <c:pt idx="78">
                  <c:v>1.35</c:v>
                </c:pt>
                <c:pt idx="79">
                  <c:v>1.35</c:v>
                </c:pt>
                <c:pt idx="80">
                  <c:v>1.35</c:v>
                </c:pt>
                <c:pt idx="81">
                  <c:v>1.35</c:v>
                </c:pt>
                <c:pt idx="82">
                  <c:v>1.35</c:v>
                </c:pt>
                <c:pt idx="83">
                  <c:v>1.35</c:v>
                </c:pt>
                <c:pt idx="84">
                  <c:v>1.35</c:v>
                </c:pt>
                <c:pt idx="85">
                  <c:v>1.35</c:v>
                </c:pt>
                <c:pt idx="86">
                  <c:v>1.35</c:v>
                </c:pt>
                <c:pt idx="87">
                  <c:v>1.35</c:v>
                </c:pt>
                <c:pt idx="88">
                  <c:v>1.35</c:v>
                </c:pt>
                <c:pt idx="89">
                  <c:v>1.35</c:v>
                </c:pt>
                <c:pt idx="90">
                  <c:v>1.35</c:v>
                </c:pt>
                <c:pt idx="91">
                  <c:v>1.35</c:v>
                </c:pt>
                <c:pt idx="92">
                  <c:v>1.35</c:v>
                </c:pt>
                <c:pt idx="93">
                  <c:v>1.35</c:v>
                </c:pt>
                <c:pt idx="94">
                  <c:v>1.35</c:v>
                </c:pt>
                <c:pt idx="95">
                  <c:v>1.35</c:v>
                </c:pt>
                <c:pt idx="96">
                  <c:v>2</c:v>
                </c:pt>
                <c:pt idx="97">
                  <c:v>2</c:v>
                </c:pt>
                <c:pt idx="98">
                  <c:v>2</c:v>
                </c:pt>
                <c:pt idx="99">
                  <c:v>2</c:v>
                </c:pt>
                <c:pt idx="100">
                  <c:v>2</c:v>
                </c:pt>
                <c:pt idx="101">
                  <c:v>2</c:v>
                </c:pt>
                <c:pt idx="102">
                  <c:v>2</c:v>
                </c:pt>
                <c:pt idx="103">
                  <c:v>2</c:v>
                </c:pt>
                <c:pt idx="104">
                  <c:v>2</c:v>
                </c:pt>
                <c:pt idx="105">
                  <c:v>2</c:v>
                </c:pt>
                <c:pt idx="106">
                  <c:v>2</c:v>
                </c:pt>
                <c:pt idx="107">
                  <c:v>2</c:v>
                </c:pt>
                <c:pt idx="108">
                  <c:v>2</c:v>
                </c:pt>
                <c:pt idx="109">
                  <c:v>2</c:v>
                </c:pt>
                <c:pt idx="110">
                  <c:v>2</c:v>
                </c:pt>
                <c:pt idx="111">
                  <c:v>2</c:v>
                </c:pt>
                <c:pt idx="112">
                  <c:v>2</c:v>
                </c:pt>
                <c:pt idx="113">
                  <c:v>2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8025187-ee69-4005-8595-aa9b8eca67c7}"/>
      </c:ext>
    </c:extLst>
  </c:chart>
  <c:txPr>
    <a:bodyPr/>
    <a:lstStyle/>
    <a:p>
      <a:pPr>
        <a:defRPr lang="zh-CN" sz="1200">
          <a:solidFill>
            <a:srgbClr val="1A1A1A"/>
          </a:solidFill>
          <a:latin typeface="Times New Roman" panose="02020503050405090304"/>
          <a:ea typeface="黑体"/>
          <a:cs typeface="黑体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ETTh2</c:v>
                </c:pt>
              </c:strCache>
            </c:strRef>
          </c:tx>
          <c:spPr>
            <a:solidFill>
              <a:srgbClr val="003DA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A1A1A"/>
                    </a:solidFill>
                    <a:latin typeface="Times New Roman" panose="02020503050405090304"/>
                    <a:ea typeface="黑体"/>
                    <a:cs typeface="黑体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预测 96 步</c:v>
                </c:pt>
                <c:pt idx="1">
                  <c:v>192 步</c:v>
                </c:pt>
                <c:pt idx="2">
                  <c:v>336 步</c:v>
                </c:pt>
                <c:pt idx="3">
                  <c:v>720 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6.2</c:v>
                </c:pt>
                <c:pt idx="2">
                  <c:v>11.1</c:v>
                </c:pt>
                <c:pt idx="3">
                  <c:v>48.2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ETTm2</c:v>
                </c:pt>
              </c:strCache>
            </c:strRef>
          </c:tx>
          <c:spPr>
            <a:solidFill>
              <a:srgbClr val="009FE3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A1A1A"/>
                    </a:solidFill>
                    <a:latin typeface="Times New Roman" panose="02020503050405090304"/>
                    <a:ea typeface="黑体"/>
                    <a:cs typeface="黑体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预测 96 步</c:v>
                </c:pt>
                <c:pt idx="1">
                  <c:v>192 步</c:v>
                </c:pt>
                <c:pt idx="2">
                  <c:v>336 步</c:v>
                </c:pt>
                <c:pt idx="3">
                  <c:v>720 步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</c:v>
                </c:pt>
                <c:pt idx="1">
                  <c:v>1</c:v>
                </c:pt>
                <c:pt idx="2">
                  <c:v>4.3</c:v>
                </c:pt>
                <c:pt idx="3">
                  <c:v>14.4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Weather</c:v>
                </c:pt>
              </c:strCache>
            </c:strRef>
          </c:tx>
          <c:spPr>
            <a:solidFill>
              <a:srgbClr val="8CC8EC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A1A1A"/>
                    </a:solidFill>
                    <a:latin typeface="Times New Roman" panose="02020503050405090304"/>
                    <a:ea typeface="黑体"/>
                    <a:cs typeface="黑体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预测 96 步</c:v>
                </c:pt>
                <c:pt idx="1">
                  <c:v>192 步</c:v>
                </c:pt>
                <c:pt idx="2">
                  <c:v>336 步</c:v>
                </c:pt>
                <c:pt idx="3">
                  <c:v>720 步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2.7</c:v>
                </c:pt>
                <c:pt idx="1">
                  <c:v>4.8</c:v>
                </c:pt>
                <c:pt idx="2">
                  <c:v>6.4</c:v>
                </c:pt>
                <c:pt idx="3">
                  <c:v>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A9CBE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5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0759450-2c8d-4299-aead-e01b70ed120c}"/>
      </c:ext>
    </c:extLst>
  </c:chart>
  <c:txPr>
    <a:bodyPr/>
    <a:lstStyle/>
    <a:p>
      <a:pPr>
        <a:defRPr lang="zh-CN" sz="1200">
          <a:solidFill>
            <a:srgbClr val="1A1A1A"/>
          </a:solidFill>
          <a:latin typeface="Times New Roman" panose="02020503050405090304"/>
          <a:ea typeface="黑体"/>
          <a:cs typeface="黑体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MSE 降幅 (%)</c:v>
                </c:pt>
              </c:strCache>
            </c:strRef>
          </c:tx>
          <c:spPr>
            <a:solidFill>
              <a:srgbClr val="003DA6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003DA6"/>
              </a:solidFill>
            </c:spPr>
          </c:dPt>
          <c:dPt>
            <c:idx val="1"/>
            <c:invertIfNegative val="0"/>
            <c:bubble3D val="0"/>
            <c:spPr>
              <a:solidFill>
                <a:srgbClr val="003DA6"/>
              </a:solidFill>
            </c:spPr>
          </c:dPt>
          <c:dPt>
            <c:idx val="2"/>
            <c:invertIfNegative val="0"/>
            <c:bubble3D val="0"/>
            <c:spPr>
              <a:solidFill>
                <a:srgbClr val="003DA6"/>
              </a:solidFill>
            </c:spPr>
          </c:dPt>
          <c:dPt>
            <c:idx val="3"/>
            <c:invertIfNegative val="0"/>
            <c:bubble3D val="0"/>
            <c:spPr>
              <a:solidFill>
                <a:srgbClr val="003DA6"/>
              </a:solidFill>
            </c:spPr>
          </c:dPt>
          <c:dPt>
            <c:idx val="4"/>
            <c:invertIfNegative val="0"/>
            <c:bubble3D val="0"/>
            <c:spPr>
              <a:solidFill>
                <a:srgbClr val="FF0000"/>
              </a:solidFill>
            </c:spPr>
          </c:dPt>
          <c:dPt>
            <c:idx val="5"/>
            <c:invertIfNegative val="0"/>
            <c:bubble3D val="0"/>
            <c:spPr>
              <a:solidFill>
                <a:srgbClr val="009FE3"/>
              </a:solidFill>
            </c:spPr>
          </c:dPt>
          <c:dPt>
            <c:idx val="6"/>
            <c:invertIfNegative val="0"/>
            <c:bubble3D val="0"/>
            <c:spPr>
              <a:solidFill>
                <a:srgbClr val="009FE3"/>
              </a:solidFill>
            </c:spPr>
          </c:dPt>
          <c:dPt>
            <c:idx val="7"/>
            <c:invertIfNegative val="0"/>
            <c:bubble3D val="0"/>
            <c:spPr>
              <a:solidFill>
                <a:srgbClr val="009FE3"/>
              </a:solidFill>
            </c:spPr>
          </c:dPt>
          <c:dPt>
            <c:idx val="8"/>
            <c:invertIfNegative val="0"/>
            <c:bubble3D val="0"/>
            <c:spPr>
              <a:solidFill>
                <a:srgbClr val="5B7FC7"/>
              </a:solidFill>
            </c:spPr>
          </c:dPt>
          <c:dPt>
            <c:idx val="9"/>
            <c:invertIfNegative val="0"/>
            <c:bubble3D val="0"/>
            <c:spPr>
              <a:solidFill>
                <a:srgbClr val="5B7FC7"/>
              </a:solidFill>
            </c:spPr>
          </c:dPt>
          <c:dPt>
            <c:idx val="10"/>
            <c:invertIfNegative val="0"/>
            <c:bubble3D val="0"/>
            <c:spPr>
              <a:solidFill>
                <a:srgbClr val="5B7FC7"/>
              </a:solidFill>
            </c:spPr>
          </c:dPt>
          <c:dPt>
            <c:idx val="11"/>
            <c:invertIfNegative val="0"/>
            <c:bubble3D val="0"/>
            <c:spPr>
              <a:solidFill>
                <a:srgbClr val="5B7FC7"/>
              </a:solidFill>
            </c:spPr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A1A1A"/>
                    </a:solidFill>
                    <a:latin typeface="Times New Roman" panose="02020503050405090304"/>
                    <a:ea typeface="黑体"/>
                    <a:cs typeface="黑体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ETTh2-96</c:v>
                </c:pt>
                <c:pt idx="1">
                  <c:v>ETTh2-192</c:v>
                </c:pt>
                <c:pt idx="2">
                  <c:v>ETTh2-336</c:v>
                </c:pt>
                <c:pt idx="3">
                  <c:v>ETTh2-720</c:v>
                </c:pt>
                <c:pt idx="4">
                  <c:v>ETTm2-96</c:v>
                </c:pt>
                <c:pt idx="5">
                  <c:v>ETTm2-192</c:v>
                </c:pt>
                <c:pt idx="6">
                  <c:v>ETTm2-336</c:v>
                </c:pt>
                <c:pt idx="7">
                  <c:v>ETTm2-720</c:v>
                </c:pt>
                <c:pt idx="8">
                  <c:v>Weather-96</c:v>
                </c:pt>
                <c:pt idx="9">
                  <c:v>Weather-192</c:v>
                </c:pt>
                <c:pt idx="10">
                  <c:v>Weather-336</c:v>
                </c:pt>
                <c:pt idx="11">
                  <c:v>Weather-720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3.06</c:v>
                </c:pt>
                <c:pt idx="1">
                  <c:v>1.37</c:v>
                </c:pt>
                <c:pt idx="2">
                  <c:v>1.5</c:v>
                </c:pt>
                <c:pt idx="3">
                  <c:v>5.68</c:v>
                </c:pt>
                <c:pt idx="4">
                  <c:v>8.73</c:v>
                </c:pt>
                <c:pt idx="5">
                  <c:v>5.88</c:v>
                </c:pt>
                <c:pt idx="6">
                  <c:v>3.12</c:v>
                </c:pt>
                <c:pt idx="7">
                  <c:v>1.26</c:v>
                </c:pt>
                <c:pt idx="8">
                  <c:v>2.42</c:v>
                </c:pt>
                <c:pt idx="9">
                  <c:v>1.55</c:v>
                </c:pt>
                <c:pt idx="10">
                  <c:v>1.83</c:v>
                </c:pt>
                <c:pt idx="11">
                  <c:v>0.52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A9CBE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3f09e7c6-f261-42df-a599-ffd938c51d30}"/>
      </c:ext>
    </c:extLst>
  </c:chart>
  <c:txPr>
    <a:bodyPr/>
    <a:lstStyle/>
    <a:p>
      <a:pPr>
        <a:defRPr lang="zh-CN" sz="1200">
          <a:solidFill>
            <a:srgbClr val="1A1A1A"/>
          </a:solidFill>
          <a:latin typeface="Times New Roman" panose="02020503050405090304"/>
          <a:ea typeface="黑体"/>
          <a:cs typeface="黑体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天花板之内的样本</c:v>
                </c:pt>
              </c:strCache>
            </c:strRef>
          </c:tx>
          <c:spPr>
            <a:solidFill>
              <a:srgbClr val="8CC8EC"/>
            </a:solidFill>
          </c:spPr>
          <c:invertIfNegative val="0"/>
          <c:dLbls>
            <c:numFmt formatCode="0.0;\-0.0;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A1A1A"/>
                    </a:solidFill>
                    <a:latin typeface="Times New Roman" panose="02020503050405090304"/>
                    <a:ea typeface="黑体"/>
                    <a:cs typeface="黑体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预测 96 步</c:v>
                </c:pt>
                <c:pt idx="1">
                  <c:v>192 步</c:v>
                </c:pt>
                <c:pt idx="2">
                  <c:v>336 步</c:v>
                </c:pt>
                <c:pt idx="3">
                  <c:v>720 步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0.59</c:v>
                </c:pt>
                <c:pt idx="1">
                  <c:v>-0.05</c:v>
                </c:pt>
                <c:pt idx="2">
                  <c:v>-0.38</c:v>
                </c:pt>
                <c:pt idx="3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天花板之外的样本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numFmt formatCode="0.0;\-0.0;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A1A1A"/>
                    </a:solidFill>
                    <a:latin typeface="Times New Roman" panose="02020503050405090304"/>
                    <a:ea typeface="黑体"/>
                    <a:cs typeface="黑体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预测 96 步</c:v>
                </c:pt>
                <c:pt idx="1">
                  <c:v>192 步</c:v>
                </c:pt>
                <c:pt idx="2">
                  <c:v>336 步</c:v>
                </c:pt>
                <c:pt idx="3">
                  <c:v>720 步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23.18</c:v>
                </c:pt>
                <c:pt idx="1">
                  <c:v>14.03</c:v>
                </c:pt>
                <c:pt idx="2">
                  <c:v>9.37</c:v>
                </c:pt>
                <c:pt idx="3">
                  <c:v>6.58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 w="12700">
            <a:solidFill>
              <a:srgbClr val="A9CBE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7"/>
          <c:min val="-1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</a:p>
        </c:txPr>
        <c:crossAx val="-2068027336"/>
        <c:crosses val="autoZero"/>
        <c:crossBetween val="between"/>
      </c:valAx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f7d6cc4-212e-4522-88da-aeeb58b008c5}"/>
      </c:ext>
    </c:extLst>
  </c:chart>
  <c:txPr>
    <a:bodyPr/>
    <a:lstStyle/>
    <a:p>
      <a:pPr>
        <a:defRPr lang="zh-CN" sz="1200">
          <a:solidFill>
            <a:srgbClr val="1A1A1A"/>
          </a:solidFill>
          <a:latin typeface="Times New Roman" panose="02020503050405090304"/>
          <a:ea typeface="黑体"/>
          <a:cs typeface="黑体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贡献 (%)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0000FF"/>
              </a:solidFill>
            </c:spPr>
          </c:dPt>
          <c:dPt>
            <c:idx val="1"/>
            <c:invertIfNegative val="0"/>
            <c:bubble3D val="0"/>
            <c:spPr>
              <a:solidFill>
                <a:srgbClr val="009FE3"/>
              </a:solidFill>
            </c:spPr>
          </c:dPt>
          <c:dPt>
            <c:idx val="2"/>
            <c:invertIfNegative val="0"/>
            <c:bubble3D val="0"/>
            <c:spPr>
              <a:solidFill>
                <a:srgbClr val="8CC8EC"/>
              </a:solidFill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A1A1A"/>
                    </a:solidFill>
                    <a:latin typeface="Times New Roman" panose="02020503050405090304"/>
                    <a:ea typeface="黑体"/>
                    <a:cs typeface="黑体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读水平→写平移</c:v>
                </c:pt>
                <c:pt idx="1">
                  <c:v>周期形状修正</c:v>
                </c:pt>
                <c:pt idx="2">
                  <c:v>高阶细节修正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75.9</c:v>
                </c:pt>
                <c:pt idx="1">
                  <c:v>15</c:v>
                </c:pt>
                <c:pt idx="2">
                  <c:v>4.3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A9CBEA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00" b="0" i="0" u="none" strike="noStrike" kern="1200" baseline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2e8709a9-c824-4d8b-8aa6-978732b758a5}"/>
      </c:ext>
    </c:extLst>
  </c:chart>
  <c:txPr>
    <a:bodyPr/>
    <a:lstStyle/>
    <a:p>
      <a:pPr>
        <a:defRPr lang="zh-CN" sz="1200">
          <a:solidFill>
            <a:srgbClr val="1A1A1A"/>
          </a:solidFill>
          <a:latin typeface="Times New Roman" panose="02020503050405090304"/>
          <a:ea typeface="黑体"/>
          <a:cs typeface="黑体"/>
        </a:defRPr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各位领导好，今天汇报的是 PhaseFormer-L，它是我们在 ICLR 2026 论文 PhaseFormer 基础上做的期刊扩展。</a:t>
            </a:r>
          </a:p>
          <a:p>
            <a:r>
              <a:t>核心想法一句话：在相位建模之外，再补一个很小、可解释的修正。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汇报分五个部分：先讲研究问题，再讲理论依据，然后是方法设计，接着是实验证据，最后总结价值。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先说结论。PhaseFormer 擅长刻画周期内的形状，但跨周期的“水平漂移”还有一部分没有被利用。</a:t>
            </a:r>
          </a:p>
          <a:p>
            <a:r>
              <a:t>我们用三条定理讲清楚原模型能做多少、做不到什么，再据此加一条门控线性修正分支。</a:t>
            </a:r>
          </a:p>
          <a:p>
            <a:r>
              <a:t>结果是：三个数据集、12 个设定误差全部下降，最高降低 8.73%；而修正分支压缩后，只需要 3.5% 到 6.1% 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t>这一页用三条定理回答三个问题。</a:t>
            </a:r>
          </a:p>
          <a:p>
            <a:r>
              <a:t>定理一，原模型能做什么：整体的水平变化可以无损地传进模型，所以它结构上具备“近期加权水平”的能力。但要做好，就必须牺牲形状建模能力，实测训练好的模型只实现了一部分。</a:t>
            </a:r>
          </a:p>
          <a:p>
            <a:r>
              <a:t>定理二，做不到什么：最后一层归一化给水平预测设了一个“天花板”，预测水平离历史均值最多只能有固定几个标准差。需要越过天花板的样本，这部分误差原模型消除不了。</a:t>
            </a:r>
          </a:p>
          <a:p>
            <a:r>
              <a:t>定理三，怎么补：天花板之外的缺口集中在少数固定形状上，所以修正器不需要很大，主要方向就是“近期水平，整体平移”。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我的汇报就到这里，谢谢各位，欢迎讨论。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我们的研究分五步，环环相扣。</a:t>
            </a:r>
          </a:p>
          <a:p>
            <a:r>
              <a:t>第一步，用理论推出缺口在哪；第二步，量化缺口有多大；第三步，识别模型补的到底是什么；第四步，把它删掉，验证是不是真有用；第五步，按低维结构压缩，落地部署。</a:t>
            </a:r>
          </a:p>
          <a:p>
            <a:r>
              <a:t>最终效果是：12 个设定全部下降，最高降低 8.73%。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PhaseFormer 把不同周期中同一相位的观测放在一起建模，擅长刻画周期内的形状，也就是图中的蓝线。</a:t>
            </a:r>
          </a:p>
          <a:p>
            <a:r>
              <a:t>但序列整体的水平会跨周期漂移，也就是红线。</a:t>
            </a:r>
          </a:p>
          <a:p>
            <a:r>
              <a:t>我们关心的问题是：相位路径预测之后，剩下的误差里还有没有可预测的部分？它的结构是什么？能不能低成本补上？</a:t>
            </a:r>
          </a:p>
          <a:p>
            <a:r>
              <a:t>后面的理论和实测都会显示，原模型自己能解释 19% 到 66% 的水平变化，我们要补的是它够不到的那一部分。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这一页是实测：我们直接从 84 对训练好的模型权重里读出天花板，再逐个样本检验理论。</a:t>
            </a:r>
          </a:p>
          <a:p>
            <a:r>
              <a:t>三个数字：第一，168 次评估里，模型预测一次都没有越过理论天花板，说明定理在真实模型上严格成立；第二，原模型确实能建模一部分水平，19% 到 66%；第三，天花板会带来实打实的损失，在 ETTh2 预测 720 步时，22% 的误差是结构上无法消除的。</a:t>
            </a:r>
          </a:p>
          <a:p>
            <a:r>
              <a:t>右图很关键：预测越长，需要越过天花板的样本越多，ETTh2 在 720 步时接近一半。所以预测越长，越需要这个修正分支。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方法上的改动很小：在原模型旁边并联一条线性分支，由门控自动决定用多少。</a:t>
            </a:r>
          </a:p>
          <a:p>
            <a:r>
              <a:t>有三个设计：一是锚定，以最后一个观测为基准，只学习“相对变化”；二是门控，不需要时对结果影响很小；三是联合训练，分支只补主干没做到的部分，两者互补。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这是最终效果。在 ETTh2、ETTm2、Weather 三个数据集的全部 12 个设定上，MSE 和 MAE 两项指标同时下降。</a:t>
            </a:r>
          </a:p>
          <a:p>
            <a:r>
              <a:t>最大降幅是 8.73%，出现在 ETTm2 预测 96 步。每个结果都是三次独立训练的平均，结果稳定。</a:t>
            </a:r>
          </a:p>
          <a:p>
            <a:r>
              <a:t>对比对象是同配置、同随机种子下的原始 PhaseFormer。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接下来回答：这些增益从哪里来？</a:t>
            </a:r>
          </a:p>
          <a:p>
            <a:r>
              <a:t>第一，在 ETTh2 上，天花板之外的样本，单个收益是其他样本的 4 倍以上，24 次评估全部一致。也就是说，分支补的正是理论指出的位置。</a:t>
            </a:r>
          </a:p>
          <a:p>
            <a:r>
              <a:t>第二，联合训练后，分支承担了融合预测里 55% 到 99% 的水平，主干自己的天花板收窄了 1.3 到 4.8 倍，把能力腾出来刻画形状。</a:t>
            </a:r>
          </a:p>
          <a:p>
            <a:r>
              <a:t>一句话：理论说原模型在哪里受限，实测分支恰好补在那里，并与主干形成分工。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这一页量化“可预测的收益有多少、集中在几个方向”。</a:t>
            </a:r>
          </a:p>
          <a:p>
            <a:r>
              <a:t>结果是高度集中：第一个方向就独占 64% 到 86% 的可达收益；拿到 90% 收益，只需要 2 到 7 个方向；这个主方向与“整体平移”的相似度在 0.89 到 0.99 之间。</a:t>
            </a:r>
          </a:p>
          <a:p>
            <a:r>
              <a:t>说明缺口确实是低维的，主要作用就是整体平移，与理论一致。而且扣除相位主干后重新测量，结论依然成立。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这一页拆开训练好的修正分支，看它“读什么、写什么”。</a:t>
            </a:r>
          </a:p>
          <a:p>
            <a:r>
              <a:t>读的方面：18 组模型读取的全部是“近期加权水平”。</a:t>
            </a:r>
          </a:p>
          <a:p>
            <a:r>
              <a:t>写的方面因数据而异：ETT 数据有 12 组，把它写成整段预测的整体平移；Weather 有 6 组，写成平滑的倾斜或弯曲。</a:t>
            </a:r>
          </a:p>
          <a:p>
            <a:r>
              <a:t>也就是说，读的是同一个量，只是写法随数据特点不同，这正是理论预言的。另外，3 到 5 个机制就解释了 95% 以上的收益。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这一页是干预验证：固定模型其余部分，只删除理论指出的“近期水平”方向，并用随机方向做对照。</a:t>
            </a:r>
          </a:p>
          <a:p>
            <a:r>
              <a:t>有个有意思的反转：只看分支自己，52 个模型反而变好，似乎这个方向没用；但放回整体预测里，72 个模型全部变差，误差中位数上升 30.43%。</a:t>
            </a:r>
          </a:p>
          <a:p>
            <a:r>
              <a:t>而且删除理论方向的影响，明显超出随机方向的对照范围。</a:t>
            </a:r>
          </a:p>
          <a:p>
            <a:r>
              <a:t>说明这个方向单看“多余”，放进整体却“必不可少”，它是与相位主干配合的互补部件，不是巧合。理论预言、模型学到、删掉变差，三者形成闭环。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既然有用的方向只有少数几个，修正分支就可以大幅瘦身。</a:t>
            </a:r>
          </a:p>
          <a:p>
            <a:r>
              <a:t>修正分支压缩到原来的 3.5% 到 6.1%，仍保留 92% 到 102% 的收益；整个模型可以压缩到 16.4% 到 33.0%，误差只相差 0.72%。</a:t>
            </a:r>
          </a:p>
          <a:p>
            <a:r>
              <a:t>理论解释了为什么能压，实测告诉我们压到多少合适，精度和成本可以按需取舍。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最后总结四点，形成闭环。</a:t>
            </a:r>
          </a:p>
          <a:p>
            <a:r>
              <a:t>一，理论清晰：三条定理，原模型能建模部分水平但有天花板，缺口低秩；实测确认天花板存在，分支正好补在天花板之外。</a:t>
            </a:r>
          </a:p>
          <a:p>
            <a:r>
              <a:t>二，机制可解释：训练出的模型确实学到这一机制，且经过删除实验验证。</a:t>
            </a:r>
          </a:p>
          <a:p>
            <a:r>
              <a:t>三，效果稳定：12 个设定全部下降，最高 8.73%。</a:t>
            </a:r>
          </a:p>
          <a:p>
            <a:r>
              <a:t>四，部署高效：修正分支只需 3.5% 到 6.1% 的参数，收益基本保留。</a:t>
            </a:r>
          </a:p>
          <a:p>
            <a:r>
              <a:t>价值在于：在 PhaseFormer 基础上，形成了一条从理论到落地的完整主线，可以支撑期刊扩展版本。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 panose="02020503050405090304"/>
          <a:ea typeface="黑体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 panose="02020503050405090304"/>
          <a:ea typeface="黑体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 panose="02020503050405090304"/>
          <a:ea typeface="黑体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 panose="02020503050405090304"/>
          <a:ea typeface="黑体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Times New Roman" panose="02020503050405090304"/>
          <a:ea typeface="黑体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封面标题"/>
          <p:cNvSpPr>
            <a:spLocks noGrp="1"/>
          </p:cNvSpPr>
          <p:nvPr/>
        </p:nvSpPr>
        <p:spPr>
          <a:xfrm>
            <a:off x="1143000" y="566928"/>
            <a:ext cx="9906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435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435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PhaseFormer-L</a:t>
            </a:r>
            <a:endParaRPr sz="435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2884" b="2884"/>
          <a:stretch>
            <a:fillRect/>
          </a:stretch>
        </p:blipFill>
        <p:spPr>
          <a:xfrm>
            <a:off x="0" y="2095500"/>
            <a:ext cx="12192000" cy="2038350"/>
          </a:xfrm>
          <a:prstGeom prst="rect">
            <a:avLst/>
          </a:prstGeom>
        </p:spPr>
      </p:pic>
      <p:sp>
        <p:nvSpPr>
          <p:cNvPr id="3" name="汇报人"/>
          <p:cNvSpPr>
            <a:spLocks noGrp="1"/>
          </p:cNvSpPr>
          <p:nvPr/>
        </p:nvSpPr>
        <p:spPr>
          <a:xfrm>
            <a:off x="2381250" y="5334000"/>
            <a:ext cx="7429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175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75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汇报人：</a:t>
            </a:r>
            <a:r>
              <a:rPr lang="zh-CN" sz="2175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牛易明</a:t>
            </a:r>
            <a:endParaRPr lang="zh-CN" sz="2175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4" name="汇报日期"/>
          <p:cNvSpPr>
            <a:spLocks noGrp="1"/>
          </p:cNvSpPr>
          <p:nvPr/>
        </p:nvSpPr>
        <p:spPr>
          <a:xfrm>
            <a:off x="2381250" y="5981700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7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7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2026 / 09 / 30</a:t>
            </a:r>
            <a:endParaRPr sz="27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1389888"/>
            <a:ext cx="9902952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003DA6"/>
                </a:solidFill>
                <a:latin typeface="Times New Roman" panose="02020503050405090304" charset="0"/>
                <a:ea typeface="黑体"/>
                <a:cs typeface="黑体"/>
              </a:rPr>
              <a:t>相位建模之外的低维互补修正</a:t>
            </a:r>
            <a:endParaRPr sz="2800" b="1" i="0">
              <a:solidFill>
                <a:srgbClr val="003DA6"/>
              </a:solidFill>
              <a:latin typeface="Times New Roman" panose="02020503050405090304" charset="0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汇报内容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2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5" name="论文题目"/>
          <p:cNvSpPr>
            <a:spLocks noGrp="1"/>
          </p:cNvSpPr>
          <p:nvPr/>
        </p:nvSpPr>
        <p:spPr>
          <a:xfrm>
            <a:off x="1619250" y="1600200"/>
            <a:ext cx="8953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3675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00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PhaseFormer-L：相位分词之外的条件水平自适应</a:t>
            </a:r>
            <a:endParaRPr sz="300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6" name="文献信息"/>
          <p:cNvSpPr>
            <a:spLocks noGrp="1"/>
          </p:cNvSpPr>
          <p:nvPr/>
        </p:nvSpPr>
        <p:spPr>
          <a:xfrm>
            <a:off x="1619250" y="2514600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1875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1875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PhaseFormer（ICLR 2026）期刊扩展</a:t>
            </a:r>
            <a:endParaRPr sz="1875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946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36382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01</a:t>
            </a:r>
            <a:endParaRPr sz="18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9467" y="457200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研究问题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6402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355838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02</a:t>
            </a:r>
            <a:endParaRPr sz="18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64027" y="457200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理论依据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5858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75294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03</a:t>
            </a:r>
            <a:endParaRPr sz="18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8587" y="457200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方法设计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5314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94750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04</a:t>
            </a:r>
            <a:endParaRPr sz="18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53147" y="457200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实验证据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547707" y="352044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142067" y="3749039"/>
            <a:ext cx="685800" cy="68580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05</a:t>
            </a:r>
            <a:endParaRPr sz="18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47707" y="457200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价值总结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一页看懂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3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5" name="核心思想"/>
          <p:cNvSpPr>
            <a:spLocks noGrp="1"/>
          </p:cNvSpPr>
          <p:nvPr/>
        </p:nvSpPr>
        <p:spPr>
          <a:xfrm>
            <a:off x="590550" y="1304925"/>
            <a:ext cx="109061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325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相位主干之外仍有一块可预测误差：结构简单、可解释，补上即稳定增益</a:t>
            </a:r>
            <a:endParaRPr sz="2325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6" name="问题标记"/>
          <p:cNvSpPr>
            <a:spLocks noGrp="1"/>
          </p:cNvSpPr>
          <p:nvPr/>
        </p:nvSpPr>
        <p:spPr>
          <a:xfrm>
            <a:off x="561975" y="2324100"/>
            <a:ext cx="38100" cy="714375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7" name="问题标题"/>
          <p:cNvSpPr>
            <a:spLocks noGrp="1"/>
          </p:cNvSpPr>
          <p:nvPr/>
        </p:nvSpPr>
        <p:spPr>
          <a:xfrm>
            <a:off x="781050" y="230505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025" b="1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问题</a:t>
            </a:r>
            <a:endParaRPr sz="2025" b="1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8" name="问题内容"/>
          <p:cNvSpPr>
            <a:spLocks noGrp="1"/>
          </p:cNvSpPr>
          <p:nvPr/>
        </p:nvSpPr>
        <p:spPr>
          <a:xfrm>
            <a:off x="781050" y="26955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18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PhaseFormer 擅长刻画周期内的形状，但跨周期的“水平漂移”仍有一部分没被利用</a:t>
            </a:r>
            <a:endParaRPr sz="18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9" name="方法标记"/>
          <p:cNvSpPr>
            <a:spLocks noGrp="1"/>
          </p:cNvSpPr>
          <p:nvPr/>
        </p:nvSpPr>
        <p:spPr>
          <a:xfrm>
            <a:off x="561975" y="3448050"/>
            <a:ext cx="38100" cy="714375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10" name="方法标题"/>
          <p:cNvSpPr>
            <a:spLocks noGrp="1"/>
          </p:cNvSpPr>
          <p:nvPr/>
        </p:nvSpPr>
        <p:spPr>
          <a:xfrm>
            <a:off x="781050" y="342900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025" b="1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方法</a:t>
            </a:r>
            <a:endParaRPr sz="2025" b="1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1" name="方法内容"/>
          <p:cNvSpPr>
            <a:spLocks noGrp="1"/>
          </p:cNvSpPr>
          <p:nvPr/>
        </p:nvSpPr>
        <p:spPr>
          <a:xfrm>
            <a:off x="781050" y="38195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18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三条定理：原模型能建模部分水平但有天花板，缺口是低秩的；据此增加门控线性修正分支</a:t>
            </a:r>
            <a:endParaRPr sz="18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2" name="结果标记"/>
          <p:cNvSpPr>
            <a:spLocks noGrp="1"/>
          </p:cNvSpPr>
          <p:nvPr/>
        </p:nvSpPr>
        <p:spPr>
          <a:xfrm>
            <a:off x="561975" y="4572000"/>
            <a:ext cx="38100" cy="714375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13" name="结果标题"/>
          <p:cNvSpPr>
            <a:spLocks noGrp="1"/>
          </p:cNvSpPr>
          <p:nvPr/>
        </p:nvSpPr>
        <p:spPr>
          <a:xfrm>
            <a:off x="781050" y="455295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 b="1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025" b="1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结果</a:t>
            </a:r>
            <a:endParaRPr sz="2025" b="1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4" name="结果内容"/>
          <p:cNvSpPr>
            <a:spLocks noGrp="1"/>
          </p:cNvSpPr>
          <p:nvPr/>
        </p:nvSpPr>
        <p:spPr>
          <a:xfrm>
            <a:off x="781050" y="494347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18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三个数据集 12 个设定误差全部下降（最高 </a:t>
            </a:r>
            <a:r>
              <a:rPr sz="1800" b="1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8.73%</a:t>
            </a:r>
            <a:r>
              <a:rPr sz="18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）；修正分支仅需 </a:t>
            </a:r>
            <a:r>
              <a:rPr sz="1800" b="1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3.5%–6.1%</a:t>
            </a:r>
            <a:r>
              <a:rPr sz="18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 的参数</a:t>
            </a:r>
            <a:endParaRPr sz="18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5" name="论文引用"/>
          <p:cNvSpPr>
            <a:spLocks noGrp="1"/>
          </p:cNvSpPr>
          <p:nvPr/>
        </p:nvSpPr>
        <p:spPr>
          <a:xfrm>
            <a:off x="581025" y="6353175"/>
            <a:ext cx="108108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1275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参考：Niu et al. PhaseFormer. ICLR 2026. arXiv:2510.04134；本工作：PhaseFormer-L 期刊扩展稿（Minipaper 0930）</a:t>
            </a:r>
            <a:endParaRPr sz="1275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研究路线：五步证据链，环环相扣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4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每一步回答一个问题，前一步的结论是后一步的出发点</a:t>
            </a:r>
            <a:endParaRPr sz="20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20927" y="1920240"/>
            <a:ext cx="822960" cy="82296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1</a:t>
            </a:r>
            <a:endParaRPr sz="22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6567" y="28803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理论推导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6567" y="32918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缺口在哪？</a:t>
            </a:r>
            <a:endParaRPr sz="14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2656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18007" y="3703320"/>
            <a:ext cx="18288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原模型有水平天花板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天花板外缺口是低秩的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1917039" y="2331720"/>
            <a:ext cx="1362456" cy="0"/>
          </a:xfrm>
          <a:prstGeom prst="line">
            <a:avLst/>
          </a:prstGeom>
          <a:ln w="22225">
            <a:solidFill>
              <a:srgbClr val="009F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352647" y="1920240"/>
            <a:ext cx="822960" cy="82296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2</a:t>
            </a:r>
            <a:endParaRPr sz="22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58287" y="28803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量化测量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58287" y="32918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缺口有多大？</a:t>
            </a:r>
            <a:endParaRPr sz="14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75828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849727" y="3703320"/>
            <a:ext cx="18288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少数方向拿到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绝大部分收益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4248759" y="2331720"/>
            <a:ext cx="1362456" cy="0"/>
          </a:xfrm>
          <a:prstGeom prst="line">
            <a:avLst/>
          </a:prstGeom>
          <a:ln w="22225">
            <a:solidFill>
              <a:srgbClr val="009F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84367" y="1920240"/>
            <a:ext cx="822960" cy="82296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3</a:t>
            </a:r>
            <a:endParaRPr sz="22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90007" y="28803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机制识别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90007" y="32918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补的是什么？</a:t>
            </a:r>
            <a:endParaRPr sz="14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09000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81447" y="3703320"/>
            <a:ext cx="18288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模型学到理论预言的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“读水平→写平移”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6580479" y="2331720"/>
            <a:ext cx="1362456" cy="0"/>
          </a:xfrm>
          <a:prstGeom prst="line">
            <a:avLst/>
          </a:prstGeom>
          <a:ln w="22225">
            <a:solidFill>
              <a:srgbClr val="009F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016087" y="1920240"/>
            <a:ext cx="822960" cy="82296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4</a:t>
            </a:r>
            <a:endParaRPr sz="22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421727" y="28803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干预验证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421727" y="32918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真的有用吗？</a:t>
            </a:r>
            <a:endParaRPr sz="14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42172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513167" y="3703320"/>
            <a:ext cx="18288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删掉它，整体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预测一致变差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8912199" y="2331720"/>
            <a:ext cx="1362456" cy="0"/>
          </a:xfrm>
          <a:prstGeom prst="line">
            <a:avLst/>
          </a:prstGeom>
          <a:ln w="22225">
            <a:solidFill>
              <a:srgbClr val="009FE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347807" y="1920240"/>
            <a:ext cx="822960" cy="82296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5</a:t>
            </a:r>
            <a:endParaRPr sz="22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753447" y="28803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工程落地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753447" y="32918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能否更省？</a:t>
            </a:r>
            <a:endParaRPr sz="14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753447" y="3703320"/>
            <a:ext cx="201168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844887" y="3703320"/>
            <a:ext cx="182880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按低维结构压缩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参数减少 94% 以上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94360" y="5166360"/>
            <a:ext cx="11018520" cy="7315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2960" y="516636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效果锚点：</a:t>
            </a: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PhaseFormer-L 在三个数据集全部 12 个设定上误差双指标下降，最高降低 </a:t>
            </a:r>
            <a:r>
              <a:rPr sz="16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8.73%</a:t>
            </a:r>
            <a:endParaRPr sz="16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研究问题：相位建模之后还剩什么？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5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PhaseFormer 抓住了“周期内的形状”，我们关注“跨周期的水平漂移”还有没有可挖的价值</a:t>
            </a:r>
            <a:endParaRPr sz="20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02920" y="1828800"/>
          <a:ext cx="6035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94360" y="562356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9FE3"/>
                </a:solidFill>
                <a:latin typeface="Times New Roman" panose="02020503050405090304"/>
                <a:ea typeface="黑体"/>
                <a:cs typeface="黑体"/>
              </a:rPr>
              <a:t>蓝线：</a:t>
            </a: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周期内形状（相位路径强项）   </a:t>
            </a:r>
            <a:r>
              <a:rPr sz="14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红线：</a:t>
            </a: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跨周期水平漂移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903720" y="1828800"/>
            <a:ext cx="470916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32320" y="194767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PhaseFormer 的做法</a:t>
            </a:r>
            <a:endParaRPr sz="1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0" y="2286000"/>
            <a:ext cx="4343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把不同周期中同一相位的观测放在一起建模，参数少、预测长，擅长刻画周期内形状。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03720" y="3063240"/>
            <a:ext cx="470916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32320" y="318211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已有能力</a:t>
            </a:r>
            <a:endParaRPr sz="1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32320" y="3520440"/>
            <a:ext cx="4343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理论与实测均确认：原模型能解释 19%–66% 的水平变化；本工作补的是它够不到的部分。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903720" y="4297680"/>
            <a:ext cx="4709160" cy="105156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32320" y="441655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关键问题</a:t>
            </a:r>
            <a:endParaRPr sz="1600" b="1" i="0">
              <a:solidFill>
                <a:srgbClr val="0000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32320" y="4754880"/>
            <a:ext cx="43434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相位路径预测之后，剩下的误差里还有没有可预测的部分？结构是什么？能否低成本补上？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03720" y="55778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目标：</a:t>
            </a: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找到并补上这块“剩余价值”</a:t>
            </a:r>
            <a:endParaRPr sz="16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理论：能建模、有天花板、缺口低秩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6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三条定理回答三个问题：原模型能做什么、做不到什么、做不到的部分怎么补</a:t>
            </a:r>
            <a:endParaRPr sz="20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20116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定理 1　能建模部分水平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60" y="2514600"/>
            <a:ext cx="3063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251460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 i="1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F</a:t>
            </a:r>
            <a:r>
              <a:rPr sz="2000" b="0" i="1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(x + c</a:t>
            </a:r>
            <a:r>
              <a:rPr sz="2000" b="1" i="1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1</a:t>
            </a:r>
            <a:r>
              <a:rPr sz="2000" b="0" i="1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)  =  F</a:t>
            </a:r>
            <a:r>
              <a:rPr sz="2000" b="0" i="1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(x) + c</a:t>
            </a:r>
            <a:r>
              <a:rPr sz="2000" b="1" i="1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1</a:t>
            </a:r>
            <a:endParaRPr sz="2000" b="1" i="1">
              <a:solidFill>
                <a:srgbClr val="0000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3337560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整体的水平平移能无损地穿过注意力，传到每个相位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原模型</a:t>
            </a:r>
            <a:r>
              <a:rPr lang="zh-CN" altLang="en-US"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结构上具备"近期加权水平"的能力，但要做好</a:t>
            </a:r>
            <a:r>
              <a:rPr lang="en-US" altLang="zh-CN"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，</a:t>
            </a:r>
            <a:r>
              <a:rPr lang="zh-CN" altLang="en-US"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必须牺牲形状建模</a:t>
            </a:r>
            <a:r>
              <a:rPr lang="zh-CN" altLang="en-US"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能力</a:t>
            </a:r>
            <a:endParaRPr lang="zh-CN" altLang="en-US"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lang="zh-CN" altLang="en-US"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实测训练好</a:t>
            </a:r>
            <a:r>
              <a:rPr lang="zh-CN" altLang="en-US"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的模型只实现了一部分</a:t>
            </a:r>
            <a:endParaRPr lang="zh-CN" altLang="en-US"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43400" y="182880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0" y="20116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定理 2　有结构性天花板</a:t>
            </a:r>
            <a:endParaRPr sz="1800" b="1" i="0">
              <a:solidFill>
                <a:srgbClr val="0000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72000" y="2514600"/>
            <a:ext cx="3063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72000" y="251460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 i="1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|m̂ − μ|  &lt;  C</a:t>
            </a:r>
            <a:r>
              <a:rPr sz="2000" b="0" i="1" baseline="-2500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φ</a:t>
            </a:r>
            <a:r>
              <a:rPr sz="2000" b="0" i="1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 · σ</a:t>
            </a:r>
            <a:endParaRPr sz="2000" b="0" i="1">
              <a:solidFill>
                <a:srgbClr val="0000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72000" y="3337560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最后一层归一化限制了预测水平：离历史均值最多 Cφ 个标准差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需要越过天花板的样本，这部分误差原模型无法消除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92440" y="1828800"/>
            <a:ext cx="3520440" cy="31089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21040" y="20116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定理 3　缺口是低秩的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321040" y="2514600"/>
            <a:ext cx="30632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21040" y="251460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0" i="1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rank(W</a:t>
            </a:r>
            <a:r>
              <a:rPr sz="2000" b="0" i="1" baseline="3000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*</a:t>
            </a:r>
            <a:r>
              <a:rPr sz="2000" b="0" i="1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)  ≤  m</a:t>
            </a:r>
            <a:endParaRPr sz="2000" b="0" i="1">
              <a:solidFill>
                <a:srgbClr val="0000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21040" y="3337560"/>
            <a:ext cx="306324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天花板外的缺口集中在少数固定形状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最优线性修正的秩不超过形状数，读取的正是“近期水平”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94360" y="5166360"/>
            <a:ext cx="11018520" cy="7315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60" y="516636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推论：</a:t>
            </a: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修正器不需要很大，只需补天花板之外的部分，主导方向是 </a:t>
            </a:r>
            <a:r>
              <a:rPr sz="16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“近期水平 → 整体平移”</a:t>
            </a:r>
            <a:endParaRPr sz="1600" b="1" i="0">
              <a:solidFill>
                <a:srgbClr val="FF0000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实测：天花板真实存在，预测越长越紧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7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直接从训练好的模型权重中读出天花板，再逐个样本检验理论</a:t>
            </a:r>
            <a:endParaRPr sz="20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484632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178308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168 / 168</a:t>
            </a:r>
            <a:endParaRPr sz="2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06040" y="192024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定理在真实模型上严格成立</a:t>
            </a:r>
            <a:endParaRPr sz="15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06040" y="22860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次评估中，模型预测从未越过理论天花板</a:t>
            </a:r>
            <a:endParaRPr sz="12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3017520"/>
            <a:ext cx="484632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3017520"/>
            <a:ext cx="178308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19%–66%</a:t>
            </a:r>
            <a:endParaRPr sz="2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06040" y="310896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原模型确实能建模部分水平</a:t>
            </a:r>
            <a:endParaRPr sz="15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06040" y="347472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的水平变化由原模型自己解释</a:t>
            </a:r>
            <a:endParaRPr sz="12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94360" y="4206240"/>
            <a:ext cx="4846320" cy="105156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4206240"/>
            <a:ext cx="1783080" cy="10515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22%</a:t>
            </a:r>
            <a:endParaRPr sz="2600" b="1" i="0">
              <a:solidFill>
                <a:srgbClr val="FF0000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06040" y="4297679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天花板带来实打实的损失</a:t>
            </a:r>
            <a:endParaRPr sz="15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06040" y="466344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ETTh2 预测 720 步：原模型误差中结构上无法消除的部分</a:t>
            </a:r>
            <a:endParaRPr sz="12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06440" y="178308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需要越过天花板的样本占比（验证集），%</a:t>
            </a:r>
            <a:endParaRPr sz="15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5715000" y="2103120"/>
          <a:ext cx="59893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594360" y="5486400"/>
            <a:ext cx="11018520" cy="5029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60" y="548640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结论：</a:t>
            </a: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预测越长，原模型“够不到”的样本越多——这正是新增修正分支要补的地方</a:t>
            </a:r>
            <a:endParaRPr sz="16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360" y="60533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测量对象：主对比实验中训练好的 84 对模型（7 个数据集 × 4 个预测长度 × 3 次训练），验证集与测试集各评估一次</a:t>
            </a:r>
            <a:endParaRPr sz="12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方法：相位主干 + 门控线性修正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8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结构改动很小：在原模型旁并联一条线性分支，由门控自动决定用多少</a:t>
            </a:r>
            <a:endParaRPr sz="20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30632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7512" y="3063240"/>
            <a:ext cx="1133856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历史序列</a:t>
            </a:r>
            <a:endParaRPr sz="15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L = 720</a:t>
            </a:r>
            <a:endParaRPr sz="15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286000" y="1920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359152" y="1920240"/>
            <a:ext cx="204825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相位主干</a:t>
            </a:r>
            <a:endParaRPr sz="15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PhaseFormer</a:t>
            </a:r>
            <a:endParaRPr sz="15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286000" y="4206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359152" y="4206240"/>
            <a:ext cx="2048255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锚定线性修正</a:t>
            </a:r>
            <a:endParaRPr sz="15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分支（新增）</a:t>
            </a:r>
            <a:endParaRPr sz="15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937760" y="192024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10912" y="1920240"/>
            <a:ext cx="996696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相位预测</a:t>
            </a:r>
            <a:endParaRPr sz="15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937760" y="420624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10912" y="4206240"/>
            <a:ext cx="996696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修正预测</a:t>
            </a:r>
            <a:endParaRPr sz="15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92240" y="306324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65392" y="3063240"/>
            <a:ext cx="1179576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门控融合</a:t>
            </a:r>
            <a:endParaRPr sz="15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g ∈ (0, 1)</a:t>
            </a:r>
            <a:endParaRPr sz="15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cxnSp>
        <p:nvCxnSpPr>
          <p:cNvPr id="30" name="Connector 29"/>
          <p:cNvCxnSpPr/>
          <p:nvPr/>
        </p:nvCxnSpPr>
        <p:spPr>
          <a:xfrm flipV="1">
            <a:off x="1874519" y="2377440"/>
            <a:ext cx="411481" cy="100584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74519" y="3657600"/>
            <a:ext cx="411481" cy="100584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80560" y="2377440"/>
            <a:ext cx="457200" cy="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480560" y="4663440"/>
            <a:ext cx="457200" cy="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80760" y="2377440"/>
            <a:ext cx="411480" cy="96012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080760" y="3703320"/>
            <a:ext cx="411480" cy="960120"/>
          </a:xfrm>
          <a:prstGeom prst="line">
            <a:avLst/>
          </a:prstGeom>
          <a:ln w="22225">
            <a:solidFill>
              <a:srgbClr val="003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544068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融合： </a:t>
            </a:r>
            <a:r>
              <a:rPr sz="1600" b="0" i="1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ŷ = (1 − g) · ŷ</a:t>
            </a:r>
            <a:r>
              <a:rPr sz="1600" b="0" i="1" baseline="-250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φ</a:t>
            </a:r>
            <a:r>
              <a:rPr sz="1600" b="0" i="1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  +  g · ŷ</a:t>
            </a:r>
            <a:r>
              <a:rPr sz="1600" b="0" i="1" baseline="-250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r</a:t>
            </a: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　三部分联合训练</a:t>
            </a:r>
            <a:endParaRPr sz="16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229600" y="182880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412480" y="1993392"/>
            <a:ext cx="502920" cy="50292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1</a:t>
            </a:r>
            <a:endParaRPr sz="16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98280" y="198424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锚定</a:t>
            </a:r>
            <a:endParaRPr sz="17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098280" y="2350008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以最后一个观测为基准，只学习“相对变化”</a:t>
            </a:r>
            <a:endParaRPr sz="13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229600" y="310896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8412480" y="3273552"/>
            <a:ext cx="502920" cy="50292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2</a:t>
            </a:r>
            <a:endParaRPr sz="16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098280" y="326440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门控</a:t>
            </a:r>
            <a:endParaRPr sz="17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098280" y="3630168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自动学习修正信号的使用比例，不需要时影响很小</a:t>
            </a:r>
            <a:endParaRPr sz="13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229600" y="4389120"/>
            <a:ext cx="338328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8412480" y="4553712"/>
            <a:ext cx="502920" cy="50292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3</a:t>
            </a:r>
            <a:endParaRPr sz="16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98280" y="45445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联合训练</a:t>
            </a:r>
            <a:endParaRPr sz="17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098280" y="4910328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只补相位主干没做到的部分，与主干形成互补</a:t>
            </a:r>
            <a:endParaRPr sz="13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效果：12 个设定全部提升，最高 8.73%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9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在 ETTh2、ETTm2、Weather 三个数据集的全部预测长度上，两项误差指标同时改善</a:t>
            </a:r>
            <a:endParaRPr sz="20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329184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192024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12 / 12</a:t>
            </a:r>
            <a:endParaRPr sz="3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25420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设定上 MSE、MAE 双指标全部下降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" y="3154680"/>
            <a:ext cx="329184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324612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8.73%</a:t>
            </a:r>
            <a:endParaRPr sz="3600" b="1" i="0">
              <a:solidFill>
                <a:srgbClr val="FF0000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386791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最大降幅（ETTm2，预测 96 步）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4360" y="4480560"/>
            <a:ext cx="3291840" cy="11430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2926080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3 次</a:t>
            </a:r>
            <a:endParaRPr sz="3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51937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独立训练取平均，结果稳定可复现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06240" y="1783080"/>
            <a:ext cx="74066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相对原始 PhaseFormer（仅相位路径）的预测误差（MSE）降低幅度，%</a:t>
            </a:r>
            <a:endParaRPr sz="15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4114800" y="2148840"/>
          <a:ext cx="75895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94360" y="58978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对比设置：同配置、同随机种子下的原始 PhaseFormer；输入长度 720，预测长度 96 / 192 / 336 / 720</a:t>
            </a:r>
            <a:endParaRPr sz="12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机理：增益来自主干够不到的水平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10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新增分支补在了理论指出的位置：天花板之外的样本收益最大，水平也交给了分支</a:t>
            </a:r>
            <a:endParaRPr sz="20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178308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ETTh2 每个样本的平均误差下降（验证集，×10⁻²）</a:t>
            </a:r>
            <a:endParaRPr sz="15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02920" y="2103120"/>
          <a:ext cx="61264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94360" y="5102352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天花板外的样本，单个收益是其他样本的 </a:t>
            </a:r>
            <a:r>
              <a:rPr sz="13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4 倍以上</a:t>
            </a:r>
            <a:r>
              <a:rPr sz="13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；24 / 24 次评估一致</a:t>
            </a:r>
            <a:endParaRPr sz="13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949440" y="1828800"/>
            <a:ext cx="4663440" cy="14173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78040" y="193852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55%–99%</a:t>
            </a:r>
            <a:endParaRPr sz="3000" b="1" i="0">
              <a:solidFill>
                <a:srgbClr val="0000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78040" y="2487168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分支接管了水平</a:t>
            </a:r>
            <a:endParaRPr sz="1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78040" y="2834640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融合预测中的水平由新增分支承担</a:t>
            </a:r>
            <a:endParaRPr sz="12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949440" y="3429000"/>
            <a:ext cx="4663440" cy="14173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178040" y="3538728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1.3–4.8 倍</a:t>
            </a:r>
            <a:endParaRPr sz="30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78040" y="4087368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主干让出水平，腾出能力刻画形状</a:t>
            </a:r>
            <a:endParaRPr sz="1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78040" y="4434840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联合训练后，主干自身的水平天花板收窄</a:t>
            </a:r>
            <a:endParaRPr sz="12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49440" y="5074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统计范围：ETTh2、ETTm2、Weather 全部 12 个设定</a:t>
            </a:r>
            <a:endParaRPr sz="12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1018520" cy="54864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一句话：</a:t>
            </a: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理论说原模型在哪里受限</a:t>
            </a:r>
            <a:r>
              <a:rPr lang="en-US"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，</a:t>
            </a:r>
            <a:r>
              <a:rPr lang="zh-CN" altLang="en-US"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同时</a:t>
            </a: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实测新增分支恰好补在那里，并与主干形成分工</a:t>
            </a:r>
            <a:endParaRPr sz="16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量化：可预测收益集中在一个方向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11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在 28 个数据集-预测长度组合上测量“一个线性修正器最多能拿到多少收益、分布在几个方向上”</a:t>
            </a:r>
            <a:endParaRPr sz="18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3474720" cy="25146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201168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64%–86%</a:t>
            </a:r>
            <a:endParaRPr sz="4000" b="1" i="0">
              <a:solidFill>
                <a:srgbClr val="FF0000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" y="283464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第一个方向独占的可达收益</a:t>
            </a:r>
            <a:endParaRPr sz="14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60" y="3657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一个方向就拿到大头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43400" y="1828800"/>
            <a:ext cx="3474720" cy="25146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0" y="201168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2–7 个</a:t>
            </a:r>
            <a:endParaRPr sz="40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0" y="283464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拿到 90% 收益所需的方向数</a:t>
            </a:r>
            <a:endParaRPr sz="14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0" y="3657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缺口确实是低维的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92440" y="1828800"/>
            <a:ext cx="3474720" cy="25146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21040" y="201168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0.89–0.99</a:t>
            </a:r>
            <a:endParaRPr sz="40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21040" y="283464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与“整体平移”的相似度（满分 1）</a:t>
            </a:r>
            <a:endParaRPr sz="14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21040" y="3657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主要作用就是整体平移</a:t>
            </a:r>
            <a:endParaRPr sz="1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94360" y="4663440"/>
            <a:ext cx="11018520" cy="114300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68680" y="4892040"/>
            <a:ext cx="685800" cy="68580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✓</a:t>
            </a:r>
            <a:endParaRPr sz="20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83080" y="4663440"/>
            <a:ext cx="960120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与理论一致，且在相位主干之后依然成立：</a:t>
            </a:r>
            <a:endParaRPr sz="1600" b="1" i="0">
              <a:solidFill>
                <a:srgbClr val="0000FF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扣除相位主干的预测后重新测量，主方向与原结果的一致度 ≥ </a:t>
            </a:r>
            <a:r>
              <a:rPr sz="16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0.999</a:t>
            </a: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，指向同一个“近期水平”方向</a:t>
            </a:r>
            <a:endParaRPr sz="16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机制：模型学到“读近期水平→写平移”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12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拆开训练好的修正分支，看它“读什么、写什么”——与理论预言逐项吻合</a:t>
            </a:r>
            <a:endParaRPr sz="20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182880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18 / 18</a:t>
            </a:r>
            <a:endParaRPr sz="2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14600" y="1956816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组模型</a:t>
            </a:r>
            <a:endParaRPr sz="13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4600" y="226771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读取的都是“近期加权水平”</a:t>
            </a:r>
            <a:endParaRPr sz="16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292608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292608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12 / 18</a:t>
            </a:r>
            <a:endParaRPr sz="28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14600" y="3054096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组（ETT 数据）</a:t>
            </a:r>
            <a:endParaRPr sz="13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514600" y="336499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把它写成整段预测的“整体平移”</a:t>
            </a:r>
            <a:endParaRPr sz="16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94360" y="402336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69164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b="1" i="0">
                <a:solidFill>
                  <a:srgbClr val="009FE3"/>
                </a:solidFill>
                <a:latin typeface="Times New Roman" panose="02020503050405090304"/>
                <a:ea typeface="黑体"/>
                <a:cs typeface="黑体"/>
              </a:rPr>
              <a:t>6 / 18</a:t>
            </a:r>
            <a:endParaRPr sz="2800" b="1" i="0">
              <a:solidFill>
                <a:srgbClr val="009FE3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14600" y="4151376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组（Weather）</a:t>
            </a:r>
            <a:endParaRPr sz="13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514600" y="446227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写成平滑的“倾斜 / 弯曲”修正</a:t>
            </a:r>
            <a:endParaRPr sz="16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521208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结论：</a:t>
            </a: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两类数据读的是同一个量，只是“写法”随数据特点不同——正是理论中 a、b 两个因子的体现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92240" y="17830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典型模型（ETTh2-720）各机制的收益占比，%</a:t>
            </a:r>
            <a:endParaRPr sz="15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6400800" y="214884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6492240" y="5257800"/>
            <a:ext cx="5120640" cy="68580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75120" y="525780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72 个模型中，</a:t>
            </a:r>
            <a:r>
              <a:rPr sz="15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3–5 个</a:t>
            </a:r>
            <a:r>
              <a:rPr sz="15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机制即解释 </a:t>
            </a:r>
            <a:r>
              <a:rPr sz="15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≥95%</a:t>
            </a:r>
            <a:r>
              <a:rPr sz="15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 的收益</a:t>
            </a:r>
            <a:endParaRPr sz="15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验证：删掉这个方向，整体一致变差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13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固定模型其余部分，只删除理论指出的“近期水平”方向，并用随机方向做对照</a:t>
            </a:r>
            <a:endParaRPr sz="20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94360" y="18288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20116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只看修正分支自身</a:t>
            </a:r>
            <a:endParaRPr sz="1600" b="1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24688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52 / 72</a:t>
            </a:r>
            <a:endParaRPr sz="4000" b="1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342900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个模型反而“变好”</a:t>
            </a:r>
            <a:endParaRPr sz="14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单独看，这个方向似乎没用</a:t>
            </a:r>
            <a:endParaRPr sz="14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4069080" y="3200400"/>
            <a:ext cx="548640" cy="0"/>
          </a:xfrm>
          <a:prstGeom prst="line">
            <a:avLst/>
          </a:prstGeom>
          <a:ln w="31750">
            <a:solidFill>
              <a:srgbClr val="000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709160" y="18288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0F0"/>
          </a:solidFill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92040" y="20116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看融合后的整体预测</a:t>
            </a:r>
            <a:endParaRPr sz="1600" b="1" i="0">
              <a:solidFill>
                <a:srgbClr val="FF0000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92040" y="24688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72 / 72</a:t>
            </a:r>
            <a:endParaRPr sz="4000" b="1" i="0">
              <a:solidFill>
                <a:srgbClr val="FF0000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92040" y="342900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个模型全部“变差”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误差中位数上升 30.43%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58200" y="18288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对照严格</a:t>
            </a:r>
            <a:endParaRPr sz="1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58200" y="2157984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以同维度随机方向为对照：18 / 18 组中，删除理论方向的影响均明显超出对照范围</a:t>
            </a:r>
            <a:endParaRPr sz="13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58200" y="29260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反转说明互补</a:t>
            </a:r>
            <a:endParaRPr sz="1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58200" y="3255264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单看分支是“多余”的，放进整体却“必不可少”——它的价值来自与相位主干的配合</a:t>
            </a:r>
            <a:endParaRPr sz="13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58200" y="40233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结论</a:t>
            </a:r>
            <a:endParaRPr sz="1600" b="1" i="0">
              <a:solidFill>
                <a:srgbClr val="0000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58200" y="4352544"/>
            <a:ext cx="3200400" cy="6217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这个方向是整体预测必需的互补部件，而不是巧合出现的相关特征</a:t>
            </a:r>
            <a:endParaRPr sz="13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94360" y="4937760"/>
            <a:ext cx="11018520" cy="86868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60" y="493776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一句话：</a:t>
            </a: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理论预言的方向 → 模型确实学到 → 删掉就变差，三者闭环，说明机制解释是</a:t>
            </a:r>
            <a:r>
              <a:rPr sz="16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可验证的</a:t>
            </a: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而非事后附会</a:t>
            </a:r>
            <a:endParaRPr sz="16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落地：参数大减，效果基本不变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14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TextBox 16"/>
          <p:cNvSpPr txBox="1"/>
          <p:nvPr/>
        </p:nvSpPr>
        <p:spPr>
          <a:xfrm>
            <a:off x="59436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既然有用的方向只有少数几个，修正分支就可以大幅“瘦身”</a:t>
            </a:r>
            <a:endParaRPr sz="20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11880" y="187451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参数占比（相对未压缩版本）</a:t>
            </a:r>
            <a:endParaRPr sz="14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29800" y="1874519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Times New Roman" panose="02020503050405090304"/>
                <a:ea typeface="黑体"/>
                <a:cs typeface="黑体"/>
              </a:rPr>
              <a:t>效果</a:t>
            </a:r>
            <a:endParaRPr sz="1400" b="0" i="0">
              <a:solidFill>
                <a:srgbClr val="6B6B6B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436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修正分支（未压缩）</a:t>
            </a:r>
            <a:endParaRPr sz="1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611880" y="23317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611880" y="23317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21040" y="22860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100%</a:t>
            </a:r>
            <a:endParaRPr sz="1600" b="1" i="0">
              <a:solidFill>
                <a:srgbClr val="0000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829800" y="22860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基准</a:t>
            </a:r>
            <a:endParaRPr sz="15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29718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修正分支（压缩后）</a:t>
            </a:r>
            <a:endParaRPr sz="1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611880" y="30175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11880" y="3017520"/>
            <a:ext cx="411480" cy="36576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160520" y="2971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3.5%–6.1%</a:t>
            </a:r>
            <a:endParaRPr sz="1600" b="1" i="0">
              <a:solidFill>
                <a:srgbClr val="0000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29800" y="29718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92%–102%</a:t>
            </a:r>
            <a:r>
              <a:rPr sz="15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 收益保留</a:t>
            </a:r>
            <a:endParaRPr sz="15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" y="38862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整模型（未压缩）</a:t>
            </a:r>
            <a:endParaRPr sz="1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611880" y="39319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3611880" y="39319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21040" y="38862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100%</a:t>
            </a:r>
            <a:endParaRPr sz="1600" b="1" i="0">
              <a:solidFill>
                <a:srgbClr val="0000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829800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基准</a:t>
            </a:r>
            <a:endParaRPr sz="15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4360" y="4572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整模型（压缩后）</a:t>
            </a:r>
            <a:endParaRPr sz="16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611880" y="4617720"/>
            <a:ext cx="4572000" cy="36576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3611880" y="461772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257800" y="45720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16.4%–33.0%</a:t>
            </a:r>
            <a:endParaRPr sz="1600" b="1" i="0">
              <a:solidFill>
                <a:srgbClr val="0000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829800" y="45720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仅 0.72%</a:t>
            </a:r>
            <a:r>
              <a:rPr sz="15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 误差差异</a:t>
            </a:r>
            <a:endParaRPr sz="15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4360" y="5349240"/>
            <a:ext cx="11018520" cy="7315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22960" y="534924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意义：</a:t>
            </a: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理论告诉我们“为什么能压”，实测告诉我们“压到多少合适”——精度与成本可按需取舍</a:t>
            </a:r>
            <a:endParaRPr sz="16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页标题"/>
          <p:cNvSpPr>
            <a:spLocks noGrp="1"/>
          </p:cNvSpPr>
          <p:nvPr/>
        </p:nvSpPr>
        <p:spPr>
          <a:xfrm>
            <a:off x="495300" y="285750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900" b="1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总结：理论 — 机制 — 效果 — 效率，形成闭环</a:t>
            </a:r>
            <a:endParaRPr sz="3900" b="1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" name="页码"/>
          <p:cNvSpPr>
            <a:spLocks noGrp="1"/>
          </p:cNvSpPr>
          <p:nvPr/>
        </p:nvSpPr>
        <p:spPr>
          <a:xfrm>
            <a:off x="11372850" y="2667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210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15</a:t>
            </a:r>
            <a:endParaRPr sz="210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4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17" name="Rounded Rectangle 16"/>
          <p:cNvSpPr/>
          <p:nvPr/>
        </p:nvSpPr>
        <p:spPr>
          <a:xfrm>
            <a:off x="594360" y="128016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68680" y="1554480"/>
            <a:ext cx="640080" cy="64008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1</a:t>
            </a:r>
            <a:endParaRPr sz="18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37360" y="155448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理论清晰</a:t>
            </a:r>
            <a:endParaRPr sz="20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37360" y="2029967"/>
            <a:ext cx="40690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三条定理：原模型能建模部分水平但有天花板，缺口低秩；实测确认天花板存在，分支正好补在天花板之外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0" y="128016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492240" y="1554480"/>
            <a:ext cx="640080" cy="64008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2</a:t>
            </a:r>
            <a:endParaRPr sz="18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60920" y="155448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机制可解释</a:t>
            </a:r>
            <a:endParaRPr sz="20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60920" y="2029967"/>
            <a:ext cx="40690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训练出的模型确实学到这一机制；3–5 个可命名的机制解释 ≥95% 的收益，且经删除实验验证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94360" y="3154679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68680" y="3428999"/>
            <a:ext cx="640080" cy="640080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3</a:t>
            </a:r>
            <a:endParaRPr sz="18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737360" y="3428999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效果稳定</a:t>
            </a:r>
            <a:endParaRPr sz="20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37360" y="3904487"/>
            <a:ext cx="40690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ETTh2、ETTm2、Weather 全部 12 个设定误差双指标下降，最高降低 8.73%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17920" y="3154679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EDF3FA"/>
          </a:solidFill>
          <a:ln w="9525">
            <a:solidFill>
              <a:srgbClr val="A9CB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492240" y="3428999"/>
            <a:ext cx="640080" cy="640080"/>
          </a:xfrm>
          <a:prstGeom prst="ellipse">
            <a:avLst/>
          </a:prstGeom>
          <a:solidFill>
            <a:srgbClr val="003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 panose="02020503050405090304"/>
                <a:ea typeface="黑体"/>
                <a:cs typeface="黑体"/>
              </a:rPr>
              <a:t>4</a:t>
            </a:r>
            <a:endParaRPr sz="1800" b="1" i="0">
              <a:solidFill>
                <a:srgbClr val="FFFFFF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60920" y="3428999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部署高效</a:t>
            </a:r>
            <a:endParaRPr sz="2000" b="1" i="0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60920" y="3904487"/>
            <a:ext cx="4069080" cy="868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修正分支压缩到 3.5%–6.1% 的参数，收益基本保留；整模型可降至 16.4%–33.0%</a:t>
            </a:r>
            <a:endParaRPr sz="14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94360" y="5166360"/>
            <a:ext cx="11018520" cy="731520"/>
          </a:xfrm>
          <a:prstGeom prst="roundRect">
            <a:avLst>
              <a:gd name="adj" fmla="val 6000"/>
            </a:avLst>
          </a:prstGeom>
          <a:solidFill>
            <a:srgbClr val="E6ECFF"/>
          </a:solidFill>
          <a:ln w="952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60" y="516636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0000FF"/>
                </a:solidFill>
                <a:latin typeface="Times New Roman" panose="02020503050405090304"/>
                <a:ea typeface="黑体"/>
                <a:cs typeface="黑体"/>
              </a:rPr>
              <a:t>价值：</a:t>
            </a: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在 PhaseFormer（ICLR 2026）基础上形成一条</a:t>
            </a:r>
            <a:r>
              <a:rPr sz="1600" b="1" i="0">
                <a:solidFill>
                  <a:srgbClr val="FF0000"/>
                </a:solidFill>
                <a:latin typeface="Times New Roman" panose="02020503050405090304"/>
                <a:ea typeface="黑体"/>
                <a:cs typeface="黑体"/>
              </a:rPr>
              <a:t>从理论到落地的完整主线</a:t>
            </a:r>
            <a:r>
              <a:rPr sz="1600" b="0" i="0">
                <a:solidFill>
                  <a:srgbClr val="1A1A1A"/>
                </a:solidFill>
                <a:latin typeface="Times New Roman" panose="02020503050405090304"/>
                <a:ea typeface="黑体"/>
                <a:cs typeface="黑体"/>
              </a:rPr>
              <a:t>，支撑期刊扩展版本</a:t>
            </a:r>
            <a:endParaRPr sz="1600" b="0" i="0">
              <a:solidFill>
                <a:srgbClr val="1A1A1A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深蓝横线"/>
          <p:cNvSpPr>
            <a:spLocks noGrp="1"/>
          </p:cNvSpPr>
          <p:nvPr/>
        </p:nvSpPr>
        <p:spPr>
          <a:xfrm>
            <a:off x="438150" y="876300"/>
            <a:ext cx="2209800" cy="76200"/>
          </a:xfrm>
          <a:prstGeom prst="rect">
            <a:avLst/>
          </a:prstGeom>
          <a:solidFill>
            <a:srgbClr val="003DA6"/>
          </a:solidFill>
          <a:ln w="0">
            <a:noFill/>
          </a:ln>
        </p:spPr>
      </p:sp>
      <p:sp>
        <p:nvSpPr>
          <p:cNvPr id="2" name="亮蓝横线"/>
          <p:cNvSpPr>
            <a:spLocks noGrp="1"/>
          </p:cNvSpPr>
          <p:nvPr/>
        </p:nvSpPr>
        <p:spPr>
          <a:xfrm>
            <a:off x="2647950" y="914400"/>
            <a:ext cx="9105900" cy="47625"/>
          </a:xfrm>
          <a:prstGeom prst="rect">
            <a:avLst/>
          </a:prstGeom>
          <a:solidFill>
            <a:srgbClr val="009FE3"/>
          </a:solidFill>
          <a:ln w="0">
            <a:noFill/>
          </a:ln>
        </p:spPr>
      </p:sp>
      <p:sp>
        <p:nvSpPr>
          <p:cNvPr id="3" name="结束语"/>
          <p:cNvSpPr>
            <a:spLocks noGrp="1"/>
          </p:cNvSpPr>
          <p:nvPr/>
        </p:nvSpPr>
        <p:spPr>
          <a:xfrm>
            <a:off x="1524000" y="3048000"/>
            <a:ext cx="9144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3675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defRPr>
            </a:pPr>
            <a:r>
              <a:rPr sz="3675">
                <a:solidFill>
                  <a:srgbClr val="003DA6"/>
                </a:solidFill>
                <a:latin typeface="Times New Roman" panose="02020503050405090304"/>
                <a:ea typeface="黑体"/>
                <a:cs typeface="黑体"/>
              </a:rPr>
              <a:t>谢谢大家，欢迎讨论</a:t>
            </a:r>
            <a:endParaRPr sz="3675">
              <a:solidFill>
                <a:srgbClr val="003DA6"/>
              </a:solidFill>
              <a:latin typeface="Times New Roman" panose="02020503050405090304"/>
              <a:ea typeface="黑体"/>
              <a:cs typeface="黑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参考稿蓝色主题">
      <a:dk1>
        <a:srgbClr val="000000"/>
      </a:dk1>
      <a:lt1>
        <a:srgbClr val="FFFFFF"/>
      </a:lt1>
      <a:dk2>
        <a:srgbClr val="0D2542"/>
      </a:dk2>
      <a:lt2>
        <a:srgbClr val="DEE7F0"/>
      </a:lt2>
      <a:accent1>
        <a:srgbClr val="003DA6"/>
      </a:accent1>
      <a:accent2>
        <a:srgbClr val="009FE3"/>
      </a:accent2>
      <a:accent3>
        <a:srgbClr val="1A62A8"/>
      </a:accent3>
      <a:accent4>
        <a:srgbClr val="46617D"/>
      </a:accent4>
      <a:accent5>
        <a:srgbClr val="A9CBEA"/>
      </a:accent5>
      <a:accent6>
        <a:srgbClr val="C0392B"/>
      </a:accent6>
      <a:hlink>
        <a:srgbClr val="003DA6"/>
      </a:hlink>
      <a:folHlink>
        <a:srgbClr val="46617D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参考稿蓝色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参考稿蓝色主题">
      <a:dk1>
        <a:srgbClr val="000000"/>
      </a:dk1>
      <a:lt1>
        <a:srgbClr val="FFFFFF"/>
      </a:lt1>
      <a:dk2>
        <a:srgbClr val="0D2542"/>
      </a:dk2>
      <a:lt2>
        <a:srgbClr val="DEE7F0"/>
      </a:lt2>
      <a:accent1>
        <a:srgbClr val="003DA6"/>
      </a:accent1>
      <a:accent2>
        <a:srgbClr val="009FE3"/>
      </a:accent2>
      <a:accent3>
        <a:srgbClr val="1A62A8"/>
      </a:accent3>
      <a:accent4>
        <a:srgbClr val="46617D"/>
      </a:accent4>
      <a:accent5>
        <a:srgbClr val="A9CBEA"/>
      </a:accent5>
      <a:accent6>
        <a:srgbClr val="C0392B"/>
      </a:accent6>
      <a:hlink>
        <a:srgbClr val="003DA6"/>
      </a:hlink>
      <a:folHlink>
        <a:srgbClr val="46617D"/>
      </a:folHlink>
    </a:clrScheme>
    <a:fontScheme name="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参考稿蓝色主题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3489</Words>
  <Application>WPS 演示</Application>
  <PresentationFormat>Converted Presentation</PresentationFormat>
  <Paragraphs>442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宋体</vt:lpstr>
      <vt:lpstr>Wingdings</vt:lpstr>
      <vt:lpstr>Times New Roman</vt:lpstr>
      <vt:lpstr>黑体</vt:lpstr>
      <vt:lpstr>汉仪中黑KW</vt:lpstr>
      <vt:lpstr>微软雅黑</vt:lpstr>
      <vt:lpstr>方正雅意黑 GB18030L2</vt:lpstr>
      <vt:lpstr>宋体</vt:lpstr>
      <vt:lpstr>Arial Unicode MS</vt:lpstr>
      <vt:lpstr>汉仪书宋二KW</vt:lpstr>
      <vt:lpstr>Calibri</vt:lpstr>
      <vt:lpstr>Helvetica Neue</vt:lpstr>
      <vt:lpstr>Times New Roman</vt:lpstr>
      <vt:lpstr>黑体</vt:lpstr>
      <vt:lpstr>MS PGothic</vt:lpstr>
      <vt:lpstr>Apple Symbols</vt:lpstr>
      <vt:lpstr>儷宋 Pro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牛易明</cp:lastModifiedBy>
  <cp:revision>2</cp:revision>
  <dcterms:created xsi:type="dcterms:W3CDTF">2026-09-29T09:04:06Z</dcterms:created>
  <dcterms:modified xsi:type="dcterms:W3CDTF">2026-09-29T09:04:06Z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E8BB0EB4EDA9D691057EBB6A790E00DC_42</vt:lpwstr>
  </property>
  <property fmtid="{D5CDD505-2E9C-101B-9397-08002B2CF9AE}" pid="3" name="KSOProductBuildVer">
    <vt:lpwstr>2052-12.1.28496.28496</vt:lpwstr>
  </property>
</Properties>
</file>