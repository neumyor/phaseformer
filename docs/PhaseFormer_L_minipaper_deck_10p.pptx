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该方向所占的可获得线性增益 (%)</c:v>
                </c:pt>
              </c:strCache>
            </c:strRef>
          </c:tx>
          <c:spPr>
            <a:solidFill>
              <a:srgbClr val="1A62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6617D"/>
                    </a:solidFill>
                    <a:latin typeface="PingFang SC"/>
                    <a:ea typeface="PingFang SC"/>
                    <a:cs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Traffic</c:v>
                  </c:pt>
                  <c:pt idx="1">
                    <c:v>Electricity</c:v>
                  </c:pt>
                  <c:pt idx="2">
                    <c:v>ETTm1</c:v>
                  </c:pt>
                  <c:pt idx="3">
                    <c:v>ETTh1</c:v>
                  </c:pt>
                  <c:pt idx="4">
                    <c:v>ETTm2</c:v>
                  </c:pt>
                  <c:pt idx="5">
                    <c:v>ETTh2</c:v>
                  </c:pt>
                  <c:pt idx="6">
                    <c:v>Weather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64.6</c:v>
                </c:pt>
                <c:pt idx="1">
                  <c:v>66.3</c:v>
                </c:pt>
                <c:pt idx="2">
                  <c:v>72.7</c:v>
                </c:pt>
                <c:pt idx="3">
                  <c:v>73</c:v>
                </c:pt>
                <c:pt idx="4">
                  <c:v>78.1</c:v>
                </c:pt>
                <c:pt idx="5">
                  <c:v>81.8</c:v>
                </c:pt>
                <c:pt idx="6">
                  <c:v>82.3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该方向所占的输入方差 (%)</c:v>
                </c:pt>
              </c:strCache>
            </c:strRef>
          </c:tx>
          <c:spPr>
            <a:solidFill>
              <a:srgbClr val="A9CBE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6617D"/>
                    </a:solidFill>
                    <a:latin typeface="PingFang SC"/>
                    <a:ea typeface="PingFang SC"/>
                    <a:cs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Traffic</c:v>
                  </c:pt>
                  <c:pt idx="1">
                    <c:v>Electricity</c:v>
                  </c:pt>
                  <c:pt idx="2">
                    <c:v>ETTm1</c:v>
                  </c:pt>
                  <c:pt idx="3">
                    <c:v>ETTh1</c:v>
                  </c:pt>
                  <c:pt idx="4">
                    <c:v>ETTm2</c:v>
                  </c:pt>
                  <c:pt idx="5">
                    <c:v>ETTh2</c:v>
                  </c:pt>
                  <c:pt idx="6">
                    <c:v>Weather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26.5</c:v>
                </c:pt>
                <c:pt idx="1">
                  <c:v>11</c:v>
                </c:pt>
                <c:pt idx="2">
                  <c:v>11.4</c:v>
                </c:pt>
                <c:pt idx="3">
                  <c:v>6.5</c:v>
                </c:pt>
                <c:pt idx="4">
                  <c:v>2.6</c:v>
                </c:pt>
                <c:pt idx="5">
                  <c:v>2.9</c:v>
                </c:pt>
                <c:pt idx="6">
                  <c:v>14.1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46617D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2542"/>
                </a:solidFill>
                <a:latin typeface="PingFang SC"/>
                <a:ea typeface="PingFang SC"/>
                <a:cs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6350" cap="flat">
              <a:solidFill>
                <a:srgbClr val="DE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798AA"/>
                </a:solidFill>
                <a:latin typeface="PingFang SC"/>
                <a:ea typeface="PingFang SC"/>
                <a:cs typeface="PingFang SC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6617D"/>
              </a:solidFill>
              <a:latin typeface="PingFang SC"/>
              <a:ea typeface="PingFang SC"/>
              <a:cs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99832" y="4526280"/>
            <a:ext cx="768096" cy="0"/>
          </a:xfrm>
          <a:prstGeom prst="line">
            <a:avLst/>
          </a:prstGeom>
          <a:noFill/>
          <a:ln w="12700">
            <a:solidFill>
              <a:srgbClr val="A9CBE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7900416" y="4105656"/>
            <a:ext cx="566928" cy="420624"/>
          </a:xfrm>
          <a:custGeom>
            <a:avLst/>
            <a:gdLst/>
            <a:ahLst/>
            <a:cxnLst/>
            <a:rect l="l" t="t" r="r" b="b"/>
            <a:pathLst>
              <a:path w="566928" h="420624">
                <a:moveTo>
                  <a:pt x="0" y="419812"/>
                </a:moveTo>
                <a:cubicBezTo>
                  <a:pt x="2362" y="419698"/>
                  <a:pt x="9449" y="419439"/>
                  <a:pt x="14173" y="419131"/>
                </a:cubicBezTo>
                <a:cubicBezTo>
                  <a:pt x="18898" y="418822"/>
                  <a:pt x="23622" y="418479"/>
                  <a:pt x="28346" y="417962"/>
                </a:cubicBezTo>
                <a:cubicBezTo>
                  <a:pt x="33071" y="417444"/>
                  <a:pt x="37795" y="416864"/>
                  <a:pt x="42520" y="416024"/>
                </a:cubicBezTo>
                <a:cubicBezTo>
                  <a:pt x="47244" y="415183"/>
                  <a:pt x="51968" y="414237"/>
                  <a:pt x="56693" y="412920"/>
                </a:cubicBezTo>
                <a:cubicBezTo>
                  <a:pt x="61417" y="411603"/>
                  <a:pt x="66142" y="410114"/>
                  <a:pt x="70866" y="408119"/>
                </a:cubicBezTo>
                <a:cubicBezTo>
                  <a:pt x="75590" y="406124"/>
                  <a:pt x="80315" y="403867"/>
                  <a:pt x="85039" y="400951"/>
                </a:cubicBezTo>
                <a:cubicBezTo>
                  <a:pt x="89764" y="398036"/>
                  <a:pt x="94488" y="394737"/>
                  <a:pt x="99212" y="390626"/>
                </a:cubicBezTo>
                <a:cubicBezTo>
                  <a:pt x="103937" y="386516"/>
                  <a:pt x="108661" y="381875"/>
                  <a:pt x="113386" y="376291"/>
                </a:cubicBezTo>
                <a:cubicBezTo>
                  <a:pt x="118110" y="370706"/>
                  <a:pt x="122834" y="364425"/>
                  <a:pt x="127559" y="357119"/>
                </a:cubicBezTo>
                <a:cubicBezTo>
                  <a:pt x="132283" y="349814"/>
                  <a:pt x="137008" y="341646"/>
                  <a:pt x="141732" y="332456"/>
                </a:cubicBezTo>
                <a:cubicBezTo>
                  <a:pt x="146456" y="323267"/>
                  <a:pt x="151181" y="313077"/>
                  <a:pt x="155905" y="301982"/>
                </a:cubicBezTo>
                <a:cubicBezTo>
                  <a:pt x="160630" y="290886"/>
                  <a:pt x="165354" y="278713"/>
                  <a:pt x="170078" y="265885"/>
                </a:cubicBezTo>
                <a:cubicBezTo>
                  <a:pt x="174803" y="253057"/>
                  <a:pt x="179527" y="239170"/>
                  <a:pt x="184252" y="225016"/>
                </a:cubicBezTo>
                <a:cubicBezTo>
                  <a:pt x="188976" y="210861"/>
                  <a:pt x="193700" y="195793"/>
                  <a:pt x="198425" y="180960"/>
                </a:cubicBezTo>
                <a:cubicBezTo>
                  <a:pt x="203149" y="166126"/>
                  <a:pt x="207874" y="150669"/>
                  <a:pt x="212598" y="136016"/>
                </a:cubicBezTo>
                <a:cubicBezTo>
                  <a:pt x="217322" y="121363"/>
                  <a:pt x="222047" y="106514"/>
                  <a:pt x="226771" y="93042"/>
                </a:cubicBezTo>
                <a:cubicBezTo>
                  <a:pt x="231496" y="79569"/>
                  <a:pt x="236220" y="66439"/>
                  <a:pt x="240944" y="55180"/>
                </a:cubicBezTo>
                <a:cubicBezTo>
                  <a:pt x="245669" y="43920"/>
                  <a:pt x="250393" y="33594"/>
                  <a:pt x="255118" y="25484"/>
                </a:cubicBezTo>
                <a:cubicBezTo>
                  <a:pt x="259842" y="17375"/>
                  <a:pt x="264566" y="10769"/>
                  <a:pt x="269291" y="6521"/>
                </a:cubicBezTo>
                <a:cubicBezTo>
                  <a:pt x="274015" y="2274"/>
                  <a:pt x="278740" y="0"/>
                  <a:pt x="283464" y="0"/>
                </a:cubicBezTo>
                <a:cubicBezTo>
                  <a:pt x="288188" y="0"/>
                  <a:pt x="292913" y="2274"/>
                  <a:pt x="297637" y="6521"/>
                </a:cubicBezTo>
                <a:cubicBezTo>
                  <a:pt x="302362" y="10769"/>
                  <a:pt x="307086" y="17375"/>
                  <a:pt x="311810" y="25484"/>
                </a:cubicBezTo>
                <a:cubicBezTo>
                  <a:pt x="316535" y="33594"/>
                  <a:pt x="321259" y="43920"/>
                  <a:pt x="325984" y="55180"/>
                </a:cubicBezTo>
                <a:cubicBezTo>
                  <a:pt x="330708" y="66439"/>
                  <a:pt x="335432" y="79569"/>
                  <a:pt x="340157" y="93042"/>
                </a:cubicBezTo>
                <a:cubicBezTo>
                  <a:pt x="344881" y="106514"/>
                  <a:pt x="349606" y="121363"/>
                  <a:pt x="354330" y="136016"/>
                </a:cubicBezTo>
                <a:cubicBezTo>
                  <a:pt x="359054" y="150669"/>
                  <a:pt x="363779" y="166126"/>
                  <a:pt x="368503" y="180960"/>
                </a:cubicBezTo>
                <a:cubicBezTo>
                  <a:pt x="373228" y="195793"/>
                  <a:pt x="377952" y="210861"/>
                  <a:pt x="382676" y="225016"/>
                </a:cubicBezTo>
                <a:cubicBezTo>
                  <a:pt x="387401" y="239170"/>
                  <a:pt x="392125" y="253057"/>
                  <a:pt x="396850" y="265885"/>
                </a:cubicBezTo>
                <a:cubicBezTo>
                  <a:pt x="401574" y="278713"/>
                  <a:pt x="406298" y="290886"/>
                  <a:pt x="411023" y="301982"/>
                </a:cubicBezTo>
                <a:cubicBezTo>
                  <a:pt x="415747" y="313077"/>
                  <a:pt x="420472" y="323267"/>
                  <a:pt x="425196" y="332456"/>
                </a:cubicBezTo>
                <a:cubicBezTo>
                  <a:pt x="429920" y="341646"/>
                  <a:pt x="434645" y="349814"/>
                  <a:pt x="439369" y="357119"/>
                </a:cubicBezTo>
                <a:cubicBezTo>
                  <a:pt x="444094" y="364425"/>
                  <a:pt x="448818" y="370706"/>
                  <a:pt x="453542" y="376291"/>
                </a:cubicBezTo>
                <a:cubicBezTo>
                  <a:pt x="458267" y="381875"/>
                  <a:pt x="462991" y="386516"/>
                  <a:pt x="467716" y="390626"/>
                </a:cubicBezTo>
                <a:cubicBezTo>
                  <a:pt x="472440" y="394737"/>
                  <a:pt x="477164" y="398036"/>
                  <a:pt x="481889" y="400951"/>
                </a:cubicBezTo>
                <a:cubicBezTo>
                  <a:pt x="486613" y="403867"/>
                  <a:pt x="491338" y="406124"/>
                  <a:pt x="496062" y="408119"/>
                </a:cubicBezTo>
                <a:cubicBezTo>
                  <a:pt x="500786" y="410114"/>
                  <a:pt x="505511" y="411603"/>
                  <a:pt x="510235" y="412920"/>
                </a:cubicBezTo>
                <a:cubicBezTo>
                  <a:pt x="514960" y="414237"/>
                  <a:pt x="519684" y="415183"/>
                  <a:pt x="524408" y="416024"/>
                </a:cubicBezTo>
                <a:cubicBezTo>
                  <a:pt x="529133" y="416864"/>
                  <a:pt x="533857" y="417444"/>
                  <a:pt x="538582" y="417962"/>
                </a:cubicBezTo>
                <a:cubicBezTo>
                  <a:pt x="543306" y="418479"/>
                  <a:pt x="548030" y="418822"/>
                  <a:pt x="552755" y="419131"/>
                </a:cubicBezTo>
                <a:cubicBezTo>
                  <a:pt x="557479" y="419439"/>
                  <a:pt x="564566" y="419563"/>
                  <a:pt x="566928" y="419812"/>
                </a:cubicBezTo>
                <a:cubicBezTo>
                  <a:pt x="569290" y="420061"/>
                  <a:pt x="661416" y="420489"/>
                  <a:pt x="566928" y="420624"/>
                </a:cubicBezTo>
                <a:cubicBezTo>
                  <a:pt x="472440" y="420759"/>
                  <a:pt x="94488" y="420624"/>
                  <a:pt x="0" y="420624"/>
                </a:cubicBezTo>
                <a:close/>
              </a:path>
            </a:pathLst>
          </a:custGeom>
          <a:solidFill>
            <a:srgbClr val="DCE9F6"/>
          </a:solidFill>
          <a:ln w="6350">
            <a:solidFill>
              <a:srgbClr val="DCE9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0416" y="4105656"/>
            <a:ext cx="566928" cy="419812"/>
          </a:xfrm>
          <a:custGeom>
            <a:avLst/>
            <a:gdLst/>
            <a:ahLst/>
            <a:cxnLst/>
            <a:rect l="l" t="t" r="r" b="b"/>
            <a:pathLst>
              <a:path w="566928" h="419812">
                <a:moveTo>
                  <a:pt x="0" y="419812"/>
                </a:moveTo>
                <a:cubicBezTo>
                  <a:pt x="2362" y="419698"/>
                  <a:pt x="9449" y="419439"/>
                  <a:pt x="14173" y="419131"/>
                </a:cubicBezTo>
                <a:cubicBezTo>
                  <a:pt x="18898" y="418822"/>
                  <a:pt x="23622" y="418479"/>
                  <a:pt x="28346" y="417962"/>
                </a:cubicBezTo>
                <a:cubicBezTo>
                  <a:pt x="33071" y="417444"/>
                  <a:pt x="37795" y="416864"/>
                  <a:pt x="42520" y="416024"/>
                </a:cubicBezTo>
                <a:cubicBezTo>
                  <a:pt x="47244" y="415183"/>
                  <a:pt x="51968" y="414237"/>
                  <a:pt x="56693" y="412920"/>
                </a:cubicBezTo>
                <a:cubicBezTo>
                  <a:pt x="61417" y="411603"/>
                  <a:pt x="66142" y="410114"/>
                  <a:pt x="70866" y="408119"/>
                </a:cubicBezTo>
                <a:cubicBezTo>
                  <a:pt x="75590" y="406124"/>
                  <a:pt x="80315" y="403867"/>
                  <a:pt x="85039" y="400951"/>
                </a:cubicBezTo>
                <a:cubicBezTo>
                  <a:pt x="89764" y="398036"/>
                  <a:pt x="94488" y="394737"/>
                  <a:pt x="99212" y="390626"/>
                </a:cubicBezTo>
                <a:cubicBezTo>
                  <a:pt x="103937" y="386516"/>
                  <a:pt x="108661" y="381875"/>
                  <a:pt x="113386" y="376291"/>
                </a:cubicBezTo>
                <a:cubicBezTo>
                  <a:pt x="118110" y="370706"/>
                  <a:pt x="122834" y="364425"/>
                  <a:pt x="127559" y="357119"/>
                </a:cubicBezTo>
                <a:cubicBezTo>
                  <a:pt x="132283" y="349814"/>
                  <a:pt x="137008" y="341646"/>
                  <a:pt x="141732" y="332456"/>
                </a:cubicBezTo>
                <a:cubicBezTo>
                  <a:pt x="146456" y="323267"/>
                  <a:pt x="151181" y="313077"/>
                  <a:pt x="155905" y="301982"/>
                </a:cubicBezTo>
                <a:cubicBezTo>
                  <a:pt x="160630" y="290886"/>
                  <a:pt x="165354" y="278713"/>
                  <a:pt x="170078" y="265885"/>
                </a:cubicBezTo>
                <a:cubicBezTo>
                  <a:pt x="174803" y="253057"/>
                  <a:pt x="179527" y="239170"/>
                  <a:pt x="184252" y="225016"/>
                </a:cubicBezTo>
                <a:cubicBezTo>
                  <a:pt x="188976" y="210861"/>
                  <a:pt x="193700" y="195793"/>
                  <a:pt x="198425" y="180960"/>
                </a:cubicBezTo>
                <a:cubicBezTo>
                  <a:pt x="203149" y="166126"/>
                  <a:pt x="207874" y="150669"/>
                  <a:pt x="212598" y="136016"/>
                </a:cubicBezTo>
                <a:cubicBezTo>
                  <a:pt x="217322" y="121363"/>
                  <a:pt x="222047" y="106514"/>
                  <a:pt x="226771" y="93042"/>
                </a:cubicBezTo>
                <a:cubicBezTo>
                  <a:pt x="231496" y="79569"/>
                  <a:pt x="236220" y="66439"/>
                  <a:pt x="240944" y="55180"/>
                </a:cubicBezTo>
                <a:cubicBezTo>
                  <a:pt x="245669" y="43920"/>
                  <a:pt x="250393" y="33594"/>
                  <a:pt x="255118" y="25484"/>
                </a:cubicBezTo>
                <a:cubicBezTo>
                  <a:pt x="259842" y="17375"/>
                  <a:pt x="264566" y="10769"/>
                  <a:pt x="269291" y="6521"/>
                </a:cubicBezTo>
                <a:cubicBezTo>
                  <a:pt x="274015" y="2274"/>
                  <a:pt x="278740" y="0"/>
                  <a:pt x="283464" y="0"/>
                </a:cubicBezTo>
                <a:cubicBezTo>
                  <a:pt x="288188" y="0"/>
                  <a:pt x="292913" y="2274"/>
                  <a:pt x="297637" y="6521"/>
                </a:cubicBezTo>
                <a:cubicBezTo>
                  <a:pt x="302362" y="10769"/>
                  <a:pt x="307086" y="17375"/>
                  <a:pt x="311810" y="25484"/>
                </a:cubicBezTo>
                <a:cubicBezTo>
                  <a:pt x="316535" y="33594"/>
                  <a:pt x="321259" y="43920"/>
                  <a:pt x="325984" y="55180"/>
                </a:cubicBezTo>
                <a:cubicBezTo>
                  <a:pt x="330708" y="66439"/>
                  <a:pt x="335432" y="79569"/>
                  <a:pt x="340157" y="93042"/>
                </a:cubicBezTo>
                <a:cubicBezTo>
                  <a:pt x="344881" y="106514"/>
                  <a:pt x="349606" y="121363"/>
                  <a:pt x="354330" y="136016"/>
                </a:cubicBezTo>
                <a:cubicBezTo>
                  <a:pt x="359054" y="150669"/>
                  <a:pt x="363779" y="166126"/>
                  <a:pt x="368503" y="180960"/>
                </a:cubicBezTo>
                <a:cubicBezTo>
                  <a:pt x="373228" y="195793"/>
                  <a:pt x="377952" y="210861"/>
                  <a:pt x="382676" y="225016"/>
                </a:cubicBezTo>
                <a:cubicBezTo>
                  <a:pt x="387401" y="239170"/>
                  <a:pt x="392125" y="253057"/>
                  <a:pt x="396850" y="265885"/>
                </a:cubicBezTo>
                <a:cubicBezTo>
                  <a:pt x="401574" y="278713"/>
                  <a:pt x="406298" y="290886"/>
                  <a:pt x="411023" y="301982"/>
                </a:cubicBezTo>
                <a:cubicBezTo>
                  <a:pt x="415747" y="313077"/>
                  <a:pt x="420472" y="323267"/>
                  <a:pt x="425196" y="332456"/>
                </a:cubicBezTo>
                <a:cubicBezTo>
                  <a:pt x="429920" y="341646"/>
                  <a:pt x="434645" y="349814"/>
                  <a:pt x="439369" y="357119"/>
                </a:cubicBezTo>
                <a:cubicBezTo>
                  <a:pt x="444094" y="364425"/>
                  <a:pt x="448818" y="370706"/>
                  <a:pt x="453542" y="376291"/>
                </a:cubicBezTo>
                <a:cubicBezTo>
                  <a:pt x="458267" y="381875"/>
                  <a:pt x="462991" y="386516"/>
                  <a:pt x="467716" y="390626"/>
                </a:cubicBezTo>
                <a:cubicBezTo>
                  <a:pt x="472440" y="394737"/>
                  <a:pt x="477164" y="398036"/>
                  <a:pt x="481889" y="400951"/>
                </a:cubicBezTo>
                <a:cubicBezTo>
                  <a:pt x="486613" y="403867"/>
                  <a:pt x="491338" y="406124"/>
                  <a:pt x="496062" y="408119"/>
                </a:cubicBezTo>
                <a:cubicBezTo>
                  <a:pt x="500786" y="410114"/>
                  <a:pt x="505511" y="411603"/>
                  <a:pt x="510235" y="412920"/>
                </a:cubicBezTo>
                <a:cubicBezTo>
                  <a:pt x="514960" y="414237"/>
                  <a:pt x="519684" y="415183"/>
                  <a:pt x="524408" y="416024"/>
                </a:cubicBezTo>
                <a:cubicBezTo>
                  <a:pt x="529133" y="416864"/>
                  <a:pt x="533857" y="417444"/>
                  <a:pt x="538582" y="417962"/>
                </a:cubicBezTo>
                <a:cubicBezTo>
                  <a:pt x="543306" y="418479"/>
                  <a:pt x="548030" y="418822"/>
                  <a:pt x="552755" y="419131"/>
                </a:cubicBezTo>
                <a:cubicBezTo>
                  <a:pt x="557479" y="419439"/>
                  <a:pt x="564566" y="419698"/>
                  <a:pt x="566928" y="419812"/>
                </a:cubicBezTo>
              </a:path>
            </a:pathLst>
          </a:custGeom>
          <a:ln w="17780">
            <a:solidFill>
              <a:srgbClr val="4E90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114800"/>
            <a:ext cx="768096" cy="0"/>
          </a:xfrm>
          <a:prstGeom prst="line">
            <a:avLst/>
          </a:prstGeom>
          <a:noFill/>
          <a:ln w="12700">
            <a:solidFill>
              <a:srgbClr val="A9CBE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604504" y="3694176"/>
            <a:ext cx="566928" cy="420624"/>
          </a:xfrm>
          <a:custGeom>
            <a:avLst/>
            <a:gdLst/>
            <a:ahLst/>
            <a:cxnLst/>
            <a:rect l="l" t="t" r="r" b="b"/>
            <a:pathLst>
              <a:path w="566928" h="420624">
                <a:moveTo>
                  <a:pt x="0" y="419812"/>
                </a:moveTo>
                <a:cubicBezTo>
                  <a:pt x="2362" y="419698"/>
                  <a:pt x="9449" y="419439"/>
                  <a:pt x="14173" y="419131"/>
                </a:cubicBezTo>
                <a:cubicBezTo>
                  <a:pt x="18898" y="418822"/>
                  <a:pt x="23622" y="418479"/>
                  <a:pt x="28346" y="417962"/>
                </a:cubicBezTo>
                <a:cubicBezTo>
                  <a:pt x="33071" y="417444"/>
                  <a:pt x="37795" y="416864"/>
                  <a:pt x="42520" y="416024"/>
                </a:cubicBezTo>
                <a:cubicBezTo>
                  <a:pt x="47244" y="415183"/>
                  <a:pt x="51968" y="414237"/>
                  <a:pt x="56693" y="412920"/>
                </a:cubicBezTo>
                <a:cubicBezTo>
                  <a:pt x="61417" y="411603"/>
                  <a:pt x="66142" y="410114"/>
                  <a:pt x="70866" y="408119"/>
                </a:cubicBezTo>
                <a:cubicBezTo>
                  <a:pt x="75590" y="406124"/>
                  <a:pt x="80315" y="403867"/>
                  <a:pt x="85039" y="400951"/>
                </a:cubicBezTo>
                <a:cubicBezTo>
                  <a:pt x="89764" y="398036"/>
                  <a:pt x="94488" y="394737"/>
                  <a:pt x="99212" y="390626"/>
                </a:cubicBezTo>
                <a:cubicBezTo>
                  <a:pt x="103937" y="386516"/>
                  <a:pt x="108661" y="381875"/>
                  <a:pt x="113386" y="376291"/>
                </a:cubicBezTo>
                <a:cubicBezTo>
                  <a:pt x="118110" y="370706"/>
                  <a:pt x="122834" y="364425"/>
                  <a:pt x="127559" y="357119"/>
                </a:cubicBezTo>
                <a:cubicBezTo>
                  <a:pt x="132283" y="349814"/>
                  <a:pt x="137008" y="341646"/>
                  <a:pt x="141732" y="332456"/>
                </a:cubicBezTo>
                <a:cubicBezTo>
                  <a:pt x="146456" y="323267"/>
                  <a:pt x="151181" y="313077"/>
                  <a:pt x="155905" y="301982"/>
                </a:cubicBezTo>
                <a:cubicBezTo>
                  <a:pt x="160630" y="290886"/>
                  <a:pt x="165354" y="278713"/>
                  <a:pt x="170078" y="265885"/>
                </a:cubicBezTo>
                <a:cubicBezTo>
                  <a:pt x="174803" y="253057"/>
                  <a:pt x="179527" y="239170"/>
                  <a:pt x="184252" y="225016"/>
                </a:cubicBezTo>
                <a:cubicBezTo>
                  <a:pt x="188976" y="210861"/>
                  <a:pt x="193700" y="195793"/>
                  <a:pt x="198425" y="180960"/>
                </a:cubicBezTo>
                <a:cubicBezTo>
                  <a:pt x="203149" y="166126"/>
                  <a:pt x="207874" y="150669"/>
                  <a:pt x="212598" y="136016"/>
                </a:cubicBezTo>
                <a:cubicBezTo>
                  <a:pt x="217322" y="121363"/>
                  <a:pt x="222047" y="106514"/>
                  <a:pt x="226771" y="93042"/>
                </a:cubicBezTo>
                <a:cubicBezTo>
                  <a:pt x="231496" y="79569"/>
                  <a:pt x="236220" y="66439"/>
                  <a:pt x="240944" y="55180"/>
                </a:cubicBezTo>
                <a:cubicBezTo>
                  <a:pt x="245669" y="43920"/>
                  <a:pt x="250393" y="33594"/>
                  <a:pt x="255118" y="25484"/>
                </a:cubicBezTo>
                <a:cubicBezTo>
                  <a:pt x="259842" y="17375"/>
                  <a:pt x="264566" y="10769"/>
                  <a:pt x="269291" y="6521"/>
                </a:cubicBezTo>
                <a:cubicBezTo>
                  <a:pt x="274015" y="2274"/>
                  <a:pt x="278740" y="0"/>
                  <a:pt x="283464" y="0"/>
                </a:cubicBezTo>
                <a:cubicBezTo>
                  <a:pt x="288188" y="0"/>
                  <a:pt x="292913" y="2274"/>
                  <a:pt x="297637" y="6521"/>
                </a:cubicBezTo>
                <a:cubicBezTo>
                  <a:pt x="302362" y="10769"/>
                  <a:pt x="307086" y="17375"/>
                  <a:pt x="311810" y="25484"/>
                </a:cubicBezTo>
                <a:cubicBezTo>
                  <a:pt x="316535" y="33594"/>
                  <a:pt x="321259" y="43920"/>
                  <a:pt x="325984" y="55180"/>
                </a:cubicBezTo>
                <a:cubicBezTo>
                  <a:pt x="330708" y="66439"/>
                  <a:pt x="335432" y="79569"/>
                  <a:pt x="340157" y="93042"/>
                </a:cubicBezTo>
                <a:cubicBezTo>
                  <a:pt x="344881" y="106514"/>
                  <a:pt x="349606" y="121363"/>
                  <a:pt x="354330" y="136016"/>
                </a:cubicBezTo>
                <a:cubicBezTo>
                  <a:pt x="359054" y="150669"/>
                  <a:pt x="363779" y="166126"/>
                  <a:pt x="368503" y="180960"/>
                </a:cubicBezTo>
                <a:cubicBezTo>
                  <a:pt x="373228" y="195793"/>
                  <a:pt x="377952" y="210861"/>
                  <a:pt x="382676" y="225016"/>
                </a:cubicBezTo>
                <a:cubicBezTo>
                  <a:pt x="387401" y="239170"/>
                  <a:pt x="392125" y="253057"/>
                  <a:pt x="396850" y="265885"/>
                </a:cubicBezTo>
                <a:cubicBezTo>
                  <a:pt x="401574" y="278713"/>
                  <a:pt x="406298" y="290886"/>
                  <a:pt x="411023" y="301982"/>
                </a:cubicBezTo>
                <a:cubicBezTo>
                  <a:pt x="415747" y="313077"/>
                  <a:pt x="420472" y="323267"/>
                  <a:pt x="425196" y="332456"/>
                </a:cubicBezTo>
                <a:cubicBezTo>
                  <a:pt x="429920" y="341646"/>
                  <a:pt x="434645" y="349814"/>
                  <a:pt x="439369" y="357119"/>
                </a:cubicBezTo>
                <a:cubicBezTo>
                  <a:pt x="444094" y="364425"/>
                  <a:pt x="448818" y="370706"/>
                  <a:pt x="453542" y="376291"/>
                </a:cubicBezTo>
                <a:cubicBezTo>
                  <a:pt x="458267" y="381875"/>
                  <a:pt x="462991" y="386516"/>
                  <a:pt x="467716" y="390626"/>
                </a:cubicBezTo>
                <a:cubicBezTo>
                  <a:pt x="472440" y="394737"/>
                  <a:pt x="477164" y="398036"/>
                  <a:pt x="481889" y="400951"/>
                </a:cubicBezTo>
                <a:cubicBezTo>
                  <a:pt x="486613" y="403867"/>
                  <a:pt x="491338" y="406124"/>
                  <a:pt x="496062" y="408119"/>
                </a:cubicBezTo>
                <a:cubicBezTo>
                  <a:pt x="500786" y="410114"/>
                  <a:pt x="505511" y="411603"/>
                  <a:pt x="510235" y="412920"/>
                </a:cubicBezTo>
                <a:cubicBezTo>
                  <a:pt x="514960" y="414237"/>
                  <a:pt x="519684" y="415183"/>
                  <a:pt x="524408" y="416024"/>
                </a:cubicBezTo>
                <a:cubicBezTo>
                  <a:pt x="529133" y="416864"/>
                  <a:pt x="533857" y="417444"/>
                  <a:pt x="538582" y="417962"/>
                </a:cubicBezTo>
                <a:cubicBezTo>
                  <a:pt x="543306" y="418479"/>
                  <a:pt x="548030" y="418822"/>
                  <a:pt x="552755" y="419131"/>
                </a:cubicBezTo>
                <a:cubicBezTo>
                  <a:pt x="557479" y="419439"/>
                  <a:pt x="564566" y="419563"/>
                  <a:pt x="566928" y="419812"/>
                </a:cubicBezTo>
                <a:cubicBezTo>
                  <a:pt x="569290" y="420061"/>
                  <a:pt x="661416" y="420489"/>
                  <a:pt x="566928" y="420624"/>
                </a:cubicBezTo>
                <a:cubicBezTo>
                  <a:pt x="472440" y="420759"/>
                  <a:pt x="94488" y="420624"/>
                  <a:pt x="0" y="420624"/>
                </a:cubicBezTo>
                <a:close/>
              </a:path>
            </a:pathLst>
          </a:custGeom>
          <a:solidFill>
            <a:srgbClr val="DCE9F6"/>
          </a:solidFill>
          <a:ln w="6350">
            <a:solidFill>
              <a:srgbClr val="DCE9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04504" y="3694176"/>
            <a:ext cx="566928" cy="419812"/>
          </a:xfrm>
          <a:custGeom>
            <a:avLst/>
            <a:gdLst/>
            <a:ahLst/>
            <a:cxnLst/>
            <a:rect l="l" t="t" r="r" b="b"/>
            <a:pathLst>
              <a:path w="566928" h="419812">
                <a:moveTo>
                  <a:pt x="0" y="419812"/>
                </a:moveTo>
                <a:cubicBezTo>
                  <a:pt x="2362" y="419698"/>
                  <a:pt x="9449" y="419439"/>
                  <a:pt x="14173" y="419131"/>
                </a:cubicBezTo>
                <a:cubicBezTo>
                  <a:pt x="18898" y="418822"/>
                  <a:pt x="23622" y="418479"/>
                  <a:pt x="28346" y="417962"/>
                </a:cubicBezTo>
                <a:cubicBezTo>
                  <a:pt x="33071" y="417444"/>
                  <a:pt x="37795" y="416864"/>
                  <a:pt x="42520" y="416024"/>
                </a:cubicBezTo>
                <a:cubicBezTo>
                  <a:pt x="47244" y="415183"/>
                  <a:pt x="51968" y="414237"/>
                  <a:pt x="56693" y="412920"/>
                </a:cubicBezTo>
                <a:cubicBezTo>
                  <a:pt x="61417" y="411603"/>
                  <a:pt x="66142" y="410114"/>
                  <a:pt x="70866" y="408119"/>
                </a:cubicBezTo>
                <a:cubicBezTo>
                  <a:pt x="75590" y="406124"/>
                  <a:pt x="80315" y="403867"/>
                  <a:pt x="85039" y="400951"/>
                </a:cubicBezTo>
                <a:cubicBezTo>
                  <a:pt x="89764" y="398036"/>
                  <a:pt x="94488" y="394737"/>
                  <a:pt x="99212" y="390626"/>
                </a:cubicBezTo>
                <a:cubicBezTo>
                  <a:pt x="103937" y="386516"/>
                  <a:pt x="108661" y="381875"/>
                  <a:pt x="113386" y="376291"/>
                </a:cubicBezTo>
                <a:cubicBezTo>
                  <a:pt x="118110" y="370706"/>
                  <a:pt x="122834" y="364425"/>
                  <a:pt x="127559" y="357119"/>
                </a:cubicBezTo>
                <a:cubicBezTo>
                  <a:pt x="132283" y="349814"/>
                  <a:pt x="137008" y="341646"/>
                  <a:pt x="141732" y="332456"/>
                </a:cubicBezTo>
                <a:cubicBezTo>
                  <a:pt x="146456" y="323267"/>
                  <a:pt x="151181" y="313077"/>
                  <a:pt x="155905" y="301982"/>
                </a:cubicBezTo>
                <a:cubicBezTo>
                  <a:pt x="160630" y="290886"/>
                  <a:pt x="165354" y="278713"/>
                  <a:pt x="170078" y="265885"/>
                </a:cubicBezTo>
                <a:cubicBezTo>
                  <a:pt x="174803" y="253057"/>
                  <a:pt x="179527" y="239170"/>
                  <a:pt x="184252" y="225016"/>
                </a:cubicBezTo>
                <a:cubicBezTo>
                  <a:pt x="188976" y="210861"/>
                  <a:pt x="193700" y="195793"/>
                  <a:pt x="198425" y="180960"/>
                </a:cubicBezTo>
                <a:cubicBezTo>
                  <a:pt x="203149" y="166126"/>
                  <a:pt x="207874" y="150669"/>
                  <a:pt x="212598" y="136016"/>
                </a:cubicBezTo>
                <a:cubicBezTo>
                  <a:pt x="217322" y="121363"/>
                  <a:pt x="222047" y="106514"/>
                  <a:pt x="226771" y="93042"/>
                </a:cubicBezTo>
                <a:cubicBezTo>
                  <a:pt x="231496" y="79569"/>
                  <a:pt x="236220" y="66439"/>
                  <a:pt x="240944" y="55180"/>
                </a:cubicBezTo>
                <a:cubicBezTo>
                  <a:pt x="245669" y="43920"/>
                  <a:pt x="250393" y="33594"/>
                  <a:pt x="255118" y="25484"/>
                </a:cubicBezTo>
                <a:cubicBezTo>
                  <a:pt x="259842" y="17375"/>
                  <a:pt x="264566" y="10769"/>
                  <a:pt x="269291" y="6521"/>
                </a:cubicBezTo>
                <a:cubicBezTo>
                  <a:pt x="274015" y="2274"/>
                  <a:pt x="278740" y="0"/>
                  <a:pt x="283464" y="0"/>
                </a:cubicBezTo>
                <a:cubicBezTo>
                  <a:pt x="288188" y="0"/>
                  <a:pt x="292913" y="2274"/>
                  <a:pt x="297637" y="6521"/>
                </a:cubicBezTo>
                <a:cubicBezTo>
                  <a:pt x="302362" y="10769"/>
                  <a:pt x="307086" y="17375"/>
                  <a:pt x="311810" y="25484"/>
                </a:cubicBezTo>
                <a:cubicBezTo>
                  <a:pt x="316535" y="33594"/>
                  <a:pt x="321259" y="43920"/>
                  <a:pt x="325984" y="55180"/>
                </a:cubicBezTo>
                <a:cubicBezTo>
                  <a:pt x="330708" y="66439"/>
                  <a:pt x="335432" y="79569"/>
                  <a:pt x="340157" y="93042"/>
                </a:cubicBezTo>
                <a:cubicBezTo>
                  <a:pt x="344881" y="106514"/>
                  <a:pt x="349606" y="121363"/>
                  <a:pt x="354330" y="136016"/>
                </a:cubicBezTo>
                <a:cubicBezTo>
                  <a:pt x="359054" y="150669"/>
                  <a:pt x="363779" y="166126"/>
                  <a:pt x="368503" y="180960"/>
                </a:cubicBezTo>
                <a:cubicBezTo>
                  <a:pt x="373228" y="195793"/>
                  <a:pt x="377952" y="210861"/>
                  <a:pt x="382676" y="225016"/>
                </a:cubicBezTo>
                <a:cubicBezTo>
                  <a:pt x="387401" y="239170"/>
                  <a:pt x="392125" y="253057"/>
                  <a:pt x="396850" y="265885"/>
                </a:cubicBezTo>
                <a:cubicBezTo>
                  <a:pt x="401574" y="278713"/>
                  <a:pt x="406298" y="290886"/>
                  <a:pt x="411023" y="301982"/>
                </a:cubicBezTo>
                <a:cubicBezTo>
                  <a:pt x="415747" y="313077"/>
                  <a:pt x="420472" y="323267"/>
                  <a:pt x="425196" y="332456"/>
                </a:cubicBezTo>
                <a:cubicBezTo>
                  <a:pt x="429920" y="341646"/>
                  <a:pt x="434645" y="349814"/>
                  <a:pt x="439369" y="357119"/>
                </a:cubicBezTo>
                <a:cubicBezTo>
                  <a:pt x="444094" y="364425"/>
                  <a:pt x="448818" y="370706"/>
                  <a:pt x="453542" y="376291"/>
                </a:cubicBezTo>
                <a:cubicBezTo>
                  <a:pt x="458267" y="381875"/>
                  <a:pt x="462991" y="386516"/>
                  <a:pt x="467716" y="390626"/>
                </a:cubicBezTo>
                <a:cubicBezTo>
                  <a:pt x="472440" y="394737"/>
                  <a:pt x="477164" y="398036"/>
                  <a:pt x="481889" y="400951"/>
                </a:cubicBezTo>
                <a:cubicBezTo>
                  <a:pt x="486613" y="403867"/>
                  <a:pt x="491338" y="406124"/>
                  <a:pt x="496062" y="408119"/>
                </a:cubicBezTo>
                <a:cubicBezTo>
                  <a:pt x="500786" y="410114"/>
                  <a:pt x="505511" y="411603"/>
                  <a:pt x="510235" y="412920"/>
                </a:cubicBezTo>
                <a:cubicBezTo>
                  <a:pt x="514960" y="414237"/>
                  <a:pt x="519684" y="415183"/>
                  <a:pt x="524408" y="416024"/>
                </a:cubicBezTo>
                <a:cubicBezTo>
                  <a:pt x="529133" y="416864"/>
                  <a:pt x="533857" y="417444"/>
                  <a:pt x="538582" y="417962"/>
                </a:cubicBezTo>
                <a:cubicBezTo>
                  <a:pt x="543306" y="418479"/>
                  <a:pt x="548030" y="418822"/>
                  <a:pt x="552755" y="419131"/>
                </a:cubicBezTo>
                <a:cubicBezTo>
                  <a:pt x="557479" y="419439"/>
                  <a:pt x="564566" y="419698"/>
                  <a:pt x="566928" y="419812"/>
                </a:cubicBezTo>
              </a:path>
            </a:pathLst>
          </a:custGeom>
          <a:ln w="17780">
            <a:solidFill>
              <a:srgbClr val="4E90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08008" y="3703320"/>
            <a:ext cx="768096" cy="0"/>
          </a:xfrm>
          <a:prstGeom prst="line">
            <a:avLst/>
          </a:prstGeom>
          <a:noFill/>
          <a:ln w="12700">
            <a:solidFill>
              <a:srgbClr val="A9CBE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308592" y="3282696"/>
            <a:ext cx="566928" cy="420624"/>
          </a:xfrm>
          <a:custGeom>
            <a:avLst/>
            <a:gdLst/>
            <a:ahLst/>
            <a:cxnLst/>
            <a:rect l="l" t="t" r="r" b="b"/>
            <a:pathLst>
              <a:path w="566928" h="420624">
                <a:moveTo>
                  <a:pt x="0" y="419812"/>
                </a:moveTo>
                <a:cubicBezTo>
                  <a:pt x="2362" y="419698"/>
                  <a:pt x="9449" y="419439"/>
                  <a:pt x="14173" y="419131"/>
                </a:cubicBezTo>
                <a:cubicBezTo>
                  <a:pt x="18898" y="418822"/>
                  <a:pt x="23622" y="418479"/>
                  <a:pt x="28346" y="417962"/>
                </a:cubicBezTo>
                <a:cubicBezTo>
                  <a:pt x="33071" y="417444"/>
                  <a:pt x="37795" y="416864"/>
                  <a:pt x="42520" y="416024"/>
                </a:cubicBezTo>
                <a:cubicBezTo>
                  <a:pt x="47244" y="415183"/>
                  <a:pt x="51968" y="414237"/>
                  <a:pt x="56693" y="412920"/>
                </a:cubicBezTo>
                <a:cubicBezTo>
                  <a:pt x="61417" y="411603"/>
                  <a:pt x="66142" y="410114"/>
                  <a:pt x="70866" y="408119"/>
                </a:cubicBezTo>
                <a:cubicBezTo>
                  <a:pt x="75590" y="406124"/>
                  <a:pt x="80315" y="403867"/>
                  <a:pt x="85039" y="400951"/>
                </a:cubicBezTo>
                <a:cubicBezTo>
                  <a:pt x="89764" y="398036"/>
                  <a:pt x="94488" y="394737"/>
                  <a:pt x="99212" y="390626"/>
                </a:cubicBezTo>
                <a:cubicBezTo>
                  <a:pt x="103937" y="386516"/>
                  <a:pt x="108661" y="381875"/>
                  <a:pt x="113386" y="376291"/>
                </a:cubicBezTo>
                <a:cubicBezTo>
                  <a:pt x="118110" y="370706"/>
                  <a:pt x="122834" y="364425"/>
                  <a:pt x="127559" y="357119"/>
                </a:cubicBezTo>
                <a:cubicBezTo>
                  <a:pt x="132283" y="349814"/>
                  <a:pt x="137008" y="341646"/>
                  <a:pt x="141732" y="332456"/>
                </a:cubicBezTo>
                <a:cubicBezTo>
                  <a:pt x="146456" y="323267"/>
                  <a:pt x="151181" y="313077"/>
                  <a:pt x="155905" y="301982"/>
                </a:cubicBezTo>
                <a:cubicBezTo>
                  <a:pt x="160630" y="290886"/>
                  <a:pt x="165354" y="278713"/>
                  <a:pt x="170078" y="265885"/>
                </a:cubicBezTo>
                <a:cubicBezTo>
                  <a:pt x="174803" y="253057"/>
                  <a:pt x="179527" y="239170"/>
                  <a:pt x="184252" y="225016"/>
                </a:cubicBezTo>
                <a:cubicBezTo>
                  <a:pt x="188976" y="210861"/>
                  <a:pt x="193700" y="195793"/>
                  <a:pt x="198425" y="180960"/>
                </a:cubicBezTo>
                <a:cubicBezTo>
                  <a:pt x="203149" y="166126"/>
                  <a:pt x="207874" y="150669"/>
                  <a:pt x="212598" y="136016"/>
                </a:cubicBezTo>
                <a:cubicBezTo>
                  <a:pt x="217322" y="121363"/>
                  <a:pt x="222047" y="106514"/>
                  <a:pt x="226771" y="93042"/>
                </a:cubicBezTo>
                <a:cubicBezTo>
                  <a:pt x="231496" y="79569"/>
                  <a:pt x="236220" y="66439"/>
                  <a:pt x="240944" y="55180"/>
                </a:cubicBezTo>
                <a:cubicBezTo>
                  <a:pt x="245669" y="43920"/>
                  <a:pt x="250393" y="33594"/>
                  <a:pt x="255118" y="25484"/>
                </a:cubicBezTo>
                <a:cubicBezTo>
                  <a:pt x="259842" y="17375"/>
                  <a:pt x="264566" y="10769"/>
                  <a:pt x="269291" y="6521"/>
                </a:cubicBezTo>
                <a:cubicBezTo>
                  <a:pt x="274015" y="2274"/>
                  <a:pt x="278740" y="0"/>
                  <a:pt x="283464" y="0"/>
                </a:cubicBezTo>
                <a:cubicBezTo>
                  <a:pt x="288188" y="0"/>
                  <a:pt x="292913" y="2274"/>
                  <a:pt x="297637" y="6521"/>
                </a:cubicBezTo>
                <a:cubicBezTo>
                  <a:pt x="302362" y="10769"/>
                  <a:pt x="307086" y="17375"/>
                  <a:pt x="311810" y="25484"/>
                </a:cubicBezTo>
                <a:cubicBezTo>
                  <a:pt x="316535" y="33594"/>
                  <a:pt x="321259" y="43920"/>
                  <a:pt x="325984" y="55180"/>
                </a:cubicBezTo>
                <a:cubicBezTo>
                  <a:pt x="330708" y="66439"/>
                  <a:pt x="335432" y="79569"/>
                  <a:pt x="340157" y="93042"/>
                </a:cubicBezTo>
                <a:cubicBezTo>
                  <a:pt x="344881" y="106514"/>
                  <a:pt x="349606" y="121363"/>
                  <a:pt x="354330" y="136016"/>
                </a:cubicBezTo>
                <a:cubicBezTo>
                  <a:pt x="359054" y="150669"/>
                  <a:pt x="363779" y="166126"/>
                  <a:pt x="368503" y="180960"/>
                </a:cubicBezTo>
                <a:cubicBezTo>
                  <a:pt x="373228" y="195793"/>
                  <a:pt x="377952" y="210861"/>
                  <a:pt x="382676" y="225016"/>
                </a:cubicBezTo>
                <a:cubicBezTo>
                  <a:pt x="387401" y="239170"/>
                  <a:pt x="392125" y="253057"/>
                  <a:pt x="396850" y="265885"/>
                </a:cubicBezTo>
                <a:cubicBezTo>
                  <a:pt x="401574" y="278713"/>
                  <a:pt x="406298" y="290886"/>
                  <a:pt x="411023" y="301982"/>
                </a:cubicBezTo>
                <a:cubicBezTo>
                  <a:pt x="415747" y="313077"/>
                  <a:pt x="420472" y="323267"/>
                  <a:pt x="425196" y="332456"/>
                </a:cubicBezTo>
                <a:cubicBezTo>
                  <a:pt x="429920" y="341646"/>
                  <a:pt x="434645" y="349814"/>
                  <a:pt x="439369" y="357119"/>
                </a:cubicBezTo>
                <a:cubicBezTo>
                  <a:pt x="444094" y="364425"/>
                  <a:pt x="448818" y="370706"/>
                  <a:pt x="453542" y="376291"/>
                </a:cubicBezTo>
                <a:cubicBezTo>
                  <a:pt x="458267" y="381875"/>
                  <a:pt x="462991" y="386516"/>
                  <a:pt x="467716" y="390626"/>
                </a:cubicBezTo>
                <a:cubicBezTo>
                  <a:pt x="472440" y="394737"/>
                  <a:pt x="477164" y="398036"/>
                  <a:pt x="481889" y="400951"/>
                </a:cubicBezTo>
                <a:cubicBezTo>
                  <a:pt x="486613" y="403867"/>
                  <a:pt x="491338" y="406124"/>
                  <a:pt x="496062" y="408119"/>
                </a:cubicBezTo>
                <a:cubicBezTo>
                  <a:pt x="500786" y="410114"/>
                  <a:pt x="505511" y="411603"/>
                  <a:pt x="510235" y="412920"/>
                </a:cubicBezTo>
                <a:cubicBezTo>
                  <a:pt x="514960" y="414237"/>
                  <a:pt x="519684" y="415183"/>
                  <a:pt x="524408" y="416024"/>
                </a:cubicBezTo>
                <a:cubicBezTo>
                  <a:pt x="529133" y="416864"/>
                  <a:pt x="533857" y="417444"/>
                  <a:pt x="538582" y="417962"/>
                </a:cubicBezTo>
                <a:cubicBezTo>
                  <a:pt x="543306" y="418479"/>
                  <a:pt x="548030" y="418822"/>
                  <a:pt x="552755" y="419131"/>
                </a:cubicBezTo>
                <a:cubicBezTo>
                  <a:pt x="557479" y="419439"/>
                  <a:pt x="564566" y="419563"/>
                  <a:pt x="566928" y="419812"/>
                </a:cubicBezTo>
                <a:cubicBezTo>
                  <a:pt x="569290" y="420061"/>
                  <a:pt x="661416" y="420489"/>
                  <a:pt x="566928" y="420624"/>
                </a:cubicBezTo>
                <a:cubicBezTo>
                  <a:pt x="472440" y="420759"/>
                  <a:pt x="94488" y="420624"/>
                  <a:pt x="0" y="420624"/>
                </a:cubicBezTo>
                <a:close/>
              </a:path>
            </a:pathLst>
          </a:custGeom>
          <a:solidFill>
            <a:srgbClr val="DCE9F6"/>
          </a:solidFill>
          <a:ln w="6350">
            <a:solidFill>
              <a:srgbClr val="DCE9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08592" y="3282696"/>
            <a:ext cx="566928" cy="419812"/>
          </a:xfrm>
          <a:custGeom>
            <a:avLst/>
            <a:gdLst/>
            <a:ahLst/>
            <a:cxnLst/>
            <a:rect l="l" t="t" r="r" b="b"/>
            <a:pathLst>
              <a:path w="566928" h="419812">
                <a:moveTo>
                  <a:pt x="0" y="419812"/>
                </a:moveTo>
                <a:cubicBezTo>
                  <a:pt x="2362" y="419698"/>
                  <a:pt x="9449" y="419439"/>
                  <a:pt x="14173" y="419131"/>
                </a:cubicBezTo>
                <a:cubicBezTo>
                  <a:pt x="18898" y="418822"/>
                  <a:pt x="23622" y="418479"/>
                  <a:pt x="28346" y="417962"/>
                </a:cubicBezTo>
                <a:cubicBezTo>
                  <a:pt x="33071" y="417444"/>
                  <a:pt x="37795" y="416864"/>
                  <a:pt x="42520" y="416024"/>
                </a:cubicBezTo>
                <a:cubicBezTo>
                  <a:pt x="47244" y="415183"/>
                  <a:pt x="51968" y="414237"/>
                  <a:pt x="56693" y="412920"/>
                </a:cubicBezTo>
                <a:cubicBezTo>
                  <a:pt x="61417" y="411603"/>
                  <a:pt x="66142" y="410114"/>
                  <a:pt x="70866" y="408119"/>
                </a:cubicBezTo>
                <a:cubicBezTo>
                  <a:pt x="75590" y="406124"/>
                  <a:pt x="80315" y="403867"/>
                  <a:pt x="85039" y="400951"/>
                </a:cubicBezTo>
                <a:cubicBezTo>
                  <a:pt x="89764" y="398036"/>
                  <a:pt x="94488" y="394737"/>
                  <a:pt x="99212" y="390626"/>
                </a:cubicBezTo>
                <a:cubicBezTo>
                  <a:pt x="103937" y="386516"/>
                  <a:pt x="108661" y="381875"/>
                  <a:pt x="113386" y="376291"/>
                </a:cubicBezTo>
                <a:cubicBezTo>
                  <a:pt x="118110" y="370706"/>
                  <a:pt x="122834" y="364425"/>
                  <a:pt x="127559" y="357119"/>
                </a:cubicBezTo>
                <a:cubicBezTo>
                  <a:pt x="132283" y="349814"/>
                  <a:pt x="137008" y="341646"/>
                  <a:pt x="141732" y="332456"/>
                </a:cubicBezTo>
                <a:cubicBezTo>
                  <a:pt x="146456" y="323267"/>
                  <a:pt x="151181" y="313077"/>
                  <a:pt x="155905" y="301982"/>
                </a:cubicBezTo>
                <a:cubicBezTo>
                  <a:pt x="160630" y="290886"/>
                  <a:pt x="165354" y="278713"/>
                  <a:pt x="170078" y="265885"/>
                </a:cubicBezTo>
                <a:cubicBezTo>
                  <a:pt x="174803" y="253057"/>
                  <a:pt x="179527" y="239170"/>
                  <a:pt x="184252" y="225016"/>
                </a:cubicBezTo>
                <a:cubicBezTo>
                  <a:pt x="188976" y="210861"/>
                  <a:pt x="193700" y="195793"/>
                  <a:pt x="198425" y="180960"/>
                </a:cubicBezTo>
                <a:cubicBezTo>
                  <a:pt x="203149" y="166126"/>
                  <a:pt x="207874" y="150669"/>
                  <a:pt x="212598" y="136016"/>
                </a:cubicBezTo>
                <a:cubicBezTo>
                  <a:pt x="217322" y="121363"/>
                  <a:pt x="222047" y="106514"/>
                  <a:pt x="226771" y="93042"/>
                </a:cubicBezTo>
                <a:cubicBezTo>
                  <a:pt x="231496" y="79569"/>
                  <a:pt x="236220" y="66439"/>
                  <a:pt x="240944" y="55180"/>
                </a:cubicBezTo>
                <a:cubicBezTo>
                  <a:pt x="245669" y="43920"/>
                  <a:pt x="250393" y="33594"/>
                  <a:pt x="255118" y="25484"/>
                </a:cubicBezTo>
                <a:cubicBezTo>
                  <a:pt x="259842" y="17375"/>
                  <a:pt x="264566" y="10769"/>
                  <a:pt x="269291" y="6521"/>
                </a:cubicBezTo>
                <a:cubicBezTo>
                  <a:pt x="274015" y="2274"/>
                  <a:pt x="278740" y="0"/>
                  <a:pt x="283464" y="0"/>
                </a:cubicBezTo>
                <a:cubicBezTo>
                  <a:pt x="288188" y="0"/>
                  <a:pt x="292913" y="2274"/>
                  <a:pt x="297637" y="6521"/>
                </a:cubicBezTo>
                <a:cubicBezTo>
                  <a:pt x="302362" y="10769"/>
                  <a:pt x="307086" y="17375"/>
                  <a:pt x="311810" y="25484"/>
                </a:cubicBezTo>
                <a:cubicBezTo>
                  <a:pt x="316535" y="33594"/>
                  <a:pt x="321259" y="43920"/>
                  <a:pt x="325984" y="55180"/>
                </a:cubicBezTo>
                <a:cubicBezTo>
                  <a:pt x="330708" y="66439"/>
                  <a:pt x="335432" y="79569"/>
                  <a:pt x="340157" y="93042"/>
                </a:cubicBezTo>
                <a:cubicBezTo>
                  <a:pt x="344881" y="106514"/>
                  <a:pt x="349606" y="121363"/>
                  <a:pt x="354330" y="136016"/>
                </a:cubicBezTo>
                <a:cubicBezTo>
                  <a:pt x="359054" y="150669"/>
                  <a:pt x="363779" y="166126"/>
                  <a:pt x="368503" y="180960"/>
                </a:cubicBezTo>
                <a:cubicBezTo>
                  <a:pt x="373228" y="195793"/>
                  <a:pt x="377952" y="210861"/>
                  <a:pt x="382676" y="225016"/>
                </a:cubicBezTo>
                <a:cubicBezTo>
                  <a:pt x="387401" y="239170"/>
                  <a:pt x="392125" y="253057"/>
                  <a:pt x="396850" y="265885"/>
                </a:cubicBezTo>
                <a:cubicBezTo>
                  <a:pt x="401574" y="278713"/>
                  <a:pt x="406298" y="290886"/>
                  <a:pt x="411023" y="301982"/>
                </a:cubicBezTo>
                <a:cubicBezTo>
                  <a:pt x="415747" y="313077"/>
                  <a:pt x="420472" y="323267"/>
                  <a:pt x="425196" y="332456"/>
                </a:cubicBezTo>
                <a:cubicBezTo>
                  <a:pt x="429920" y="341646"/>
                  <a:pt x="434645" y="349814"/>
                  <a:pt x="439369" y="357119"/>
                </a:cubicBezTo>
                <a:cubicBezTo>
                  <a:pt x="444094" y="364425"/>
                  <a:pt x="448818" y="370706"/>
                  <a:pt x="453542" y="376291"/>
                </a:cubicBezTo>
                <a:cubicBezTo>
                  <a:pt x="458267" y="381875"/>
                  <a:pt x="462991" y="386516"/>
                  <a:pt x="467716" y="390626"/>
                </a:cubicBezTo>
                <a:cubicBezTo>
                  <a:pt x="472440" y="394737"/>
                  <a:pt x="477164" y="398036"/>
                  <a:pt x="481889" y="400951"/>
                </a:cubicBezTo>
                <a:cubicBezTo>
                  <a:pt x="486613" y="403867"/>
                  <a:pt x="491338" y="406124"/>
                  <a:pt x="496062" y="408119"/>
                </a:cubicBezTo>
                <a:cubicBezTo>
                  <a:pt x="500786" y="410114"/>
                  <a:pt x="505511" y="411603"/>
                  <a:pt x="510235" y="412920"/>
                </a:cubicBezTo>
                <a:cubicBezTo>
                  <a:pt x="514960" y="414237"/>
                  <a:pt x="519684" y="415183"/>
                  <a:pt x="524408" y="416024"/>
                </a:cubicBezTo>
                <a:cubicBezTo>
                  <a:pt x="529133" y="416864"/>
                  <a:pt x="533857" y="417444"/>
                  <a:pt x="538582" y="417962"/>
                </a:cubicBezTo>
                <a:cubicBezTo>
                  <a:pt x="543306" y="418479"/>
                  <a:pt x="548030" y="418822"/>
                  <a:pt x="552755" y="419131"/>
                </a:cubicBezTo>
                <a:cubicBezTo>
                  <a:pt x="557479" y="419439"/>
                  <a:pt x="564566" y="419698"/>
                  <a:pt x="566928" y="419812"/>
                </a:cubicBezTo>
              </a:path>
            </a:pathLst>
          </a:custGeom>
          <a:ln w="17780">
            <a:solidFill>
              <a:srgbClr val="4E90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12096" y="3291840"/>
            <a:ext cx="768096" cy="0"/>
          </a:xfrm>
          <a:prstGeom prst="line">
            <a:avLst/>
          </a:prstGeom>
          <a:noFill/>
          <a:ln w="12700">
            <a:solidFill>
              <a:srgbClr val="A9CBE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012680" y="2871216"/>
            <a:ext cx="566928" cy="420624"/>
          </a:xfrm>
          <a:custGeom>
            <a:avLst/>
            <a:gdLst/>
            <a:ahLst/>
            <a:cxnLst/>
            <a:rect l="l" t="t" r="r" b="b"/>
            <a:pathLst>
              <a:path w="566928" h="420624">
                <a:moveTo>
                  <a:pt x="0" y="419812"/>
                </a:moveTo>
                <a:cubicBezTo>
                  <a:pt x="2362" y="419698"/>
                  <a:pt x="9449" y="419439"/>
                  <a:pt x="14173" y="419131"/>
                </a:cubicBezTo>
                <a:cubicBezTo>
                  <a:pt x="18898" y="418822"/>
                  <a:pt x="23622" y="418479"/>
                  <a:pt x="28346" y="417962"/>
                </a:cubicBezTo>
                <a:cubicBezTo>
                  <a:pt x="33071" y="417444"/>
                  <a:pt x="37795" y="416864"/>
                  <a:pt x="42520" y="416024"/>
                </a:cubicBezTo>
                <a:cubicBezTo>
                  <a:pt x="47244" y="415183"/>
                  <a:pt x="51968" y="414237"/>
                  <a:pt x="56693" y="412920"/>
                </a:cubicBezTo>
                <a:cubicBezTo>
                  <a:pt x="61417" y="411603"/>
                  <a:pt x="66142" y="410114"/>
                  <a:pt x="70866" y="408119"/>
                </a:cubicBezTo>
                <a:cubicBezTo>
                  <a:pt x="75590" y="406124"/>
                  <a:pt x="80315" y="403867"/>
                  <a:pt x="85039" y="400951"/>
                </a:cubicBezTo>
                <a:cubicBezTo>
                  <a:pt x="89764" y="398036"/>
                  <a:pt x="94488" y="394737"/>
                  <a:pt x="99212" y="390626"/>
                </a:cubicBezTo>
                <a:cubicBezTo>
                  <a:pt x="103937" y="386516"/>
                  <a:pt x="108661" y="381875"/>
                  <a:pt x="113386" y="376291"/>
                </a:cubicBezTo>
                <a:cubicBezTo>
                  <a:pt x="118110" y="370706"/>
                  <a:pt x="122834" y="364425"/>
                  <a:pt x="127559" y="357119"/>
                </a:cubicBezTo>
                <a:cubicBezTo>
                  <a:pt x="132283" y="349814"/>
                  <a:pt x="137008" y="341646"/>
                  <a:pt x="141732" y="332456"/>
                </a:cubicBezTo>
                <a:cubicBezTo>
                  <a:pt x="146456" y="323267"/>
                  <a:pt x="151181" y="313077"/>
                  <a:pt x="155905" y="301982"/>
                </a:cubicBezTo>
                <a:cubicBezTo>
                  <a:pt x="160630" y="290886"/>
                  <a:pt x="165354" y="278713"/>
                  <a:pt x="170078" y="265885"/>
                </a:cubicBezTo>
                <a:cubicBezTo>
                  <a:pt x="174803" y="253057"/>
                  <a:pt x="179527" y="239170"/>
                  <a:pt x="184252" y="225016"/>
                </a:cubicBezTo>
                <a:cubicBezTo>
                  <a:pt x="188976" y="210861"/>
                  <a:pt x="193700" y="195793"/>
                  <a:pt x="198425" y="180960"/>
                </a:cubicBezTo>
                <a:cubicBezTo>
                  <a:pt x="203149" y="166126"/>
                  <a:pt x="207874" y="150669"/>
                  <a:pt x="212598" y="136016"/>
                </a:cubicBezTo>
                <a:cubicBezTo>
                  <a:pt x="217322" y="121363"/>
                  <a:pt x="222047" y="106514"/>
                  <a:pt x="226771" y="93042"/>
                </a:cubicBezTo>
                <a:cubicBezTo>
                  <a:pt x="231496" y="79569"/>
                  <a:pt x="236220" y="66439"/>
                  <a:pt x="240944" y="55180"/>
                </a:cubicBezTo>
                <a:cubicBezTo>
                  <a:pt x="245669" y="43920"/>
                  <a:pt x="250393" y="33594"/>
                  <a:pt x="255118" y="25484"/>
                </a:cubicBezTo>
                <a:cubicBezTo>
                  <a:pt x="259842" y="17375"/>
                  <a:pt x="264566" y="10769"/>
                  <a:pt x="269291" y="6521"/>
                </a:cubicBezTo>
                <a:cubicBezTo>
                  <a:pt x="274015" y="2274"/>
                  <a:pt x="278740" y="0"/>
                  <a:pt x="283464" y="0"/>
                </a:cubicBezTo>
                <a:cubicBezTo>
                  <a:pt x="288188" y="0"/>
                  <a:pt x="292913" y="2274"/>
                  <a:pt x="297637" y="6521"/>
                </a:cubicBezTo>
                <a:cubicBezTo>
                  <a:pt x="302362" y="10769"/>
                  <a:pt x="307086" y="17375"/>
                  <a:pt x="311810" y="25484"/>
                </a:cubicBezTo>
                <a:cubicBezTo>
                  <a:pt x="316535" y="33594"/>
                  <a:pt x="321259" y="43920"/>
                  <a:pt x="325984" y="55180"/>
                </a:cubicBezTo>
                <a:cubicBezTo>
                  <a:pt x="330708" y="66439"/>
                  <a:pt x="335432" y="79569"/>
                  <a:pt x="340157" y="93042"/>
                </a:cubicBezTo>
                <a:cubicBezTo>
                  <a:pt x="344881" y="106514"/>
                  <a:pt x="349606" y="121363"/>
                  <a:pt x="354330" y="136016"/>
                </a:cubicBezTo>
                <a:cubicBezTo>
                  <a:pt x="359054" y="150669"/>
                  <a:pt x="363779" y="166126"/>
                  <a:pt x="368503" y="180960"/>
                </a:cubicBezTo>
                <a:cubicBezTo>
                  <a:pt x="373228" y="195793"/>
                  <a:pt x="377952" y="210861"/>
                  <a:pt x="382676" y="225016"/>
                </a:cubicBezTo>
                <a:cubicBezTo>
                  <a:pt x="387401" y="239170"/>
                  <a:pt x="392125" y="253057"/>
                  <a:pt x="396850" y="265885"/>
                </a:cubicBezTo>
                <a:cubicBezTo>
                  <a:pt x="401574" y="278713"/>
                  <a:pt x="406298" y="290886"/>
                  <a:pt x="411023" y="301982"/>
                </a:cubicBezTo>
                <a:cubicBezTo>
                  <a:pt x="415747" y="313077"/>
                  <a:pt x="420472" y="323267"/>
                  <a:pt x="425196" y="332456"/>
                </a:cubicBezTo>
                <a:cubicBezTo>
                  <a:pt x="429920" y="341646"/>
                  <a:pt x="434645" y="349814"/>
                  <a:pt x="439369" y="357119"/>
                </a:cubicBezTo>
                <a:cubicBezTo>
                  <a:pt x="444094" y="364425"/>
                  <a:pt x="448818" y="370706"/>
                  <a:pt x="453542" y="376291"/>
                </a:cubicBezTo>
                <a:cubicBezTo>
                  <a:pt x="458267" y="381875"/>
                  <a:pt x="462991" y="386516"/>
                  <a:pt x="467716" y="390626"/>
                </a:cubicBezTo>
                <a:cubicBezTo>
                  <a:pt x="472440" y="394737"/>
                  <a:pt x="477164" y="398036"/>
                  <a:pt x="481889" y="400951"/>
                </a:cubicBezTo>
                <a:cubicBezTo>
                  <a:pt x="486613" y="403867"/>
                  <a:pt x="491338" y="406124"/>
                  <a:pt x="496062" y="408119"/>
                </a:cubicBezTo>
                <a:cubicBezTo>
                  <a:pt x="500786" y="410114"/>
                  <a:pt x="505511" y="411603"/>
                  <a:pt x="510235" y="412920"/>
                </a:cubicBezTo>
                <a:cubicBezTo>
                  <a:pt x="514960" y="414237"/>
                  <a:pt x="519684" y="415183"/>
                  <a:pt x="524408" y="416024"/>
                </a:cubicBezTo>
                <a:cubicBezTo>
                  <a:pt x="529133" y="416864"/>
                  <a:pt x="533857" y="417444"/>
                  <a:pt x="538582" y="417962"/>
                </a:cubicBezTo>
                <a:cubicBezTo>
                  <a:pt x="543306" y="418479"/>
                  <a:pt x="548030" y="418822"/>
                  <a:pt x="552755" y="419131"/>
                </a:cubicBezTo>
                <a:cubicBezTo>
                  <a:pt x="557479" y="419439"/>
                  <a:pt x="564566" y="419563"/>
                  <a:pt x="566928" y="419812"/>
                </a:cubicBezTo>
                <a:cubicBezTo>
                  <a:pt x="569290" y="420061"/>
                  <a:pt x="661416" y="420489"/>
                  <a:pt x="566928" y="420624"/>
                </a:cubicBezTo>
                <a:cubicBezTo>
                  <a:pt x="472440" y="420759"/>
                  <a:pt x="94488" y="420624"/>
                  <a:pt x="0" y="420624"/>
                </a:cubicBezTo>
                <a:close/>
              </a:path>
            </a:pathLst>
          </a:custGeom>
          <a:solidFill>
            <a:srgbClr val="DCE9F6"/>
          </a:solidFill>
          <a:ln w="6350">
            <a:solidFill>
              <a:srgbClr val="DCE9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12680" y="2871216"/>
            <a:ext cx="566928" cy="419812"/>
          </a:xfrm>
          <a:custGeom>
            <a:avLst/>
            <a:gdLst/>
            <a:ahLst/>
            <a:cxnLst/>
            <a:rect l="l" t="t" r="r" b="b"/>
            <a:pathLst>
              <a:path w="566928" h="419812">
                <a:moveTo>
                  <a:pt x="0" y="419812"/>
                </a:moveTo>
                <a:cubicBezTo>
                  <a:pt x="2362" y="419698"/>
                  <a:pt x="9449" y="419439"/>
                  <a:pt x="14173" y="419131"/>
                </a:cubicBezTo>
                <a:cubicBezTo>
                  <a:pt x="18898" y="418822"/>
                  <a:pt x="23622" y="418479"/>
                  <a:pt x="28346" y="417962"/>
                </a:cubicBezTo>
                <a:cubicBezTo>
                  <a:pt x="33071" y="417444"/>
                  <a:pt x="37795" y="416864"/>
                  <a:pt x="42520" y="416024"/>
                </a:cubicBezTo>
                <a:cubicBezTo>
                  <a:pt x="47244" y="415183"/>
                  <a:pt x="51968" y="414237"/>
                  <a:pt x="56693" y="412920"/>
                </a:cubicBezTo>
                <a:cubicBezTo>
                  <a:pt x="61417" y="411603"/>
                  <a:pt x="66142" y="410114"/>
                  <a:pt x="70866" y="408119"/>
                </a:cubicBezTo>
                <a:cubicBezTo>
                  <a:pt x="75590" y="406124"/>
                  <a:pt x="80315" y="403867"/>
                  <a:pt x="85039" y="400951"/>
                </a:cubicBezTo>
                <a:cubicBezTo>
                  <a:pt x="89764" y="398036"/>
                  <a:pt x="94488" y="394737"/>
                  <a:pt x="99212" y="390626"/>
                </a:cubicBezTo>
                <a:cubicBezTo>
                  <a:pt x="103937" y="386516"/>
                  <a:pt x="108661" y="381875"/>
                  <a:pt x="113386" y="376291"/>
                </a:cubicBezTo>
                <a:cubicBezTo>
                  <a:pt x="118110" y="370706"/>
                  <a:pt x="122834" y="364425"/>
                  <a:pt x="127559" y="357119"/>
                </a:cubicBezTo>
                <a:cubicBezTo>
                  <a:pt x="132283" y="349814"/>
                  <a:pt x="137008" y="341646"/>
                  <a:pt x="141732" y="332456"/>
                </a:cubicBezTo>
                <a:cubicBezTo>
                  <a:pt x="146456" y="323267"/>
                  <a:pt x="151181" y="313077"/>
                  <a:pt x="155905" y="301982"/>
                </a:cubicBezTo>
                <a:cubicBezTo>
                  <a:pt x="160630" y="290886"/>
                  <a:pt x="165354" y="278713"/>
                  <a:pt x="170078" y="265885"/>
                </a:cubicBezTo>
                <a:cubicBezTo>
                  <a:pt x="174803" y="253057"/>
                  <a:pt x="179527" y="239170"/>
                  <a:pt x="184252" y="225016"/>
                </a:cubicBezTo>
                <a:cubicBezTo>
                  <a:pt x="188976" y="210861"/>
                  <a:pt x="193700" y="195793"/>
                  <a:pt x="198425" y="180960"/>
                </a:cubicBezTo>
                <a:cubicBezTo>
                  <a:pt x="203149" y="166126"/>
                  <a:pt x="207874" y="150669"/>
                  <a:pt x="212598" y="136016"/>
                </a:cubicBezTo>
                <a:cubicBezTo>
                  <a:pt x="217322" y="121363"/>
                  <a:pt x="222047" y="106514"/>
                  <a:pt x="226771" y="93042"/>
                </a:cubicBezTo>
                <a:cubicBezTo>
                  <a:pt x="231496" y="79569"/>
                  <a:pt x="236220" y="66439"/>
                  <a:pt x="240944" y="55180"/>
                </a:cubicBezTo>
                <a:cubicBezTo>
                  <a:pt x="245669" y="43920"/>
                  <a:pt x="250393" y="33594"/>
                  <a:pt x="255118" y="25484"/>
                </a:cubicBezTo>
                <a:cubicBezTo>
                  <a:pt x="259842" y="17375"/>
                  <a:pt x="264566" y="10769"/>
                  <a:pt x="269291" y="6521"/>
                </a:cubicBezTo>
                <a:cubicBezTo>
                  <a:pt x="274015" y="2274"/>
                  <a:pt x="278740" y="0"/>
                  <a:pt x="283464" y="0"/>
                </a:cubicBezTo>
                <a:cubicBezTo>
                  <a:pt x="288188" y="0"/>
                  <a:pt x="292913" y="2274"/>
                  <a:pt x="297637" y="6521"/>
                </a:cubicBezTo>
                <a:cubicBezTo>
                  <a:pt x="302362" y="10769"/>
                  <a:pt x="307086" y="17375"/>
                  <a:pt x="311810" y="25484"/>
                </a:cubicBezTo>
                <a:cubicBezTo>
                  <a:pt x="316535" y="33594"/>
                  <a:pt x="321259" y="43920"/>
                  <a:pt x="325984" y="55180"/>
                </a:cubicBezTo>
                <a:cubicBezTo>
                  <a:pt x="330708" y="66439"/>
                  <a:pt x="335432" y="79569"/>
                  <a:pt x="340157" y="93042"/>
                </a:cubicBezTo>
                <a:cubicBezTo>
                  <a:pt x="344881" y="106514"/>
                  <a:pt x="349606" y="121363"/>
                  <a:pt x="354330" y="136016"/>
                </a:cubicBezTo>
                <a:cubicBezTo>
                  <a:pt x="359054" y="150669"/>
                  <a:pt x="363779" y="166126"/>
                  <a:pt x="368503" y="180960"/>
                </a:cubicBezTo>
                <a:cubicBezTo>
                  <a:pt x="373228" y="195793"/>
                  <a:pt x="377952" y="210861"/>
                  <a:pt x="382676" y="225016"/>
                </a:cubicBezTo>
                <a:cubicBezTo>
                  <a:pt x="387401" y="239170"/>
                  <a:pt x="392125" y="253057"/>
                  <a:pt x="396850" y="265885"/>
                </a:cubicBezTo>
                <a:cubicBezTo>
                  <a:pt x="401574" y="278713"/>
                  <a:pt x="406298" y="290886"/>
                  <a:pt x="411023" y="301982"/>
                </a:cubicBezTo>
                <a:cubicBezTo>
                  <a:pt x="415747" y="313077"/>
                  <a:pt x="420472" y="323267"/>
                  <a:pt x="425196" y="332456"/>
                </a:cubicBezTo>
                <a:cubicBezTo>
                  <a:pt x="429920" y="341646"/>
                  <a:pt x="434645" y="349814"/>
                  <a:pt x="439369" y="357119"/>
                </a:cubicBezTo>
                <a:cubicBezTo>
                  <a:pt x="444094" y="364425"/>
                  <a:pt x="448818" y="370706"/>
                  <a:pt x="453542" y="376291"/>
                </a:cubicBezTo>
                <a:cubicBezTo>
                  <a:pt x="458267" y="381875"/>
                  <a:pt x="462991" y="386516"/>
                  <a:pt x="467716" y="390626"/>
                </a:cubicBezTo>
                <a:cubicBezTo>
                  <a:pt x="472440" y="394737"/>
                  <a:pt x="477164" y="398036"/>
                  <a:pt x="481889" y="400951"/>
                </a:cubicBezTo>
                <a:cubicBezTo>
                  <a:pt x="486613" y="403867"/>
                  <a:pt x="491338" y="406124"/>
                  <a:pt x="496062" y="408119"/>
                </a:cubicBezTo>
                <a:cubicBezTo>
                  <a:pt x="500786" y="410114"/>
                  <a:pt x="505511" y="411603"/>
                  <a:pt x="510235" y="412920"/>
                </a:cubicBezTo>
                <a:cubicBezTo>
                  <a:pt x="514960" y="414237"/>
                  <a:pt x="519684" y="415183"/>
                  <a:pt x="524408" y="416024"/>
                </a:cubicBezTo>
                <a:cubicBezTo>
                  <a:pt x="529133" y="416864"/>
                  <a:pt x="533857" y="417444"/>
                  <a:pt x="538582" y="417962"/>
                </a:cubicBezTo>
                <a:cubicBezTo>
                  <a:pt x="543306" y="418479"/>
                  <a:pt x="548030" y="418822"/>
                  <a:pt x="552755" y="419131"/>
                </a:cubicBezTo>
                <a:cubicBezTo>
                  <a:pt x="557479" y="419439"/>
                  <a:pt x="564566" y="419698"/>
                  <a:pt x="566928" y="419812"/>
                </a:cubicBezTo>
              </a:path>
            </a:pathLst>
          </a:custGeom>
          <a:ln w="17780">
            <a:solidFill>
              <a:srgbClr val="4E90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16184" y="2880360"/>
            <a:ext cx="768096" cy="0"/>
          </a:xfrm>
          <a:prstGeom prst="line">
            <a:avLst/>
          </a:prstGeom>
          <a:noFill/>
          <a:ln w="12700">
            <a:solidFill>
              <a:srgbClr val="A9CBE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716768" y="2459736"/>
            <a:ext cx="566928" cy="420624"/>
          </a:xfrm>
          <a:custGeom>
            <a:avLst/>
            <a:gdLst/>
            <a:ahLst/>
            <a:cxnLst/>
            <a:rect l="l" t="t" r="r" b="b"/>
            <a:pathLst>
              <a:path w="566928" h="420624">
                <a:moveTo>
                  <a:pt x="0" y="419812"/>
                </a:moveTo>
                <a:cubicBezTo>
                  <a:pt x="2362" y="419698"/>
                  <a:pt x="9449" y="419439"/>
                  <a:pt x="14173" y="419131"/>
                </a:cubicBezTo>
                <a:cubicBezTo>
                  <a:pt x="18898" y="418822"/>
                  <a:pt x="23622" y="418479"/>
                  <a:pt x="28346" y="417962"/>
                </a:cubicBezTo>
                <a:cubicBezTo>
                  <a:pt x="33071" y="417444"/>
                  <a:pt x="37795" y="416864"/>
                  <a:pt x="42520" y="416024"/>
                </a:cubicBezTo>
                <a:cubicBezTo>
                  <a:pt x="47244" y="415183"/>
                  <a:pt x="51968" y="414237"/>
                  <a:pt x="56693" y="412920"/>
                </a:cubicBezTo>
                <a:cubicBezTo>
                  <a:pt x="61417" y="411603"/>
                  <a:pt x="66142" y="410114"/>
                  <a:pt x="70866" y="408119"/>
                </a:cubicBezTo>
                <a:cubicBezTo>
                  <a:pt x="75590" y="406124"/>
                  <a:pt x="80315" y="403867"/>
                  <a:pt x="85039" y="400951"/>
                </a:cubicBezTo>
                <a:cubicBezTo>
                  <a:pt x="89764" y="398036"/>
                  <a:pt x="94488" y="394737"/>
                  <a:pt x="99212" y="390626"/>
                </a:cubicBezTo>
                <a:cubicBezTo>
                  <a:pt x="103937" y="386516"/>
                  <a:pt x="108661" y="381875"/>
                  <a:pt x="113386" y="376291"/>
                </a:cubicBezTo>
                <a:cubicBezTo>
                  <a:pt x="118110" y="370706"/>
                  <a:pt x="122834" y="364425"/>
                  <a:pt x="127559" y="357119"/>
                </a:cubicBezTo>
                <a:cubicBezTo>
                  <a:pt x="132283" y="349814"/>
                  <a:pt x="137008" y="341646"/>
                  <a:pt x="141732" y="332456"/>
                </a:cubicBezTo>
                <a:cubicBezTo>
                  <a:pt x="146456" y="323267"/>
                  <a:pt x="151181" y="313077"/>
                  <a:pt x="155905" y="301982"/>
                </a:cubicBezTo>
                <a:cubicBezTo>
                  <a:pt x="160630" y="290886"/>
                  <a:pt x="165354" y="278713"/>
                  <a:pt x="170078" y="265885"/>
                </a:cubicBezTo>
                <a:cubicBezTo>
                  <a:pt x="174803" y="253057"/>
                  <a:pt x="179527" y="239170"/>
                  <a:pt x="184252" y="225016"/>
                </a:cubicBezTo>
                <a:cubicBezTo>
                  <a:pt x="188976" y="210861"/>
                  <a:pt x="193700" y="195793"/>
                  <a:pt x="198425" y="180960"/>
                </a:cubicBezTo>
                <a:cubicBezTo>
                  <a:pt x="203149" y="166126"/>
                  <a:pt x="207874" y="150669"/>
                  <a:pt x="212598" y="136016"/>
                </a:cubicBezTo>
                <a:cubicBezTo>
                  <a:pt x="217322" y="121363"/>
                  <a:pt x="222047" y="106514"/>
                  <a:pt x="226771" y="93042"/>
                </a:cubicBezTo>
                <a:cubicBezTo>
                  <a:pt x="231496" y="79569"/>
                  <a:pt x="236220" y="66439"/>
                  <a:pt x="240944" y="55180"/>
                </a:cubicBezTo>
                <a:cubicBezTo>
                  <a:pt x="245669" y="43920"/>
                  <a:pt x="250393" y="33594"/>
                  <a:pt x="255118" y="25484"/>
                </a:cubicBezTo>
                <a:cubicBezTo>
                  <a:pt x="259842" y="17375"/>
                  <a:pt x="264566" y="10769"/>
                  <a:pt x="269291" y="6521"/>
                </a:cubicBezTo>
                <a:cubicBezTo>
                  <a:pt x="274015" y="2274"/>
                  <a:pt x="278740" y="0"/>
                  <a:pt x="283464" y="0"/>
                </a:cubicBezTo>
                <a:cubicBezTo>
                  <a:pt x="288188" y="0"/>
                  <a:pt x="292913" y="2274"/>
                  <a:pt x="297637" y="6521"/>
                </a:cubicBezTo>
                <a:cubicBezTo>
                  <a:pt x="302362" y="10769"/>
                  <a:pt x="307086" y="17375"/>
                  <a:pt x="311810" y="25484"/>
                </a:cubicBezTo>
                <a:cubicBezTo>
                  <a:pt x="316535" y="33594"/>
                  <a:pt x="321259" y="43920"/>
                  <a:pt x="325984" y="55180"/>
                </a:cubicBezTo>
                <a:cubicBezTo>
                  <a:pt x="330708" y="66439"/>
                  <a:pt x="335432" y="79569"/>
                  <a:pt x="340157" y="93042"/>
                </a:cubicBezTo>
                <a:cubicBezTo>
                  <a:pt x="344881" y="106514"/>
                  <a:pt x="349606" y="121363"/>
                  <a:pt x="354330" y="136016"/>
                </a:cubicBezTo>
                <a:cubicBezTo>
                  <a:pt x="359054" y="150669"/>
                  <a:pt x="363779" y="166126"/>
                  <a:pt x="368503" y="180960"/>
                </a:cubicBezTo>
                <a:cubicBezTo>
                  <a:pt x="373228" y="195793"/>
                  <a:pt x="377952" y="210861"/>
                  <a:pt x="382676" y="225016"/>
                </a:cubicBezTo>
                <a:cubicBezTo>
                  <a:pt x="387401" y="239170"/>
                  <a:pt x="392125" y="253057"/>
                  <a:pt x="396850" y="265885"/>
                </a:cubicBezTo>
                <a:cubicBezTo>
                  <a:pt x="401574" y="278713"/>
                  <a:pt x="406298" y="290886"/>
                  <a:pt x="411023" y="301982"/>
                </a:cubicBezTo>
                <a:cubicBezTo>
                  <a:pt x="415747" y="313077"/>
                  <a:pt x="420472" y="323267"/>
                  <a:pt x="425196" y="332456"/>
                </a:cubicBezTo>
                <a:cubicBezTo>
                  <a:pt x="429920" y="341646"/>
                  <a:pt x="434645" y="349814"/>
                  <a:pt x="439369" y="357119"/>
                </a:cubicBezTo>
                <a:cubicBezTo>
                  <a:pt x="444094" y="364425"/>
                  <a:pt x="448818" y="370706"/>
                  <a:pt x="453542" y="376291"/>
                </a:cubicBezTo>
                <a:cubicBezTo>
                  <a:pt x="458267" y="381875"/>
                  <a:pt x="462991" y="386516"/>
                  <a:pt x="467716" y="390626"/>
                </a:cubicBezTo>
                <a:cubicBezTo>
                  <a:pt x="472440" y="394737"/>
                  <a:pt x="477164" y="398036"/>
                  <a:pt x="481889" y="400951"/>
                </a:cubicBezTo>
                <a:cubicBezTo>
                  <a:pt x="486613" y="403867"/>
                  <a:pt x="491338" y="406124"/>
                  <a:pt x="496062" y="408119"/>
                </a:cubicBezTo>
                <a:cubicBezTo>
                  <a:pt x="500786" y="410114"/>
                  <a:pt x="505511" y="411603"/>
                  <a:pt x="510235" y="412920"/>
                </a:cubicBezTo>
                <a:cubicBezTo>
                  <a:pt x="514960" y="414237"/>
                  <a:pt x="519684" y="415183"/>
                  <a:pt x="524408" y="416024"/>
                </a:cubicBezTo>
                <a:cubicBezTo>
                  <a:pt x="529133" y="416864"/>
                  <a:pt x="533857" y="417444"/>
                  <a:pt x="538582" y="417962"/>
                </a:cubicBezTo>
                <a:cubicBezTo>
                  <a:pt x="543306" y="418479"/>
                  <a:pt x="548030" y="418822"/>
                  <a:pt x="552755" y="419131"/>
                </a:cubicBezTo>
                <a:cubicBezTo>
                  <a:pt x="557479" y="419439"/>
                  <a:pt x="564566" y="419563"/>
                  <a:pt x="566928" y="419812"/>
                </a:cubicBezTo>
                <a:cubicBezTo>
                  <a:pt x="569290" y="420061"/>
                  <a:pt x="661416" y="420489"/>
                  <a:pt x="566928" y="420624"/>
                </a:cubicBezTo>
                <a:cubicBezTo>
                  <a:pt x="472440" y="420759"/>
                  <a:pt x="94488" y="420624"/>
                  <a:pt x="0" y="420624"/>
                </a:cubicBezTo>
                <a:close/>
              </a:path>
            </a:pathLst>
          </a:custGeom>
          <a:solidFill>
            <a:srgbClr val="DCE9F6"/>
          </a:solidFill>
          <a:ln w="6350">
            <a:solidFill>
              <a:srgbClr val="DCE9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16768" y="2459736"/>
            <a:ext cx="566928" cy="419812"/>
          </a:xfrm>
          <a:custGeom>
            <a:avLst/>
            <a:gdLst/>
            <a:ahLst/>
            <a:cxnLst/>
            <a:rect l="l" t="t" r="r" b="b"/>
            <a:pathLst>
              <a:path w="566928" h="419812">
                <a:moveTo>
                  <a:pt x="0" y="419812"/>
                </a:moveTo>
                <a:cubicBezTo>
                  <a:pt x="2362" y="419698"/>
                  <a:pt x="9449" y="419439"/>
                  <a:pt x="14173" y="419131"/>
                </a:cubicBezTo>
                <a:cubicBezTo>
                  <a:pt x="18898" y="418822"/>
                  <a:pt x="23622" y="418479"/>
                  <a:pt x="28346" y="417962"/>
                </a:cubicBezTo>
                <a:cubicBezTo>
                  <a:pt x="33071" y="417444"/>
                  <a:pt x="37795" y="416864"/>
                  <a:pt x="42520" y="416024"/>
                </a:cubicBezTo>
                <a:cubicBezTo>
                  <a:pt x="47244" y="415183"/>
                  <a:pt x="51968" y="414237"/>
                  <a:pt x="56693" y="412920"/>
                </a:cubicBezTo>
                <a:cubicBezTo>
                  <a:pt x="61417" y="411603"/>
                  <a:pt x="66142" y="410114"/>
                  <a:pt x="70866" y="408119"/>
                </a:cubicBezTo>
                <a:cubicBezTo>
                  <a:pt x="75590" y="406124"/>
                  <a:pt x="80315" y="403867"/>
                  <a:pt x="85039" y="400951"/>
                </a:cubicBezTo>
                <a:cubicBezTo>
                  <a:pt x="89764" y="398036"/>
                  <a:pt x="94488" y="394737"/>
                  <a:pt x="99212" y="390626"/>
                </a:cubicBezTo>
                <a:cubicBezTo>
                  <a:pt x="103937" y="386516"/>
                  <a:pt x="108661" y="381875"/>
                  <a:pt x="113386" y="376291"/>
                </a:cubicBezTo>
                <a:cubicBezTo>
                  <a:pt x="118110" y="370706"/>
                  <a:pt x="122834" y="364425"/>
                  <a:pt x="127559" y="357119"/>
                </a:cubicBezTo>
                <a:cubicBezTo>
                  <a:pt x="132283" y="349814"/>
                  <a:pt x="137008" y="341646"/>
                  <a:pt x="141732" y="332456"/>
                </a:cubicBezTo>
                <a:cubicBezTo>
                  <a:pt x="146456" y="323267"/>
                  <a:pt x="151181" y="313077"/>
                  <a:pt x="155905" y="301982"/>
                </a:cubicBezTo>
                <a:cubicBezTo>
                  <a:pt x="160630" y="290886"/>
                  <a:pt x="165354" y="278713"/>
                  <a:pt x="170078" y="265885"/>
                </a:cubicBezTo>
                <a:cubicBezTo>
                  <a:pt x="174803" y="253057"/>
                  <a:pt x="179527" y="239170"/>
                  <a:pt x="184252" y="225016"/>
                </a:cubicBezTo>
                <a:cubicBezTo>
                  <a:pt x="188976" y="210861"/>
                  <a:pt x="193700" y="195793"/>
                  <a:pt x="198425" y="180960"/>
                </a:cubicBezTo>
                <a:cubicBezTo>
                  <a:pt x="203149" y="166126"/>
                  <a:pt x="207874" y="150669"/>
                  <a:pt x="212598" y="136016"/>
                </a:cubicBezTo>
                <a:cubicBezTo>
                  <a:pt x="217322" y="121363"/>
                  <a:pt x="222047" y="106514"/>
                  <a:pt x="226771" y="93042"/>
                </a:cubicBezTo>
                <a:cubicBezTo>
                  <a:pt x="231496" y="79569"/>
                  <a:pt x="236220" y="66439"/>
                  <a:pt x="240944" y="55180"/>
                </a:cubicBezTo>
                <a:cubicBezTo>
                  <a:pt x="245669" y="43920"/>
                  <a:pt x="250393" y="33594"/>
                  <a:pt x="255118" y="25484"/>
                </a:cubicBezTo>
                <a:cubicBezTo>
                  <a:pt x="259842" y="17375"/>
                  <a:pt x="264566" y="10769"/>
                  <a:pt x="269291" y="6521"/>
                </a:cubicBezTo>
                <a:cubicBezTo>
                  <a:pt x="274015" y="2274"/>
                  <a:pt x="278740" y="0"/>
                  <a:pt x="283464" y="0"/>
                </a:cubicBezTo>
                <a:cubicBezTo>
                  <a:pt x="288188" y="0"/>
                  <a:pt x="292913" y="2274"/>
                  <a:pt x="297637" y="6521"/>
                </a:cubicBezTo>
                <a:cubicBezTo>
                  <a:pt x="302362" y="10769"/>
                  <a:pt x="307086" y="17375"/>
                  <a:pt x="311810" y="25484"/>
                </a:cubicBezTo>
                <a:cubicBezTo>
                  <a:pt x="316535" y="33594"/>
                  <a:pt x="321259" y="43920"/>
                  <a:pt x="325984" y="55180"/>
                </a:cubicBezTo>
                <a:cubicBezTo>
                  <a:pt x="330708" y="66439"/>
                  <a:pt x="335432" y="79569"/>
                  <a:pt x="340157" y="93042"/>
                </a:cubicBezTo>
                <a:cubicBezTo>
                  <a:pt x="344881" y="106514"/>
                  <a:pt x="349606" y="121363"/>
                  <a:pt x="354330" y="136016"/>
                </a:cubicBezTo>
                <a:cubicBezTo>
                  <a:pt x="359054" y="150669"/>
                  <a:pt x="363779" y="166126"/>
                  <a:pt x="368503" y="180960"/>
                </a:cubicBezTo>
                <a:cubicBezTo>
                  <a:pt x="373228" y="195793"/>
                  <a:pt x="377952" y="210861"/>
                  <a:pt x="382676" y="225016"/>
                </a:cubicBezTo>
                <a:cubicBezTo>
                  <a:pt x="387401" y="239170"/>
                  <a:pt x="392125" y="253057"/>
                  <a:pt x="396850" y="265885"/>
                </a:cubicBezTo>
                <a:cubicBezTo>
                  <a:pt x="401574" y="278713"/>
                  <a:pt x="406298" y="290886"/>
                  <a:pt x="411023" y="301982"/>
                </a:cubicBezTo>
                <a:cubicBezTo>
                  <a:pt x="415747" y="313077"/>
                  <a:pt x="420472" y="323267"/>
                  <a:pt x="425196" y="332456"/>
                </a:cubicBezTo>
                <a:cubicBezTo>
                  <a:pt x="429920" y="341646"/>
                  <a:pt x="434645" y="349814"/>
                  <a:pt x="439369" y="357119"/>
                </a:cubicBezTo>
                <a:cubicBezTo>
                  <a:pt x="444094" y="364425"/>
                  <a:pt x="448818" y="370706"/>
                  <a:pt x="453542" y="376291"/>
                </a:cubicBezTo>
                <a:cubicBezTo>
                  <a:pt x="458267" y="381875"/>
                  <a:pt x="462991" y="386516"/>
                  <a:pt x="467716" y="390626"/>
                </a:cubicBezTo>
                <a:cubicBezTo>
                  <a:pt x="472440" y="394737"/>
                  <a:pt x="477164" y="398036"/>
                  <a:pt x="481889" y="400951"/>
                </a:cubicBezTo>
                <a:cubicBezTo>
                  <a:pt x="486613" y="403867"/>
                  <a:pt x="491338" y="406124"/>
                  <a:pt x="496062" y="408119"/>
                </a:cubicBezTo>
                <a:cubicBezTo>
                  <a:pt x="500786" y="410114"/>
                  <a:pt x="505511" y="411603"/>
                  <a:pt x="510235" y="412920"/>
                </a:cubicBezTo>
                <a:cubicBezTo>
                  <a:pt x="514960" y="414237"/>
                  <a:pt x="519684" y="415183"/>
                  <a:pt x="524408" y="416024"/>
                </a:cubicBezTo>
                <a:cubicBezTo>
                  <a:pt x="529133" y="416864"/>
                  <a:pt x="533857" y="417444"/>
                  <a:pt x="538582" y="417962"/>
                </a:cubicBezTo>
                <a:cubicBezTo>
                  <a:pt x="543306" y="418479"/>
                  <a:pt x="548030" y="418822"/>
                  <a:pt x="552755" y="419131"/>
                </a:cubicBezTo>
                <a:cubicBezTo>
                  <a:pt x="557479" y="419439"/>
                  <a:pt x="564566" y="419698"/>
                  <a:pt x="566928" y="419812"/>
                </a:cubicBezTo>
              </a:path>
            </a:pathLst>
          </a:custGeom>
          <a:ln w="17780">
            <a:solidFill>
              <a:srgbClr val="4E90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48463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形状（相位）不变，电平逐周期抬升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15727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期刊扩展  ·  PHASEFORMER-L  ·  学术组会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184708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低维电平适应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2651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让相位域时序预测器学会跨周期的电平漂移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22960" y="3273552"/>
            <a:ext cx="5989320" cy="896112"/>
          </a:xfrm>
          <a:prstGeom prst="roundRect">
            <a:avLst>
              <a:gd name="adj" fmla="val 6122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3273552"/>
            <a:ext cx="5486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一个反直觉的发现：最有预测价值的那个方向，只占输入方差的 0.8%–4.6%。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4074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Low-Dimensional Level Adaptation for Phase-Domain Time-Series Forecasting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7731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Yiming Niu      ·      2026-09-22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 ·  问题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8"/>
              </a:lnSpc>
              <a:buNone/>
            </a:pPr>
            <a:r>
              <a:rPr lang="en-US" sz="29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相位表示解决了周期内形状变化，但没解决跨周期电平漂移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两种变化作用在观测矩阵的不同轴上——能处理好其一，不代表能同样处理好另一个。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2257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已被 PhaseFormer 解决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151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周期内形状变化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9992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相位 tokenization 把同一 offset 的观测归入同一 token，用紧凑的跨周期子空间刻画这种重复结构。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4846320"/>
            <a:ext cx="4709160" cy="0"/>
          </a:xfrm>
          <a:prstGeom prst="line">
            <a:avLst/>
          </a:prstGeom>
          <a:noFill/>
          <a:ln w="12700">
            <a:solidFill>
              <a:srgbClr val="A9CBE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170432" y="4315968"/>
            <a:ext cx="1133856" cy="530352"/>
          </a:xfrm>
          <a:custGeom>
            <a:avLst/>
            <a:gdLst/>
            <a:ahLst/>
            <a:cxnLst/>
            <a:rect l="l" t="t" r="r" b="b"/>
            <a:pathLst>
              <a:path w="1133856" h="530352">
                <a:moveTo>
                  <a:pt x="0" y="530336"/>
                </a:moveTo>
                <a:cubicBezTo>
                  <a:pt x="4724" y="530331"/>
                  <a:pt x="18898" y="530324"/>
                  <a:pt x="28346" y="530308"/>
                </a:cubicBezTo>
                <a:cubicBezTo>
                  <a:pt x="37795" y="530291"/>
                  <a:pt x="47244" y="530277"/>
                  <a:pt x="56693" y="530236"/>
                </a:cubicBezTo>
                <a:cubicBezTo>
                  <a:pt x="66142" y="530195"/>
                  <a:pt x="75590" y="530158"/>
                  <a:pt x="85039" y="530064"/>
                </a:cubicBezTo>
                <a:cubicBezTo>
                  <a:pt x="94488" y="529970"/>
                  <a:pt x="103937" y="529878"/>
                  <a:pt x="113386" y="529672"/>
                </a:cubicBezTo>
                <a:cubicBezTo>
                  <a:pt x="122834" y="529467"/>
                  <a:pt x="132283" y="529256"/>
                  <a:pt x="141732" y="528830"/>
                </a:cubicBezTo>
                <a:cubicBezTo>
                  <a:pt x="151181" y="528403"/>
                  <a:pt x="160630" y="527950"/>
                  <a:pt x="170078" y="527115"/>
                </a:cubicBezTo>
                <a:cubicBezTo>
                  <a:pt x="179527" y="526280"/>
                  <a:pt x="188976" y="525365"/>
                  <a:pt x="198425" y="523818"/>
                </a:cubicBezTo>
                <a:cubicBezTo>
                  <a:pt x="207874" y="522270"/>
                  <a:pt x="217322" y="520538"/>
                  <a:pt x="226771" y="517831"/>
                </a:cubicBezTo>
                <a:cubicBezTo>
                  <a:pt x="236220" y="515123"/>
                  <a:pt x="245669" y="512043"/>
                  <a:pt x="255118" y="507574"/>
                </a:cubicBezTo>
                <a:cubicBezTo>
                  <a:pt x="264566" y="503106"/>
                  <a:pt x="274015" y="497969"/>
                  <a:pt x="283464" y="491018"/>
                </a:cubicBezTo>
                <a:cubicBezTo>
                  <a:pt x="292913" y="484068"/>
                  <a:pt x="302362" y="476040"/>
                  <a:pt x="311810" y="465872"/>
                </a:cubicBezTo>
                <a:cubicBezTo>
                  <a:pt x="321259" y="455703"/>
                  <a:pt x="330708" y="443967"/>
                  <a:pt x="340157" y="430008"/>
                </a:cubicBezTo>
                <a:cubicBezTo>
                  <a:pt x="349606" y="416048"/>
                  <a:pt x="359054" y="400037"/>
                  <a:pt x="368503" y="382113"/>
                </a:cubicBezTo>
                <a:cubicBezTo>
                  <a:pt x="377952" y="364188"/>
                  <a:pt x="387401" y="343882"/>
                  <a:pt x="396850" y="322460"/>
                </a:cubicBezTo>
                <a:cubicBezTo>
                  <a:pt x="406298" y="301039"/>
                  <a:pt x="415747" y="277233"/>
                  <a:pt x="425196" y="253585"/>
                </a:cubicBezTo>
                <a:cubicBezTo>
                  <a:pt x="434645" y="229937"/>
                  <a:pt x="444094" y="204384"/>
                  <a:pt x="453542" y="180571"/>
                </a:cubicBezTo>
                <a:cubicBezTo>
                  <a:pt x="462991" y="156758"/>
                  <a:pt x="472440" y="132066"/>
                  <a:pt x="481889" y="110707"/>
                </a:cubicBezTo>
                <a:cubicBezTo>
                  <a:pt x="491338" y="89347"/>
                  <a:pt x="500786" y="68595"/>
                  <a:pt x="510235" y="52413"/>
                </a:cubicBezTo>
                <a:cubicBezTo>
                  <a:pt x="519684" y="36232"/>
                  <a:pt x="529133" y="22354"/>
                  <a:pt x="538582" y="13619"/>
                </a:cubicBezTo>
                <a:cubicBezTo>
                  <a:pt x="548030" y="4883"/>
                  <a:pt x="557479" y="0"/>
                  <a:pt x="566928" y="0"/>
                </a:cubicBezTo>
                <a:cubicBezTo>
                  <a:pt x="576377" y="0"/>
                  <a:pt x="585826" y="4883"/>
                  <a:pt x="595274" y="13619"/>
                </a:cubicBezTo>
                <a:cubicBezTo>
                  <a:pt x="604723" y="22354"/>
                  <a:pt x="614172" y="36232"/>
                  <a:pt x="623621" y="52413"/>
                </a:cubicBezTo>
                <a:cubicBezTo>
                  <a:pt x="633070" y="68595"/>
                  <a:pt x="642518" y="89347"/>
                  <a:pt x="651967" y="110707"/>
                </a:cubicBezTo>
                <a:cubicBezTo>
                  <a:pt x="661416" y="132066"/>
                  <a:pt x="670865" y="156758"/>
                  <a:pt x="680314" y="180571"/>
                </a:cubicBezTo>
                <a:cubicBezTo>
                  <a:pt x="689762" y="204384"/>
                  <a:pt x="699211" y="229937"/>
                  <a:pt x="708660" y="253585"/>
                </a:cubicBezTo>
                <a:cubicBezTo>
                  <a:pt x="718109" y="277233"/>
                  <a:pt x="727558" y="301039"/>
                  <a:pt x="737006" y="322460"/>
                </a:cubicBezTo>
                <a:cubicBezTo>
                  <a:pt x="746455" y="343882"/>
                  <a:pt x="755904" y="364188"/>
                  <a:pt x="765353" y="382113"/>
                </a:cubicBezTo>
                <a:cubicBezTo>
                  <a:pt x="774802" y="400037"/>
                  <a:pt x="784250" y="416048"/>
                  <a:pt x="793699" y="430008"/>
                </a:cubicBezTo>
                <a:cubicBezTo>
                  <a:pt x="803148" y="443967"/>
                  <a:pt x="812597" y="455703"/>
                  <a:pt x="822046" y="465872"/>
                </a:cubicBezTo>
                <a:cubicBezTo>
                  <a:pt x="831494" y="476040"/>
                  <a:pt x="840943" y="484068"/>
                  <a:pt x="850392" y="491018"/>
                </a:cubicBezTo>
                <a:cubicBezTo>
                  <a:pt x="859841" y="497969"/>
                  <a:pt x="869290" y="503106"/>
                  <a:pt x="878738" y="507574"/>
                </a:cubicBezTo>
                <a:cubicBezTo>
                  <a:pt x="888187" y="512043"/>
                  <a:pt x="897636" y="515123"/>
                  <a:pt x="907085" y="517831"/>
                </a:cubicBezTo>
                <a:cubicBezTo>
                  <a:pt x="916534" y="520538"/>
                  <a:pt x="925982" y="522270"/>
                  <a:pt x="935431" y="523818"/>
                </a:cubicBezTo>
                <a:cubicBezTo>
                  <a:pt x="944880" y="525365"/>
                  <a:pt x="954329" y="526280"/>
                  <a:pt x="963778" y="527115"/>
                </a:cubicBezTo>
                <a:cubicBezTo>
                  <a:pt x="973226" y="527950"/>
                  <a:pt x="982675" y="528403"/>
                  <a:pt x="992124" y="528830"/>
                </a:cubicBezTo>
                <a:cubicBezTo>
                  <a:pt x="1001573" y="529256"/>
                  <a:pt x="1011022" y="529467"/>
                  <a:pt x="1020470" y="529672"/>
                </a:cubicBezTo>
                <a:cubicBezTo>
                  <a:pt x="1029919" y="529878"/>
                  <a:pt x="1039368" y="529970"/>
                  <a:pt x="1048817" y="530064"/>
                </a:cubicBezTo>
                <a:cubicBezTo>
                  <a:pt x="1058266" y="530158"/>
                  <a:pt x="1067714" y="530195"/>
                  <a:pt x="1077163" y="530236"/>
                </a:cubicBezTo>
                <a:cubicBezTo>
                  <a:pt x="1086612" y="530277"/>
                  <a:pt x="1096061" y="530291"/>
                  <a:pt x="1105510" y="530308"/>
                </a:cubicBezTo>
                <a:cubicBezTo>
                  <a:pt x="1114958" y="530324"/>
                  <a:pt x="1129132" y="530329"/>
                  <a:pt x="1133856" y="530336"/>
                </a:cubicBezTo>
                <a:cubicBezTo>
                  <a:pt x="1138580" y="530343"/>
                  <a:pt x="1322832" y="530349"/>
                  <a:pt x="1133856" y="530352"/>
                </a:cubicBezTo>
                <a:cubicBezTo>
                  <a:pt x="944880" y="530355"/>
                  <a:pt x="188976" y="530352"/>
                  <a:pt x="0" y="530352"/>
                </a:cubicBezTo>
                <a:close/>
              </a:path>
            </a:pathLst>
          </a:custGeom>
          <a:solidFill>
            <a:srgbClr val="DCE9F6"/>
          </a:solidFill>
          <a:ln w="6350">
            <a:solidFill>
              <a:srgbClr val="DCE9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" y="4315968"/>
            <a:ext cx="1133856" cy="530336"/>
          </a:xfrm>
          <a:custGeom>
            <a:avLst/>
            <a:gdLst/>
            <a:ahLst/>
            <a:cxnLst/>
            <a:rect l="l" t="t" r="r" b="b"/>
            <a:pathLst>
              <a:path w="1133856" h="530336">
                <a:moveTo>
                  <a:pt x="0" y="530336"/>
                </a:moveTo>
                <a:cubicBezTo>
                  <a:pt x="4724" y="530331"/>
                  <a:pt x="18898" y="530324"/>
                  <a:pt x="28346" y="530308"/>
                </a:cubicBezTo>
                <a:cubicBezTo>
                  <a:pt x="37795" y="530291"/>
                  <a:pt x="47244" y="530277"/>
                  <a:pt x="56693" y="530236"/>
                </a:cubicBezTo>
                <a:cubicBezTo>
                  <a:pt x="66142" y="530195"/>
                  <a:pt x="75590" y="530158"/>
                  <a:pt x="85039" y="530064"/>
                </a:cubicBezTo>
                <a:cubicBezTo>
                  <a:pt x="94488" y="529970"/>
                  <a:pt x="103937" y="529878"/>
                  <a:pt x="113386" y="529672"/>
                </a:cubicBezTo>
                <a:cubicBezTo>
                  <a:pt x="122834" y="529467"/>
                  <a:pt x="132283" y="529256"/>
                  <a:pt x="141732" y="528830"/>
                </a:cubicBezTo>
                <a:cubicBezTo>
                  <a:pt x="151181" y="528403"/>
                  <a:pt x="160630" y="527950"/>
                  <a:pt x="170078" y="527115"/>
                </a:cubicBezTo>
                <a:cubicBezTo>
                  <a:pt x="179527" y="526280"/>
                  <a:pt x="188976" y="525365"/>
                  <a:pt x="198425" y="523818"/>
                </a:cubicBezTo>
                <a:cubicBezTo>
                  <a:pt x="207874" y="522270"/>
                  <a:pt x="217322" y="520538"/>
                  <a:pt x="226771" y="517831"/>
                </a:cubicBezTo>
                <a:cubicBezTo>
                  <a:pt x="236220" y="515123"/>
                  <a:pt x="245669" y="512043"/>
                  <a:pt x="255118" y="507574"/>
                </a:cubicBezTo>
                <a:cubicBezTo>
                  <a:pt x="264566" y="503106"/>
                  <a:pt x="274015" y="497969"/>
                  <a:pt x="283464" y="491018"/>
                </a:cubicBezTo>
                <a:cubicBezTo>
                  <a:pt x="292913" y="484068"/>
                  <a:pt x="302362" y="476040"/>
                  <a:pt x="311810" y="465872"/>
                </a:cubicBezTo>
                <a:cubicBezTo>
                  <a:pt x="321259" y="455703"/>
                  <a:pt x="330708" y="443967"/>
                  <a:pt x="340157" y="430008"/>
                </a:cubicBezTo>
                <a:cubicBezTo>
                  <a:pt x="349606" y="416048"/>
                  <a:pt x="359054" y="400037"/>
                  <a:pt x="368503" y="382113"/>
                </a:cubicBezTo>
                <a:cubicBezTo>
                  <a:pt x="377952" y="364188"/>
                  <a:pt x="387401" y="343882"/>
                  <a:pt x="396850" y="322460"/>
                </a:cubicBezTo>
                <a:cubicBezTo>
                  <a:pt x="406298" y="301039"/>
                  <a:pt x="415747" y="277233"/>
                  <a:pt x="425196" y="253585"/>
                </a:cubicBezTo>
                <a:cubicBezTo>
                  <a:pt x="434645" y="229937"/>
                  <a:pt x="444094" y="204384"/>
                  <a:pt x="453542" y="180571"/>
                </a:cubicBezTo>
                <a:cubicBezTo>
                  <a:pt x="462991" y="156758"/>
                  <a:pt x="472440" y="132066"/>
                  <a:pt x="481889" y="110707"/>
                </a:cubicBezTo>
                <a:cubicBezTo>
                  <a:pt x="491338" y="89347"/>
                  <a:pt x="500786" y="68595"/>
                  <a:pt x="510235" y="52413"/>
                </a:cubicBezTo>
                <a:cubicBezTo>
                  <a:pt x="519684" y="36232"/>
                  <a:pt x="529133" y="22354"/>
                  <a:pt x="538582" y="13619"/>
                </a:cubicBezTo>
                <a:cubicBezTo>
                  <a:pt x="548030" y="4883"/>
                  <a:pt x="557479" y="0"/>
                  <a:pt x="566928" y="0"/>
                </a:cubicBezTo>
                <a:cubicBezTo>
                  <a:pt x="576377" y="0"/>
                  <a:pt x="585826" y="4883"/>
                  <a:pt x="595274" y="13619"/>
                </a:cubicBezTo>
                <a:cubicBezTo>
                  <a:pt x="604723" y="22354"/>
                  <a:pt x="614172" y="36232"/>
                  <a:pt x="623621" y="52413"/>
                </a:cubicBezTo>
                <a:cubicBezTo>
                  <a:pt x="633070" y="68595"/>
                  <a:pt x="642518" y="89347"/>
                  <a:pt x="651967" y="110707"/>
                </a:cubicBezTo>
                <a:cubicBezTo>
                  <a:pt x="661416" y="132066"/>
                  <a:pt x="670865" y="156758"/>
                  <a:pt x="680314" y="180571"/>
                </a:cubicBezTo>
                <a:cubicBezTo>
                  <a:pt x="689762" y="204384"/>
                  <a:pt x="699211" y="229937"/>
                  <a:pt x="708660" y="253585"/>
                </a:cubicBezTo>
                <a:cubicBezTo>
                  <a:pt x="718109" y="277233"/>
                  <a:pt x="727558" y="301039"/>
                  <a:pt x="737006" y="322460"/>
                </a:cubicBezTo>
                <a:cubicBezTo>
                  <a:pt x="746455" y="343882"/>
                  <a:pt x="755904" y="364188"/>
                  <a:pt x="765353" y="382113"/>
                </a:cubicBezTo>
                <a:cubicBezTo>
                  <a:pt x="774802" y="400037"/>
                  <a:pt x="784250" y="416048"/>
                  <a:pt x="793699" y="430008"/>
                </a:cubicBezTo>
                <a:cubicBezTo>
                  <a:pt x="803148" y="443967"/>
                  <a:pt x="812597" y="455703"/>
                  <a:pt x="822046" y="465872"/>
                </a:cubicBezTo>
                <a:cubicBezTo>
                  <a:pt x="831494" y="476040"/>
                  <a:pt x="840943" y="484068"/>
                  <a:pt x="850392" y="491018"/>
                </a:cubicBezTo>
                <a:cubicBezTo>
                  <a:pt x="859841" y="497969"/>
                  <a:pt x="869290" y="503106"/>
                  <a:pt x="878738" y="507574"/>
                </a:cubicBezTo>
                <a:cubicBezTo>
                  <a:pt x="888187" y="512043"/>
                  <a:pt x="897636" y="515123"/>
                  <a:pt x="907085" y="517831"/>
                </a:cubicBezTo>
                <a:cubicBezTo>
                  <a:pt x="916534" y="520538"/>
                  <a:pt x="925982" y="522270"/>
                  <a:pt x="935431" y="523818"/>
                </a:cubicBezTo>
                <a:cubicBezTo>
                  <a:pt x="944880" y="525365"/>
                  <a:pt x="954329" y="526280"/>
                  <a:pt x="963778" y="527115"/>
                </a:cubicBezTo>
                <a:cubicBezTo>
                  <a:pt x="973226" y="527950"/>
                  <a:pt x="982675" y="528403"/>
                  <a:pt x="992124" y="528830"/>
                </a:cubicBezTo>
                <a:cubicBezTo>
                  <a:pt x="1001573" y="529256"/>
                  <a:pt x="1011022" y="529467"/>
                  <a:pt x="1020470" y="529672"/>
                </a:cubicBezTo>
                <a:cubicBezTo>
                  <a:pt x="1029919" y="529878"/>
                  <a:pt x="1039368" y="529970"/>
                  <a:pt x="1048817" y="530064"/>
                </a:cubicBezTo>
                <a:cubicBezTo>
                  <a:pt x="1058266" y="530158"/>
                  <a:pt x="1067714" y="530195"/>
                  <a:pt x="1077163" y="530236"/>
                </a:cubicBezTo>
                <a:cubicBezTo>
                  <a:pt x="1086612" y="530277"/>
                  <a:pt x="1096061" y="530291"/>
                  <a:pt x="1105510" y="530308"/>
                </a:cubicBezTo>
                <a:cubicBezTo>
                  <a:pt x="1114958" y="530324"/>
                  <a:pt x="1129132" y="530331"/>
                  <a:pt x="1133856" y="530336"/>
                </a:cubicBezTo>
              </a:path>
            </a:pathLst>
          </a:custGeom>
          <a:ln w="19050">
            <a:solidFill>
              <a:srgbClr val="4E90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4572000"/>
            <a:ext cx="1133856" cy="274320"/>
          </a:xfrm>
          <a:custGeom>
            <a:avLst/>
            <a:gdLst/>
            <a:ahLst/>
            <a:cxnLst/>
            <a:rect l="l" t="t" r="r" b="b"/>
            <a:pathLst>
              <a:path w="1133856" h="274320">
                <a:moveTo>
                  <a:pt x="0" y="257264"/>
                </a:moveTo>
                <a:cubicBezTo>
                  <a:pt x="4724" y="256379"/>
                  <a:pt x="18898" y="253934"/>
                  <a:pt x="28346" y="251958"/>
                </a:cubicBezTo>
                <a:cubicBezTo>
                  <a:pt x="37795" y="249982"/>
                  <a:pt x="47244" y="247825"/>
                  <a:pt x="56693" y="245407"/>
                </a:cubicBezTo>
                <a:cubicBezTo>
                  <a:pt x="66142" y="242989"/>
                  <a:pt x="75590" y="240360"/>
                  <a:pt x="85039" y="237452"/>
                </a:cubicBezTo>
                <a:cubicBezTo>
                  <a:pt x="94488" y="234543"/>
                  <a:pt x="103937" y="231395"/>
                  <a:pt x="113386" y="227956"/>
                </a:cubicBezTo>
                <a:cubicBezTo>
                  <a:pt x="122834" y="224518"/>
                  <a:pt x="132283" y="220814"/>
                  <a:pt x="141732" y="216819"/>
                </a:cubicBezTo>
                <a:cubicBezTo>
                  <a:pt x="151181" y="212825"/>
                  <a:pt x="160630" y="208546"/>
                  <a:pt x="170078" y="203991"/>
                </a:cubicBezTo>
                <a:cubicBezTo>
                  <a:pt x="179527" y="199436"/>
                  <a:pt x="188976" y="194585"/>
                  <a:pt x="198425" y="189487"/>
                </a:cubicBezTo>
                <a:cubicBezTo>
                  <a:pt x="207874" y="184389"/>
                  <a:pt x="217322" y="178997"/>
                  <a:pt x="226771" y="173403"/>
                </a:cubicBezTo>
                <a:cubicBezTo>
                  <a:pt x="236220" y="167810"/>
                  <a:pt x="245669" y="161937"/>
                  <a:pt x="255118" y="155926"/>
                </a:cubicBezTo>
                <a:cubicBezTo>
                  <a:pt x="264566" y="149915"/>
                  <a:pt x="274015" y="143656"/>
                  <a:pt x="283464" y="137338"/>
                </a:cubicBezTo>
                <a:cubicBezTo>
                  <a:pt x="292913" y="131020"/>
                  <a:pt x="302362" y="124502"/>
                  <a:pt x="311810" y="118017"/>
                </a:cubicBezTo>
                <a:cubicBezTo>
                  <a:pt x="321259" y="111533"/>
                  <a:pt x="330708" y="104914"/>
                  <a:pt x="340157" y="98431"/>
                </a:cubicBezTo>
                <a:cubicBezTo>
                  <a:pt x="349606" y="91949"/>
                  <a:pt x="359054" y="85413"/>
                  <a:pt x="368503" y="79121"/>
                </a:cubicBezTo>
                <a:cubicBezTo>
                  <a:pt x="377952" y="72829"/>
                  <a:pt x="387401" y="66580"/>
                  <a:pt x="396850" y="60679"/>
                </a:cubicBezTo>
                <a:cubicBezTo>
                  <a:pt x="406298" y="54779"/>
                  <a:pt x="415747" y="49025"/>
                  <a:pt x="425196" y="43720"/>
                </a:cubicBezTo>
                <a:cubicBezTo>
                  <a:pt x="434645" y="38415"/>
                  <a:pt x="444094" y="33364"/>
                  <a:pt x="453542" y="28848"/>
                </a:cubicBezTo>
                <a:cubicBezTo>
                  <a:pt x="462991" y="24331"/>
                  <a:pt x="472440" y="20176"/>
                  <a:pt x="481889" y="16620"/>
                </a:cubicBezTo>
                <a:cubicBezTo>
                  <a:pt x="491338" y="13065"/>
                  <a:pt x="500786" y="9969"/>
                  <a:pt x="510235" y="7515"/>
                </a:cubicBezTo>
                <a:cubicBezTo>
                  <a:pt x="519684" y="5062"/>
                  <a:pt x="529133" y="3151"/>
                  <a:pt x="538582" y="1898"/>
                </a:cubicBezTo>
                <a:cubicBezTo>
                  <a:pt x="548030" y="646"/>
                  <a:pt x="557479" y="0"/>
                  <a:pt x="566928" y="0"/>
                </a:cubicBezTo>
                <a:cubicBezTo>
                  <a:pt x="576377" y="0"/>
                  <a:pt x="585826" y="646"/>
                  <a:pt x="595274" y="1898"/>
                </a:cubicBezTo>
                <a:cubicBezTo>
                  <a:pt x="604723" y="3151"/>
                  <a:pt x="614172" y="5062"/>
                  <a:pt x="623621" y="7515"/>
                </a:cubicBezTo>
                <a:cubicBezTo>
                  <a:pt x="633070" y="9969"/>
                  <a:pt x="642518" y="13065"/>
                  <a:pt x="651967" y="16620"/>
                </a:cubicBezTo>
                <a:cubicBezTo>
                  <a:pt x="661416" y="20176"/>
                  <a:pt x="670865" y="24331"/>
                  <a:pt x="680314" y="28848"/>
                </a:cubicBezTo>
                <a:cubicBezTo>
                  <a:pt x="689762" y="33364"/>
                  <a:pt x="699211" y="38415"/>
                  <a:pt x="708660" y="43720"/>
                </a:cubicBezTo>
                <a:cubicBezTo>
                  <a:pt x="718109" y="49025"/>
                  <a:pt x="727558" y="54779"/>
                  <a:pt x="737006" y="60679"/>
                </a:cubicBezTo>
                <a:cubicBezTo>
                  <a:pt x="746455" y="66580"/>
                  <a:pt x="755904" y="72829"/>
                  <a:pt x="765353" y="79121"/>
                </a:cubicBezTo>
                <a:cubicBezTo>
                  <a:pt x="774802" y="85413"/>
                  <a:pt x="784250" y="91949"/>
                  <a:pt x="793699" y="98431"/>
                </a:cubicBezTo>
                <a:cubicBezTo>
                  <a:pt x="803148" y="104914"/>
                  <a:pt x="812597" y="111533"/>
                  <a:pt x="822046" y="118017"/>
                </a:cubicBezTo>
                <a:cubicBezTo>
                  <a:pt x="831494" y="124502"/>
                  <a:pt x="840943" y="131020"/>
                  <a:pt x="850392" y="137338"/>
                </a:cubicBezTo>
                <a:cubicBezTo>
                  <a:pt x="859841" y="143656"/>
                  <a:pt x="869290" y="149915"/>
                  <a:pt x="878738" y="155926"/>
                </a:cubicBezTo>
                <a:cubicBezTo>
                  <a:pt x="888187" y="161937"/>
                  <a:pt x="897636" y="167810"/>
                  <a:pt x="907085" y="173403"/>
                </a:cubicBezTo>
                <a:cubicBezTo>
                  <a:pt x="916534" y="178997"/>
                  <a:pt x="925982" y="184389"/>
                  <a:pt x="935431" y="189487"/>
                </a:cubicBezTo>
                <a:cubicBezTo>
                  <a:pt x="944880" y="194585"/>
                  <a:pt x="954329" y="199436"/>
                  <a:pt x="963778" y="203991"/>
                </a:cubicBezTo>
                <a:cubicBezTo>
                  <a:pt x="973226" y="208546"/>
                  <a:pt x="982675" y="212825"/>
                  <a:pt x="992124" y="216819"/>
                </a:cubicBezTo>
                <a:cubicBezTo>
                  <a:pt x="1001573" y="220814"/>
                  <a:pt x="1011022" y="224518"/>
                  <a:pt x="1020470" y="227956"/>
                </a:cubicBezTo>
                <a:cubicBezTo>
                  <a:pt x="1029919" y="231395"/>
                  <a:pt x="1039368" y="234543"/>
                  <a:pt x="1048817" y="237452"/>
                </a:cubicBezTo>
                <a:cubicBezTo>
                  <a:pt x="1058266" y="240360"/>
                  <a:pt x="1067714" y="242989"/>
                  <a:pt x="1077163" y="245407"/>
                </a:cubicBezTo>
                <a:cubicBezTo>
                  <a:pt x="1086612" y="247825"/>
                  <a:pt x="1096061" y="249982"/>
                  <a:pt x="1105510" y="251958"/>
                </a:cubicBezTo>
                <a:cubicBezTo>
                  <a:pt x="1114958" y="253934"/>
                  <a:pt x="1129132" y="253537"/>
                  <a:pt x="1133856" y="257264"/>
                </a:cubicBezTo>
                <a:cubicBezTo>
                  <a:pt x="1138580" y="260991"/>
                  <a:pt x="1322832" y="271477"/>
                  <a:pt x="1133856" y="274320"/>
                </a:cubicBezTo>
                <a:cubicBezTo>
                  <a:pt x="944880" y="277163"/>
                  <a:pt x="188976" y="274320"/>
                  <a:pt x="0" y="274320"/>
                </a:cubicBezTo>
                <a:close/>
              </a:path>
            </a:pathLst>
          </a:custGeom>
          <a:solidFill>
            <a:srgbClr val="DCE9F6"/>
          </a:solidFill>
          <a:ln w="6350">
            <a:solidFill>
              <a:srgbClr val="DCE9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24912" y="4572000"/>
            <a:ext cx="1133856" cy="257264"/>
          </a:xfrm>
          <a:custGeom>
            <a:avLst/>
            <a:gdLst/>
            <a:ahLst/>
            <a:cxnLst/>
            <a:rect l="l" t="t" r="r" b="b"/>
            <a:pathLst>
              <a:path w="1133856" h="257264">
                <a:moveTo>
                  <a:pt x="0" y="257264"/>
                </a:moveTo>
                <a:cubicBezTo>
                  <a:pt x="4724" y="256379"/>
                  <a:pt x="18898" y="253934"/>
                  <a:pt x="28346" y="251958"/>
                </a:cubicBezTo>
                <a:cubicBezTo>
                  <a:pt x="37795" y="249982"/>
                  <a:pt x="47244" y="247825"/>
                  <a:pt x="56693" y="245407"/>
                </a:cubicBezTo>
                <a:cubicBezTo>
                  <a:pt x="66142" y="242989"/>
                  <a:pt x="75590" y="240360"/>
                  <a:pt x="85039" y="237452"/>
                </a:cubicBezTo>
                <a:cubicBezTo>
                  <a:pt x="94488" y="234543"/>
                  <a:pt x="103937" y="231395"/>
                  <a:pt x="113386" y="227956"/>
                </a:cubicBezTo>
                <a:cubicBezTo>
                  <a:pt x="122834" y="224518"/>
                  <a:pt x="132283" y="220814"/>
                  <a:pt x="141732" y="216819"/>
                </a:cubicBezTo>
                <a:cubicBezTo>
                  <a:pt x="151181" y="212825"/>
                  <a:pt x="160630" y="208546"/>
                  <a:pt x="170078" y="203991"/>
                </a:cubicBezTo>
                <a:cubicBezTo>
                  <a:pt x="179527" y="199436"/>
                  <a:pt x="188976" y="194585"/>
                  <a:pt x="198425" y="189487"/>
                </a:cubicBezTo>
                <a:cubicBezTo>
                  <a:pt x="207874" y="184389"/>
                  <a:pt x="217322" y="178997"/>
                  <a:pt x="226771" y="173403"/>
                </a:cubicBezTo>
                <a:cubicBezTo>
                  <a:pt x="236220" y="167810"/>
                  <a:pt x="245669" y="161937"/>
                  <a:pt x="255118" y="155926"/>
                </a:cubicBezTo>
                <a:cubicBezTo>
                  <a:pt x="264566" y="149915"/>
                  <a:pt x="274015" y="143656"/>
                  <a:pt x="283464" y="137338"/>
                </a:cubicBezTo>
                <a:cubicBezTo>
                  <a:pt x="292913" y="131020"/>
                  <a:pt x="302362" y="124502"/>
                  <a:pt x="311810" y="118017"/>
                </a:cubicBezTo>
                <a:cubicBezTo>
                  <a:pt x="321259" y="111533"/>
                  <a:pt x="330708" y="104914"/>
                  <a:pt x="340157" y="98431"/>
                </a:cubicBezTo>
                <a:cubicBezTo>
                  <a:pt x="349606" y="91949"/>
                  <a:pt x="359054" y="85413"/>
                  <a:pt x="368503" y="79121"/>
                </a:cubicBezTo>
                <a:cubicBezTo>
                  <a:pt x="377952" y="72829"/>
                  <a:pt x="387401" y="66580"/>
                  <a:pt x="396850" y="60679"/>
                </a:cubicBezTo>
                <a:cubicBezTo>
                  <a:pt x="406298" y="54779"/>
                  <a:pt x="415747" y="49025"/>
                  <a:pt x="425196" y="43720"/>
                </a:cubicBezTo>
                <a:cubicBezTo>
                  <a:pt x="434645" y="38415"/>
                  <a:pt x="444094" y="33364"/>
                  <a:pt x="453542" y="28848"/>
                </a:cubicBezTo>
                <a:cubicBezTo>
                  <a:pt x="462991" y="24331"/>
                  <a:pt x="472440" y="20176"/>
                  <a:pt x="481889" y="16620"/>
                </a:cubicBezTo>
                <a:cubicBezTo>
                  <a:pt x="491338" y="13065"/>
                  <a:pt x="500786" y="9969"/>
                  <a:pt x="510235" y="7515"/>
                </a:cubicBezTo>
                <a:cubicBezTo>
                  <a:pt x="519684" y="5062"/>
                  <a:pt x="529133" y="3151"/>
                  <a:pt x="538582" y="1898"/>
                </a:cubicBezTo>
                <a:cubicBezTo>
                  <a:pt x="548030" y="646"/>
                  <a:pt x="557479" y="0"/>
                  <a:pt x="566928" y="0"/>
                </a:cubicBezTo>
                <a:cubicBezTo>
                  <a:pt x="576377" y="0"/>
                  <a:pt x="585826" y="646"/>
                  <a:pt x="595274" y="1898"/>
                </a:cubicBezTo>
                <a:cubicBezTo>
                  <a:pt x="604723" y="3151"/>
                  <a:pt x="614172" y="5062"/>
                  <a:pt x="623621" y="7515"/>
                </a:cubicBezTo>
                <a:cubicBezTo>
                  <a:pt x="633070" y="9969"/>
                  <a:pt x="642518" y="13065"/>
                  <a:pt x="651967" y="16620"/>
                </a:cubicBezTo>
                <a:cubicBezTo>
                  <a:pt x="661416" y="20176"/>
                  <a:pt x="670865" y="24331"/>
                  <a:pt x="680314" y="28848"/>
                </a:cubicBezTo>
                <a:cubicBezTo>
                  <a:pt x="689762" y="33364"/>
                  <a:pt x="699211" y="38415"/>
                  <a:pt x="708660" y="43720"/>
                </a:cubicBezTo>
                <a:cubicBezTo>
                  <a:pt x="718109" y="49025"/>
                  <a:pt x="727558" y="54779"/>
                  <a:pt x="737006" y="60679"/>
                </a:cubicBezTo>
                <a:cubicBezTo>
                  <a:pt x="746455" y="66580"/>
                  <a:pt x="755904" y="72829"/>
                  <a:pt x="765353" y="79121"/>
                </a:cubicBezTo>
                <a:cubicBezTo>
                  <a:pt x="774802" y="85413"/>
                  <a:pt x="784250" y="91949"/>
                  <a:pt x="793699" y="98431"/>
                </a:cubicBezTo>
                <a:cubicBezTo>
                  <a:pt x="803148" y="104914"/>
                  <a:pt x="812597" y="111533"/>
                  <a:pt x="822046" y="118017"/>
                </a:cubicBezTo>
                <a:cubicBezTo>
                  <a:pt x="831494" y="124502"/>
                  <a:pt x="840943" y="131020"/>
                  <a:pt x="850392" y="137338"/>
                </a:cubicBezTo>
                <a:cubicBezTo>
                  <a:pt x="859841" y="143656"/>
                  <a:pt x="869290" y="149915"/>
                  <a:pt x="878738" y="155926"/>
                </a:cubicBezTo>
                <a:cubicBezTo>
                  <a:pt x="888187" y="161937"/>
                  <a:pt x="897636" y="167810"/>
                  <a:pt x="907085" y="173403"/>
                </a:cubicBezTo>
                <a:cubicBezTo>
                  <a:pt x="916534" y="178997"/>
                  <a:pt x="925982" y="184389"/>
                  <a:pt x="935431" y="189487"/>
                </a:cubicBezTo>
                <a:cubicBezTo>
                  <a:pt x="944880" y="194585"/>
                  <a:pt x="954329" y="199436"/>
                  <a:pt x="963778" y="203991"/>
                </a:cubicBezTo>
                <a:cubicBezTo>
                  <a:pt x="973226" y="208546"/>
                  <a:pt x="982675" y="212825"/>
                  <a:pt x="992124" y="216819"/>
                </a:cubicBezTo>
                <a:cubicBezTo>
                  <a:pt x="1001573" y="220814"/>
                  <a:pt x="1011022" y="224518"/>
                  <a:pt x="1020470" y="227956"/>
                </a:cubicBezTo>
                <a:cubicBezTo>
                  <a:pt x="1029919" y="231395"/>
                  <a:pt x="1039368" y="234543"/>
                  <a:pt x="1048817" y="237452"/>
                </a:cubicBezTo>
                <a:cubicBezTo>
                  <a:pt x="1058266" y="240360"/>
                  <a:pt x="1067714" y="242989"/>
                  <a:pt x="1077163" y="245407"/>
                </a:cubicBezTo>
                <a:cubicBezTo>
                  <a:pt x="1086612" y="247825"/>
                  <a:pt x="1096061" y="249982"/>
                  <a:pt x="1105510" y="251958"/>
                </a:cubicBezTo>
                <a:cubicBezTo>
                  <a:pt x="1114958" y="253934"/>
                  <a:pt x="1129132" y="256379"/>
                  <a:pt x="1133856" y="257264"/>
                </a:cubicBezTo>
              </a:path>
            </a:pathLst>
          </a:custGeom>
          <a:ln w="19050">
            <a:solidFill>
              <a:srgbClr val="4E90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9392" y="4373252"/>
            <a:ext cx="1133856" cy="473068"/>
          </a:xfrm>
          <a:custGeom>
            <a:avLst/>
            <a:gdLst/>
            <a:ahLst/>
            <a:cxnLst/>
            <a:rect l="l" t="t" r="r" b="b"/>
            <a:pathLst>
              <a:path w="1133856" h="473068">
                <a:moveTo>
                  <a:pt x="0" y="473068"/>
                </a:moveTo>
                <a:cubicBezTo>
                  <a:pt x="4724" y="473068"/>
                  <a:pt x="18898" y="473068"/>
                  <a:pt x="28346" y="473068"/>
                </a:cubicBezTo>
                <a:cubicBezTo>
                  <a:pt x="37795" y="473068"/>
                  <a:pt x="47244" y="473068"/>
                  <a:pt x="56693" y="473068"/>
                </a:cubicBezTo>
                <a:cubicBezTo>
                  <a:pt x="66142" y="473068"/>
                  <a:pt x="75590" y="473068"/>
                  <a:pt x="85039" y="473068"/>
                </a:cubicBezTo>
                <a:cubicBezTo>
                  <a:pt x="94488" y="473068"/>
                  <a:pt x="103937" y="473068"/>
                  <a:pt x="113386" y="473068"/>
                </a:cubicBezTo>
                <a:cubicBezTo>
                  <a:pt x="122834" y="473068"/>
                  <a:pt x="132283" y="473068"/>
                  <a:pt x="141732" y="473068"/>
                </a:cubicBezTo>
                <a:cubicBezTo>
                  <a:pt x="151181" y="473068"/>
                  <a:pt x="160630" y="473068"/>
                  <a:pt x="170078" y="473067"/>
                </a:cubicBezTo>
                <a:cubicBezTo>
                  <a:pt x="179527" y="473067"/>
                  <a:pt x="188976" y="473067"/>
                  <a:pt x="198425" y="473065"/>
                </a:cubicBezTo>
                <a:cubicBezTo>
                  <a:pt x="207874" y="473064"/>
                  <a:pt x="217322" y="473063"/>
                  <a:pt x="226771" y="473058"/>
                </a:cubicBezTo>
                <a:cubicBezTo>
                  <a:pt x="236220" y="473054"/>
                  <a:pt x="245669" y="473051"/>
                  <a:pt x="255118" y="473038"/>
                </a:cubicBezTo>
                <a:cubicBezTo>
                  <a:pt x="264566" y="473024"/>
                  <a:pt x="274015" y="473015"/>
                  <a:pt x="283464" y="472979"/>
                </a:cubicBezTo>
                <a:cubicBezTo>
                  <a:pt x="292913" y="472943"/>
                  <a:pt x="302362" y="472913"/>
                  <a:pt x="311810" y="472821"/>
                </a:cubicBezTo>
                <a:cubicBezTo>
                  <a:pt x="321259" y="472730"/>
                  <a:pt x="330708" y="472646"/>
                  <a:pt x="340157" y="472429"/>
                </a:cubicBezTo>
                <a:cubicBezTo>
                  <a:pt x="349606" y="472212"/>
                  <a:pt x="359054" y="472000"/>
                  <a:pt x="368503" y="471518"/>
                </a:cubicBezTo>
                <a:cubicBezTo>
                  <a:pt x="377952" y="471036"/>
                  <a:pt x="387401" y="470537"/>
                  <a:pt x="396850" y="469538"/>
                </a:cubicBezTo>
                <a:cubicBezTo>
                  <a:pt x="406298" y="468540"/>
                  <a:pt x="415747" y="467458"/>
                  <a:pt x="425196" y="465528"/>
                </a:cubicBezTo>
                <a:cubicBezTo>
                  <a:pt x="434645" y="463598"/>
                  <a:pt x="444094" y="461436"/>
                  <a:pt x="453542" y="457958"/>
                </a:cubicBezTo>
                <a:cubicBezTo>
                  <a:pt x="462991" y="454480"/>
                  <a:pt x="472440" y="450493"/>
                  <a:pt x="481889" y="444658"/>
                </a:cubicBezTo>
                <a:cubicBezTo>
                  <a:pt x="491338" y="438824"/>
                  <a:pt x="500786" y="432041"/>
                  <a:pt x="510235" y="422952"/>
                </a:cubicBezTo>
                <a:cubicBezTo>
                  <a:pt x="519684" y="413863"/>
                  <a:pt x="529133" y="403237"/>
                  <a:pt x="538582" y="390124"/>
                </a:cubicBezTo>
                <a:cubicBezTo>
                  <a:pt x="548030" y="377011"/>
                  <a:pt x="557479" y="361722"/>
                  <a:pt x="566928" y="344274"/>
                </a:cubicBezTo>
                <a:cubicBezTo>
                  <a:pt x="576377" y="326825"/>
                  <a:pt x="585826" y="306712"/>
                  <a:pt x="595274" y="285434"/>
                </a:cubicBezTo>
                <a:cubicBezTo>
                  <a:pt x="604723" y="264155"/>
                  <a:pt x="614172" y="240145"/>
                  <a:pt x="623621" y="216603"/>
                </a:cubicBezTo>
                <a:cubicBezTo>
                  <a:pt x="633070" y="193060"/>
                  <a:pt x="642518" y="167386"/>
                  <a:pt x="651967" y="144180"/>
                </a:cubicBezTo>
                <a:cubicBezTo>
                  <a:pt x="661416" y="120973"/>
                  <a:pt x="670865" y="96995"/>
                  <a:pt x="680314" y="77364"/>
                </a:cubicBezTo>
                <a:cubicBezTo>
                  <a:pt x="689762" y="57732"/>
                  <a:pt x="699211" y="39283"/>
                  <a:pt x="708660" y="26389"/>
                </a:cubicBezTo>
                <a:cubicBezTo>
                  <a:pt x="718109" y="13495"/>
                  <a:pt x="727558" y="3897"/>
                  <a:pt x="737006" y="0"/>
                </a:cubicBezTo>
                <a:cubicBezTo>
                  <a:pt x="746455" y="-3897"/>
                  <a:pt x="755904" y="-2802"/>
                  <a:pt x="765353" y="3007"/>
                </a:cubicBezTo>
                <a:cubicBezTo>
                  <a:pt x="774802" y="8816"/>
                  <a:pt x="784250" y="20391"/>
                  <a:pt x="793699" y="34854"/>
                </a:cubicBezTo>
                <a:cubicBezTo>
                  <a:pt x="803148" y="49316"/>
                  <a:pt x="812597" y="69168"/>
                  <a:pt x="822046" y="89783"/>
                </a:cubicBezTo>
                <a:cubicBezTo>
                  <a:pt x="831494" y="110397"/>
                  <a:pt x="840943" y="135018"/>
                  <a:pt x="850392" y="158539"/>
                </a:cubicBezTo>
                <a:cubicBezTo>
                  <a:pt x="859841" y="182060"/>
                  <a:pt x="869290" y="207641"/>
                  <a:pt x="878738" y="230909"/>
                </a:cubicBezTo>
                <a:cubicBezTo>
                  <a:pt x="888187" y="254176"/>
                  <a:pt x="897636" y="277544"/>
                  <a:pt x="907085" y="298146"/>
                </a:cubicBezTo>
                <a:cubicBezTo>
                  <a:pt x="916534" y="318748"/>
                  <a:pt x="925982" y="337930"/>
                  <a:pt x="935431" y="354521"/>
                </a:cubicBezTo>
                <a:cubicBezTo>
                  <a:pt x="944880" y="371112"/>
                  <a:pt x="954329" y="385428"/>
                  <a:pt x="963778" y="397691"/>
                </a:cubicBezTo>
                <a:cubicBezTo>
                  <a:pt x="973226" y="409954"/>
                  <a:pt x="982675" y="419733"/>
                  <a:pt x="992124" y="428101"/>
                </a:cubicBezTo>
                <a:cubicBezTo>
                  <a:pt x="1001573" y="436470"/>
                  <a:pt x="1011022" y="442609"/>
                  <a:pt x="1020470" y="447900"/>
                </a:cubicBezTo>
                <a:cubicBezTo>
                  <a:pt x="1029919" y="453192"/>
                  <a:pt x="1039368" y="456743"/>
                  <a:pt x="1048817" y="459852"/>
                </a:cubicBezTo>
                <a:cubicBezTo>
                  <a:pt x="1058266" y="462962"/>
                  <a:pt x="1067714" y="464856"/>
                  <a:pt x="1077163" y="466557"/>
                </a:cubicBezTo>
                <a:cubicBezTo>
                  <a:pt x="1086612" y="468258"/>
                  <a:pt x="1096061" y="469191"/>
                  <a:pt x="1105510" y="470059"/>
                </a:cubicBezTo>
                <a:cubicBezTo>
                  <a:pt x="1114958" y="470926"/>
                  <a:pt x="1129132" y="471261"/>
                  <a:pt x="1133856" y="471763"/>
                </a:cubicBezTo>
                <a:cubicBezTo>
                  <a:pt x="1138580" y="472265"/>
                  <a:pt x="1322832" y="472851"/>
                  <a:pt x="1133856" y="473068"/>
                </a:cubicBezTo>
                <a:cubicBezTo>
                  <a:pt x="944880" y="473286"/>
                  <a:pt x="188976" y="473068"/>
                  <a:pt x="0" y="473068"/>
                </a:cubicBezTo>
                <a:close/>
              </a:path>
            </a:pathLst>
          </a:custGeom>
          <a:solidFill>
            <a:srgbClr val="DCE9F6"/>
          </a:solidFill>
          <a:ln w="6350">
            <a:solidFill>
              <a:srgbClr val="DCE9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4373252"/>
            <a:ext cx="1133856" cy="473068"/>
          </a:xfrm>
          <a:custGeom>
            <a:avLst/>
            <a:gdLst/>
            <a:ahLst/>
            <a:cxnLst/>
            <a:rect l="l" t="t" r="r" b="b"/>
            <a:pathLst>
              <a:path w="1133856" h="473068">
                <a:moveTo>
                  <a:pt x="0" y="473068"/>
                </a:moveTo>
                <a:cubicBezTo>
                  <a:pt x="4724" y="473068"/>
                  <a:pt x="18898" y="473068"/>
                  <a:pt x="28346" y="473068"/>
                </a:cubicBezTo>
                <a:cubicBezTo>
                  <a:pt x="37795" y="473068"/>
                  <a:pt x="47244" y="473068"/>
                  <a:pt x="56693" y="473068"/>
                </a:cubicBezTo>
                <a:cubicBezTo>
                  <a:pt x="66142" y="473068"/>
                  <a:pt x="75590" y="473068"/>
                  <a:pt x="85039" y="473068"/>
                </a:cubicBezTo>
                <a:cubicBezTo>
                  <a:pt x="94488" y="473068"/>
                  <a:pt x="103937" y="473068"/>
                  <a:pt x="113386" y="473068"/>
                </a:cubicBezTo>
                <a:cubicBezTo>
                  <a:pt x="122834" y="473068"/>
                  <a:pt x="132283" y="473068"/>
                  <a:pt x="141732" y="473068"/>
                </a:cubicBezTo>
                <a:cubicBezTo>
                  <a:pt x="151181" y="473068"/>
                  <a:pt x="160630" y="473068"/>
                  <a:pt x="170078" y="473067"/>
                </a:cubicBezTo>
                <a:cubicBezTo>
                  <a:pt x="179527" y="473067"/>
                  <a:pt x="188976" y="473067"/>
                  <a:pt x="198425" y="473065"/>
                </a:cubicBezTo>
                <a:cubicBezTo>
                  <a:pt x="207874" y="473064"/>
                  <a:pt x="217322" y="473063"/>
                  <a:pt x="226771" y="473058"/>
                </a:cubicBezTo>
                <a:cubicBezTo>
                  <a:pt x="236220" y="473054"/>
                  <a:pt x="245669" y="473051"/>
                  <a:pt x="255118" y="473038"/>
                </a:cubicBezTo>
                <a:cubicBezTo>
                  <a:pt x="264566" y="473024"/>
                  <a:pt x="274015" y="473015"/>
                  <a:pt x="283464" y="472979"/>
                </a:cubicBezTo>
                <a:cubicBezTo>
                  <a:pt x="292913" y="472943"/>
                  <a:pt x="302362" y="472913"/>
                  <a:pt x="311810" y="472821"/>
                </a:cubicBezTo>
                <a:cubicBezTo>
                  <a:pt x="321259" y="472730"/>
                  <a:pt x="330708" y="472646"/>
                  <a:pt x="340157" y="472429"/>
                </a:cubicBezTo>
                <a:cubicBezTo>
                  <a:pt x="349606" y="472212"/>
                  <a:pt x="359054" y="472000"/>
                  <a:pt x="368503" y="471518"/>
                </a:cubicBezTo>
                <a:cubicBezTo>
                  <a:pt x="377952" y="471036"/>
                  <a:pt x="387401" y="470537"/>
                  <a:pt x="396850" y="469538"/>
                </a:cubicBezTo>
                <a:cubicBezTo>
                  <a:pt x="406298" y="468540"/>
                  <a:pt x="415747" y="467458"/>
                  <a:pt x="425196" y="465528"/>
                </a:cubicBezTo>
                <a:cubicBezTo>
                  <a:pt x="434645" y="463598"/>
                  <a:pt x="444094" y="461436"/>
                  <a:pt x="453542" y="457958"/>
                </a:cubicBezTo>
                <a:cubicBezTo>
                  <a:pt x="462991" y="454480"/>
                  <a:pt x="472440" y="450493"/>
                  <a:pt x="481889" y="444658"/>
                </a:cubicBezTo>
                <a:cubicBezTo>
                  <a:pt x="491338" y="438824"/>
                  <a:pt x="500786" y="432041"/>
                  <a:pt x="510235" y="422952"/>
                </a:cubicBezTo>
                <a:cubicBezTo>
                  <a:pt x="519684" y="413863"/>
                  <a:pt x="529133" y="403237"/>
                  <a:pt x="538582" y="390124"/>
                </a:cubicBezTo>
                <a:cubicBezTo>
                  <a:pt x="548030" y="377011"/>
                  <a:pt x="557479" y="361722"/>
                  <a:pt x="566928" y="344274"/>
                </a:cubicBezTo>
                <a:cubicBezTo>
                  <a:pt x="576377" y="326825"/>
                  <a:pt x="585826" y="306712"/>
                  <a:pt x="595274" y="285434"/>
                </a:cubicBezTo>
                <a:cubicBezTo>
                  <a:pt x="604723" y="264155"/>
                  <a:pt x="614172" y="240145"/>
                  <a:pt x="623621" y="216603"/>
                </a:cubicBezTo>
                <a:cubicBezTo>
                  <a:pt x="633070" y="193060"/>
                  <a:pt x="642518" y="167386"/>
                  <a:pt x="651967" y="144180"/>
                </a:cubicBezTo>
                <a:cubicBezTo>
                  <a:pt x="661416" y="120973"/>
                  <a:pt x="670865" y="96995"/>
                  <a:pt x="680314" y="77364"/>
                </a:cubicBezTo>
                <a:cubicBezTo>
                  <a:pt x="689762" y="57732"/>
                  <a:pt x="699211" y="39283"/>
                  <a:pt x="708660" y="26389"/>
                </a:cubicBezTo>
                <a:cubicBezTo>
                  <a:pt x="718109" y="13495"/>
                  <a:pt x="727558" y="3897"/>
                  <a:pt x="737006" y="0"/>
                </a:cubicBezTo>
                <a:cubicBezTo>
                  <a:pt x="746455" y="-3897"/>
                  <a:pt x="755904" y="-2802"/>
                  <a:pt x="765353" y="3007"/>
                </a:cubicBezTo>
                <a:cubicBezTo>
                  <a:pt x="774802" y="8816"/>
                  <a:pt x="784250" y="20391"/>
                  <a:pt x="793699" y="34854"/>
                </a:cubicBezTo>
                <a:cubicBezTo>
                  <a:pt x="803148" y="49316"/>
                  <a:pt x="812597" y="69168"/>
                  <a:pt x="822046" y="89783"/>
                </a:cubicBezTo>
                <a:cubicBezTo>
                  <a:pt x="831494" y="110397"/>
                  <a:pt x="840943" y="135018"/>
                  <a:pt x="850392" y="158539"/>
                </a:cubicBezTo>
                <a:cubicBezTo>
                  <a:pt x="859841" y="182060"/>
                  <a:pt x="869290" y="207641"/>
                  <a:pt x="878738" y="230909"/>
                </a:cubicBezTo>
                <a:cubicBezTo>
                  <a:pt x="888187" y="254176"/>
                  <a:pt x="897636" y="277544"/>
                  <a:pt x="907085" y="298146"/>
                </a:cubicBezTo>
                <a:cubicBezTo>
                  <a:pt x="916534" y="318748"/>
                  <a:pt x="925982" y="337930"/>
                  <a:pt x="935431" y="354521"/>
                </a:cubicBezTo>
                <a:cubicBezTo>
                  <a:pt x="944880" y="371112"/>
                  <a:pt x="954329" y="385428"/>
                  <a:pt x="963778" y="397691"/>
                </a:cubicBezTo>
                <a:cubicBezTo>
                  <a:pt x="973226" y="409954"/>
                  <a:pt x="982675" y="419733"/>
                  <a:pt x="992124" y="428101"/>
                </a:cubicBezTo>
                <a:cubicBezTo>
                  <a:pt x="1001573" y="436470"/>
                  <a:pt x="1011022" y="442609"/>
                  <a:pt x="1020470" y="447900"/>
                </a:cubicBezTo>
                <a:cubicBezTo>
                  <a:pt x="1029919" y="453192"/>
                  <a:pt x="1039368" y="456743"/>
                  <a:pt x="1048817" y="459852"/>
                </a:cubicBezTo>
                <a:cubicBezTo>
                  <a:pt x="1058266" y="462962"/>
                  <a:pt x="1067714" y="464856"/>
                  <a:pt x="1077163" y="466557"/>
                </a:cubicBezTo>
                <a:cubicBezTo>
                  <a:pt x="1086612" y="468258"/>
                  <a:pt x="1096061" y="469191"/>
                  <a:pt x="1105510" y="470059"/>
                </a:cubicBezTo>
                <a:cubicBezTo>
                  <a:pt x="1114958" y="470926"/>
                  <a:pt x="1129132" y="471479"/>
                  <a:pt x="1133856" y="471763"/>
                </a:cubicBezTo>
              </a:path>
            </a:pathLst>
          </a:custGeom>
          <a:ln w="19050">
            <a:solidFill>
              <a:srgbClr val="4E90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99262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同一个电平，周期内的形状在变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2784" y="2139696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232257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本文处理的缺口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38544" y="26151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跨周期电平漂移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638544" y="29992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形状不变，整体逐周期抬升。窗口中心化只移除共同电平，并不消除周期之间的电平差异。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84848" y="4846320"/>
            <a:ext cx="1316736" cy="0"/>
          </a:xfrm>
          <a:prstGeom prst="line">
            <a:avLst/>
          </a:prstGeom>
          <a:noFill/>
          <a:ln w="12700">
            <a:solidFill>
              <a:srgbClr val="4E90C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876288" y="4389120"/>
            <a:ext cx="1133856" cy="457200"/>
          </a:xfrm>
          <a:custGeom>
            <a:avLst/>
            <a:gdLst/>
            <a:ahLst/>
            <a:cxnLst/>
            <a:rect l="l" t="t" r="r" b="b"/>
            <a:pathLst>
              <a:path w="1133856" h="457200">
                <a:moveTo>
                  <a:pt x="0" y="456317"/>
                </a:moveTo>
                <a:cubicBezTo>
                  <a:pt x="4724" y="456194"/>
                  <a:pt x="18898" y="455912"/>
                  <a:pt x="28346" y="455577"/>
                </a:cubicBezTo>
                <a:cubicBezTo>
                  <a:pt x="37795" y="455241"/>
                  <a:pt x="47244" y="454869"/>
                  <a:pt x="56693" y="454306"/>
                </a:cubicBezTo>
                <a:cubicBezTo>
                  <a:pt x="66142" y="453743"/>
                  <a:pt x="75590" y="453113"/>
                  <a:pt x="85039" y="452200"/>
                </a:cubicBezTo>
                <a:cubicBezTo>
                  <a:pt x="94488" y="451286"/>
                  <a:pt x="103937" y="450258"/>
                  <a:pt x="113386" y="448826"/>
                </a:cubicBezTo>
                <a:cubicBezTo>
                  <a:pt x="122834" y="447394"/>
                  <a:pt x="132283" y="445776"/>
                  <a:pt x="141732" y="443608"/>
                </a:cubicBezTo>
                <a:cubicBezTo>
                  <a:pt x="151181" y="441440"/>
                  <a:pt x="160630" y="438985"/>
                  <a:pt x="170078" y="435816"/>
                </a:cubicBezTo>
                <a:cubicBezTo>
                  <a:pt x="179527" y="432648"/>
                  <a:pt x="188976" y="429062"/>
                  <a:pt x="198425" y="424594"/>
                </a:cubicBezTo>
                <a:cubicBezTo>
                  <a:pt x="207874" y="420127"/>
                  <a:pt x="217322" y="415082"/>
                  <a:pt x="226771" y="409011"/>
                </a:cubicBezTo>
                <a:cubicBezTo>
                  <a:pt x="236220" y="402941"/>
                  <a:pt x="245669" y="396114"/>
                  <a:pt x="255118" y="388173"/>
                </a:cubicBezTo>
                <a:cubicBezTo>
                  <a:pt x="264566" y="380232"/>
                  <a:pt x="274015" y="371354"/>
                  <a:pt x="283464" y="361366"/>
                </a:cubicBezTo>
                <a:cubicBezTo>
                  <a:pt x="292913" y="351377"/>
                  <a:pt x="302362" y="340301"/>
                  <a:pt x="311810" y="328241"/>
                </a:cubicBezTo>
                <a:cubicBezTo>
                  <a:pt x="321259" y="316181"/>
                  <a:pt x="330708" y="302949"/>
                  <a:pt x="340157" y="289006"/>
                </a:cubicBezTo>
                <a:cubicBezTo>
                  <a:pt x="349606" y="275062"/>
                  <a:pt x="359054" y="259967"/>
                  <a:pt x="368503" y="244582"/>
                </a:cubicBezTo>
                <a:cubicBezTo>
                  <a:pt x="377952" y="229197"/>
                  <a:pt x="387401" y="212819"/>
                  <a:pt x="396850" y="196695"/>
                </a:cubicBezTo>
                <a:cubicBezTo>
                  <a:pt x="406298" y="180572"/>
                  <a:pt x="415747" y="163770"/>
                  <a:pt x="425196" y="147843"/>
                </a:cubicBezTo>
                <a:cubicBezTo>
                  <a:pt x="434645" y="131916"/>
                  <a:pt x="444094" y="115776"/>
                  <a:pt x="453542" y="101132"/>
                </a:cubicBezTo>
                <a:cubicBezTo>
                  <a:pt x="462991" y="86488"/>
                  <a:pt x="472440" y="72216"/>
                  <a:pt x="481889" y="59978"/>
                </a:cubicBezTo>
                <a:cubicBezTo>
                  <a:pt x="491338" y="47739"/>
                  <a:pt x="500786" y="36515"/>
                  <a:pt x="510235" y="27700"/>
                </a:cubicBezTo>
                <a:cubicBezTo>
                  <a:pt x="519684" y="18885"/>
                  <a:pt x="529133" y="11705"/>
                  <a:pt x="538582" y="7088"/>
                </a:cubicBezTo>
                <a:cubicBezTo>
                  <a:pt x="548030" y="2472"/>
                  <a:pt x="557479" y="0"/>
                  <a:pt x="566928" y="0"/>
                </a:cubicBezTo>
                <a:cubicBezTo>
                  <a:pt x="576377" y="0"/>
                  <a:pt x="585826" y="2472"/>
                  <a:pt x="595274" y="7088"/>
                </a:cubicBezTo>
                <a:cubicBezTo>
                  <a:pt x="604723" y="11705"/>
                  <a:pt x="614172" y="18885"/>
                  <a:pt x="623621" y="27700"/>
                </a:cubicBezTo>
                <a:cubicBezTo>
                  <a:pt x="633070" y="36515"/>
                  <a:pt x="642518" y="47739"/>
                  <a:pt x="651967" y="59978"/>
                </a:cubicBezTo>
                <a:cubicBezTo>
                  <a:pt x="661416" y="72216"/>
                  <a:pt x="670865" y="86488"/>
                  <a:pt x="680314" y="101132"/>
                </a:cubicBezTo>
                <a:cubicBezTo>
                  <a:pt x="689762" y="115776"/>
                  <a:pt x="699211" y="131916"/>
                  <a:pt x="708660" y="147843"/>
                </a:cubicBezTo>
                <a:cubicBezTo>
                  <a:pt x="718109" y="163770"/>
                  <a:pt x="727558" y="180572"/>
                  <a:pt x="737006" y="196695"/>
                </a:cubicBezTo>
                <a:cubicBezTo>
                  <a:pt x="746455" y="212819"/>
                  <a:pt x="755904" y="229197"/>
                  <a:pt x="765353" y="244582"/>
                </a:cubicBezTo>
                <a:cubicBezTo>
                  <a:pt x="774802" y="259967"/>
                  <a:pt x="784250" y="275062"/>
                  <a:pt x="793699" y="289006"/>
                </a:cubicBezTo>
                <a:cubicBezTo>
                  <a:pt x="803148" y="302949"/>
                  <a:pt x="812597" y="316181"/>
                  <a:pt x="822046" y="328241"/>
                </a:cubicBezTo>
                <a:cubicBezTo>
                  <a:pt x="831494" y="340301"/>
                  <a:pt x="840943" y="351377"/>
                  <a:pt x="850392" y="361366"/>
                </a:cubicBezTo>
                <a:cubicBezTo>
                  <a:pt x="859841" y="371354"/>
                  <a:pt x="869290" y="380232"/>
                  <a:pt x="878738" y="388173"/>
                </a:cubicBezTo>
                <a:cubicBezTo>
                  <a:pt x="888187" y="396114"/>
                  <a:pt x="897636" y="402941"/>
                  <a:pt x="907085" y="409011"/>
                </a:cubicBezTo>
                <a:cubicBezTo>
                  <a:pt x="916534" y="415082"/>
                  <a:pt x="925982" y="420127"/>
                  <a:pt x="935431" y="424594"/>
                </a:cubicBezTo>
                <a:cubicBezTo>
                  <a:pt x="944880" y="429062"/>
                  <a:pt x="954329" y="432648"/>
                  <a:pt x="963778" y="435816"/>
                </a:cubicBezTo>
                <a:cubicBezTo>
                  <a:pt x="973226" y="438985"/>
                  <a:pt x="982675" y="441440"/>
                  <a:pt x="992124" y="443608"/>
                </a:cubicBezTo>
                <a:cubicBezTo>
                  <a:pt x="1001573" y="445776"/>
                  <a:pt x="1011022" y="447394"/>
                  <a:pt x="1020470" y="448826"/>
                </a:cubicBezTo>
                <a:cubicBezTo>
                  <a:pt x="1029919" y="450258"/>
                  <a:pt x="1039368" y="451286"/>
                  <a:pt x="1048817" y="452200"/>
                </a:cubicBezTo>
                <a:cubicBezTo>
                  <a:pt x="1058266" y="453113"/>
                  <a:pt x="1067714" y="453743"/>
                  <a:pt x="1077163" y="454306"/>
                </a:cubicBezTo>
                <a:cubicBezTo>
                  <a:pt x="1086612" y="454869"/>
                  <a:pt x="1096061" y="455241"/>
                  <a:pt x="1105510" y="455577"/>
                </a:cubicBezTo>
                <a:cubicBezTo>
                  <a:pt x="1114958" y="455912"/>
                  <a:pt x="1129132" y="456047"/>
                  <a:pt x="1133856" y="456317"/>
                </a:cubicBezTo>
                <a:cubicBezTo>
                  <a:pt x="1138580" y="456588"/>
                  <a:pt x="1322832" y="457053"/>
                  <a:pt x="1133856" y="457200"/>
                </a:cubicBezTo>
                <a:cubicBezTo>
                  <a:pt x="944880" y="457347"/>
                  <a:pt x="188976" y="457200"/>
                  <a:pt x="0" y="457200"/>
                </a:cubicBezTo>
                <a:close/>
              </a:path>
            </a:pathLst>
          </a:custGeom>
          <a:solidFill>
            <a:srgbClr val="DCE9F6"/>
          </a:solidFill>
          <a:ln w="6350">
            <a:solidFill>
              <a:srgbClr val="DCE9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76288" y="4389120"/>
            <a:ext cx="1133856" cy="456317"/>
          </a:xfrm>
          <a:custGeom>
            <a:avLst/>
            <a:gdLst/>
            <a:ahLst/>
            <a:cxnLst/>
            <a:rect l="l" t="t" r="r" b="b"/>
            <a:pathLst>
              <a:path w="1133856" h="456317">
                <a:moveTo>
                  <a:pt x="0" y="456317"/>
                </a:moveTo>
                <a:cubicBezTo>
                  <a:pt x="4724" y="456194"/>
                  <a:pt x="18898" y="455912"/>
                  <a:pt x="28346" y="455577"/>
                </a:cubicBezTo>
                <a:cubicBezTo>
                  <a:pt x="37795" y="455241"/>
                  <a:pt x="47244" y="454869"/>
                  <a:pt x="56693" y="454306"/>
                </a:cubicBezTo>
                <a:cubicBezTo>
                  <a:pt x="66142" y="453743"/>
                  <a:pt x="75590" y="453113"/>
                  <a:pt x="85039" y="452200"/>
                </a:cubicBezTo>
                <a:cubicBezTo>
                  <a:pt x="94488" y="451286"/>
                  <a:pt x="103937" y="450258"/>
                  <a:pt x="113386" y="448826"/>
                </a:cubicBezTo>
                <a:cubicBezTo>
                  <a:pt x="122834" y="447394"/>
                  <a:pt x="132283" y="445776"/>
                  <a:pt x="141732" y="443608"/>
                </a:cubicBezTo>
                <a:cubicBezTo>
                  <a:pt x="151181" y="441440"/>
                  <a:pt x="160630" y="438985"/>
                  <a:pt x="170078" y="435816"/>
                </a:cubicBezTo>
                <a:cubicBezTo>
                  <a:pt x="179527" y="432648"/>
                  <a:pt x="188976" y="429062"/>
                  <a:pt x="198425" y="424594"/>
                </a:cubicBezTo>
                <a:cubicBezTo>
                  <a:pt x="207874" y="420127"/>
                  <a:pt x="217322" y="415082"/>
                  <a:pt x="226771" y="409011"/>
                </a:cubicBezTo>
                <a:cubicBezTo>
                  <a:pt x="236220" y="402941"/>
                  <a:pt x="245669" y="396114"/>
                  <a:pt x="255118" y="388173"/>
                </a:cubicBezTo>
                <a:cubicBezTo>
                  <a:pt x="264566" y="380232"/>
                  <a:pt x="274015" y="371354"/>
                  <a:pt x="283464" y="361366"/>
                </a:cubicBezTo>
                <a:cubicBezTo>
                  <a:pt x="292913" y="351377"/>
                  <a:pt x="302362" y="340301"/>
                  <a:pt x="311810" y="328241"/>
                </a:cubicBezTo>
                <a:cubicBezTo>
                  <a:pt x="321259" y="316181"/>
                  <a:pt x="330708" y="302949"/>
                  <a:pt x="340157" y="289006"/>
                </a:cubicBezTo>
                <a:cubicBezTo>
                  <a:pt x="349606" y="275062"/>
                  <a:pt x="359054" y="259967"/>
                  <a:pt x="368503" y="244582"/>
                </a:cubicBezTo>
                <a:cubicBezTo>
                  <a:pt x="377952" y="229197"/>
                  <a:pt x="387401" y="212819"/>
                  <a:pt x="396850" y="196695"/>
                </a:cubicBezTo>
                <a:cubicBezTo>
                  <a:pt x="406298" y="180572"/>
                  <a:pt x="415747" y="163770"/>
                  <a:pt x="425196" y="147843"/>
                </a:cubicBezTo>
                <a:cubicBezTo>
                  <a:pt x="434645" y="131916"/>
                  <a:pt x="444094" y="115776"/>
                  <a:pt x="453542" y="101132"/>
                </a:cubicBezTo>
                <a:cubicBezTo>
                  <a:pt x="462991" y="86488"/>
                  <a:pt x="472440" y="72216"/>
                  <a:pt x="481889" y="59978"/>
                </a:cubicBezTo>
                <a:cubicBezTo>
                  <a:pt x="491338" y="47739"/>
                  <a:pt x="500786" y="36515"/>
                  <a:pt x="510235" y="27700"/>
                </a:cubicBezTo>
                <a:cubicBezTo>
                  <a:pt x="519684" y="18885"/>
                  <a:pt x="529133" y="11705"/>
                  <a:pt x="538582" y="7088"/>
                </a:cubicBezTo>
                <a:cubicBezTo>
                  <a:pt x="548030" y="2472"/>
                  <a:pt x="557479" y="0"/>
                  <a:pt x="566928" y="0"/>
                </a:cubicBezTo>
                <a:cubicBezTo>
                  <a:pt x="576377" y="0"/>
                  <a:pt x="585826" y="2472"/>
                  <a:pt x="595274" y="7088"/>
                </a:cubicBezTo>
                <a:cubicBezTo>
                  <a:pt x="604723" y="11705"/>
                  <a:pt x="614172" y="18885"/>
                  <a:pt x="623621" y="27700"/>
                </a:cubicBezTo>
                <a:cubicBezTo>
                  <a:pt x="633070" y="36515"/>
                  <a:pt x="642518" y="47739"/>
                  <a:pt x="651967" y="59978"/>
                </a:cubicBezTo>
                <a:cubicBezTo>
                  <a:pt x="661416" y="72216"/>
                  <a:pt x="670865" y="86488"/>
                  <a:pt x="680314" y="101132"/>
                </a:cubicBezTo>
                <a:cubicBezTo>
                  <a:pt x="689762" y="115776"/>
                  <a:pt x="699211" y="131916"/>
                  <a:pt x="708660" y="147843"/>
                </a:cubicBezTo>
                <a:cubicBezTo>
                  <a:pt x="718109" y="163770"/>
                  <a:pt x="727558" y="180572"/>
                  <a:pt x="737006" y="196695"/>
                </a:cubicBezTo>
                <a:cubicBezTo>
                  <a:pt x="746455" y="212819"/>
                  <a:pt x="755904" y="229197"/>
                  <a:pt x="765353" y="244582"/>
                </a:cubicBezTo>
                <a:cubicBezTo>
                  <a:pt x="774802" y="259967"/>
                  <a:pt x="784250" y="275062"/>
                  <a:pt x="793699" y="289006"/>
                </a:cubicBezTo>
                <a:cubicBezTo>
                  <a:pt x="803148" y="302949"/>
                  <a:pt x="812597" y="316181"/>
                  <a:pt x="822046" y="328241"/>
                </a:cubicBezTo>
                <a:cubicBezTo>
                  <a:pt x="831494" y="340301"/>
                  <a:pt x="840943" y="351377"/>
                  <a:pt x="850392" y="361366"/>
                </a:cubicBezTo>
                <a:cubicBezTo>
                  <a:pt x="859841" y="371354"/>
                  <a:pt x="869290" y="380232"/>
                  <a:pt x="878738" y="388173"/>
                </a:cubicBezTo>
                <a:cubicBezTo>
                  <a:pt x="888187" y="396114"/>
                  <a:pt x="897636" y="402941"/>
                  <a:pt x="907085" y="409011"/>
                </a:cubicBezTo>
                <a:cubicBezTo>
                  <a:pt x="916534" y="415082"/>
                  <a:pt x="925982" y="420127"/>
                  <a:pt x="935431" y="424594"/>
                </a:cubicBezTo>
                <a:cubicBezTo>
                  <a:pt x="944880" y="429062"/>
                  <a:pt x="954329" y="432648"/>
                  <a:pt x="963778" y="435816"/>
                </a:cubicBezTo>
                <a:cubicBezTo>
                  <a:pt x="973226" y="438985"/>
                  <a:pt x="982675" y="441440"/>
                  <a:pt x="992124" y="443608"/>
                </a:cubicBezTo>
                <a:cubicBezTo>
                  <a:pt x="1001573" y="445776"/>
                  <a:pt x="1011022" y="447394"/>
                  <a:pt x="1020470" y="448826"/>
                </a:cubicBezTo>
                <a:cubicBezTo>
                  <a:pt x="1029919" y="450258"/>
                  <a:pt x="1039368" y="451286"/>
                  <a:pt x="1048817" y="452200"/>
                </a:cubicBezTo>
                <a:cubicBezTo>
                  <a:pt x="1058266" y="453113"/>
                  <a:pt x="1067714" y="453743"/>
                  <a:pt x="1077163" y="454306"/>
                </a:cubicBezTo>
                <a:cubicBezTo>
                  <a:pt x="1086612" y="454869"/>
                  <a:pt x="1096061" y="455241"/>
                  <a:pt x="1105510" y="455577"/>
                </a:cubicBezTo>
                <a:cubicBezTo>
                  <a:pt x="1114958" y="455912"/>
                  <a:pt x="1129132" y="456194"/>
                  <a:pt x="1133856" y="456317"/>
                </a:cubicBezTo>
              </a:path>
            </a:pathLst>
          </a:custGeom>
          <a:ln w="20320">
            <a:solidFill>
              <a:srgbClr val="1A62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9328" y="4553712"/>
            <a:ext cx="1316736" cy="0"/>
          </a:xfrm>
          <a:prstGeom prst="line">
            <a:avLst/>
          </a:prstGeom>
          <a:noFill/>
          <a:ln w="12700">
            <a:solidFill>
              <a:srgbClr val="4E90C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430768" y="4096512"/>
            <a:ext cx="1133856" cy="457200"/>
          </a:xfrm>
          <a:custGeom>
            <a:avLst/>
            <a:gdLst/>
            <a:ahLst/>
            <a:cxnLst/>
            <a:rect l="l" t="t" r="r" b="b"/>
            <a:pathLst>
              <a:path w="1133856" h="457200">
                <a:moveTo>
                  <a:pt x="0" y="456317"/>
                </a:moveTo>
                <a:cubicBezTo>
                  <a:pt x="4724" y="456194"/>
                  <a:pt x="18898" y="455912"/>
                  <a:pt x="28346" y="455577"/>
                </a:cubicBezTo>
                <a:cubicBezTo>
                  <a:pt x="37795" y="455241"/>
                  <a:pt x="47244" y="454869"/>
                  <a:pt x="56693" y="454306"/>
                </a:cubicBezTo>
                <a:cubicBezTo>
                  <a:pt x="66142" y="453743"/>
                  <a:pt x="75590" y="453113"/>
                  <a:pt x="85039" y="452200"/>
                </a:cubicBezTo>
                <a:cubicBezTo>
                  <a:pt x="94488" y="451286"/>
                  <a:pt x="103937" y="450258"/>
                  <a:pt x="113386" y="448826"/>
                </a:cubicBezTo>
                <a:cubicBezTo>
                  <a:pt x="122834" y="447394"/>
                  <a:pt x="132283" y="445776"/>
                  <a:pt x="141732" y="443608"/>
                </a:cubicBezTo>
                <a:cubicBezTo>
                  <a:pt x="151181" y="441440"/>
                  <a:pt x="160630" y="438985"/>
                  <a:pt x="170078" y="435816"/>
                </a:cubicBezTo>
                <a:cubicBezTo>
                  <a:pt x="179527" y="432648"/>
                  <a:pt x="188976" y="429062"/>
                  <a:pt x="198425" y="424594"/>
                </a:cubicBezTo>
                <a:cubicBezTo>
                  <a:pt x="207874" y="420127"/>
                  <a:pt x="217322" y="415082"/>
                  <a:pt x="226771" y="409011"/>
                </a:cubicBezTo>
                <a:cubicBezTo>
                  <a:pt x="236220" y="402941"/>
                  <a:pt x="245669" y="396114"/>
                  <a:pt x="255118" y="388173"/>
                </a:cubicBezTo>
                <a:cubicBezTo>
                  <a:pt x="264566" y="380232"/>
                  <a:pt x="274015" y="371354"/>
                  <a:pt x="283464" y="361366"/>
                </a:cubicBezTo>
                <a:cubicBezTo>
                  <a:pt x="292913" y="351377"/>
                  <a:pt x="302362" y="340301"/>
                  <a:pt x="311810" y="328241"/>
                </a:cubicBezTo>
                <a:cubicBezTo>
                  <a:pt x="321259" y="316181"/>
                  <a:pt x="330708" y="302949"/>
                  <a:pt x="340157" y="289006"/>
                </a:cubicBezTo>
                <a:cubicBezTo>
                  <a:pt x="349606" y="275062"/>
                  <a:pt x="359054" y="259967"/>
                  <a:pt x="368503" y="244582"/>
                </a:cubicBezTo>
                <a:cubicBezTo>
                  <a:pt x="377952" y="229197"/>
                  <a:pt x="387401" y="212819"/>
                  <a:pt x="396850" y="196695"/>
                </a:cubicBezTo>
                <a:cubicBezTo>
                  <a:pt x="406298" y="180572"/>
                  <a:pt x="415747" y="163770"/>
                  <a:pt x="425196" y="147843"/>
                </a:cubicBezTo>
                <a:cubicBezTo>
                  <a:pt x="434645" y="131916"/>
                  <a:pt x="444094" y="115776"/>
                  <a:pt x="453542" y="101132"/>
                </a:cubicBezTo>
                <a:cubicBezTo>
                  <a:pt x="462991" y="86488"/>
                  <a:pt x="472440" y="72216"/>
                  <a:pt x="481889" y="59978"/>
                </a:cubicBezTo>
                <a:cubicBezTo>
                  <a:pt x="491338" y="47739"/>
                  <a:pt x="500786" y="36515"/>
                  <a:pt x="510235" y="27700"/>
                </a:cubicBezTo>
                <a:cubicBezTo>
                  <a:pt x="519684" y="18885"/>
                  <a:pt x="529133" y="11705"/>
                  <a:pt x="538582" y="7088"/>
                </a:cubicBezTo>
                <a:cubicBezTo>
                  <a:pt x="548030" y="2472"/>
                  <a:pt x="557479" y="0"/>
                  <a:pt x="566928" y="0"/>
                </a:cubicBezTo>
                <a:cubicBezTo>
                  <a:pt x="576377" y="0"/>
                  <a:pt x="585826" y="2472"/>
                  <a:pt x="595274" y="7088"/>
                </a:cubicBezTo>
                <a:cubicBezTo>
                  <a:pt x="604723" y="11705"/>
                  <a:pt x="614172" y="18885"/>
                  <a:pt x="623621" y="27700"/>
                </a:cubicBezTo>
                <a:cubicBezTo>
                  <a:pt x="633070" y="36515"/>
                  <a:pt x="642518" y="47739"/>
                  <a:pt x="651967" y="59978"/>
                </a:cubicBezTo>
                <a:cubicBezTo>
                  <a:pt x="661416" y="72216"/>
                  <a:pt x="670865" y="86488"/>
                  <a:pt x="680314" y="101132"/>
                </a:cubicBezTo>
                <a:cubicBezTo>
                  <a:pt x="689762" y="115776"/>
                  <a:pt x="699211" y="131916"/>
                  <a:pt x="708660" y="147843"/>
                </a:cubicBezTo>
                <a:cubicBezTo>
                  <a:pt x="718109" y="163770"/>
                  <a:pt x="727558" y="180572"/>
                  <a:pt x="737006" y="196695"/>
                </a:cubicBezTo>
                <a:cubicBezTo>
                  <a:pt x="746455" y="212819"/>
                  <a:pt x="755904" y="229197"/>
                  <a:pt x="765353" y="244582"/>
                </a:cubicBezTo>
                <a:cubicBezTo>
                  <a:pt x="774802" y="259967"/>
                  <a:pt x="784250" y="275062"/>
                  <a:pt x="793699" y="289006"/>
                </a:cubicBezTo>
                <a:cubicBezTo>
                  <a:pt x="803148" y="302949"/>
                  <a:pt x="812597" y="316181"/>
                  <a:pt x="822046" y="328241"/>
                </a:cubicBezTo>
                <a:cubicBezTo>
                  <a:pt x="831494" y="340301"/>
                  <a:pt x="840943" y="351377"/>
                  <a:pt x="850392" y="361366"/>
                </a:cubicBezTo>
                <a:cubicBezTo>
                  <a:pt x="859841" y="371354"/>
                  <a:pt x="869290" y="380232"/>
                  <a:pt x="878738" y="388173"/>
                </a:cubicBezTo>
                <a:cubicBezTo>
                  <a:pt x="888187" y="396114"/>
                  <a:pt x="897636" y="402941"/>
                  <a:pt x="907085" y="409011"/>
                </a:cubicBezTo>
                <a:cubicBezTo>
                  <a:pt x="916534" y="415082"/>
                  <a:pt x="925982" y="420127"/>
                  <a:pt x="935431" y="424594"/>
                </a:cubicBezTo>
                <a:cubicBezTo>
                  <a:pt x="944880" y="429062"/>
                  <a:pt x="954329" y="432648"/>
                  <a:pt x="963778" y="435816"/>
                </a:cubicBezTo>
                <a:cubicBezTo>
                  <a:pt x="973226" y="438985"/>
                  <a:pt x="982675" y="441440"/>
                  <a:pt x="992124" y="443608"/>
                </a:cubicBezTo>
                <a:cubicBezTo>
                  <a:pt x="1001573" y="445776"/>
                  <a:pt x="1011022" y="447394"/>
                  <a:pt x="1020470" y="448826"/>
                </a:cubicBezTo>
                <a:cubicBezTo>
                  <a:pt x="1029919" y="450258"/>
                  <a:pt x="1039368" y="451286"/>
                  <a:pt x="1048817" y="452200"/>
                </a:cubicBezTo>
                <a:cubicBezTo>
                  <a:pt x="1058266" y="453113"/>
                  <a:pt x="1067714" y="453743"/>
                  <a:pt x="1077163" y="454306"/>
                </a:cubicBezTo>
                <a:cubicBezTo>
                  <a:pt x="1086612" y="454869"/>
                  <a:pt x="1096061" y="455241"/>
                  <a:pt x="1105510" y="455577"/>
                </a:cubicBezTo>
                <a:cubicBezTo>
                  <a:pt x="1114958" y="455912"/>
                  <a:pt x="1129132" y="456047"/>
                  <a:pt x="1133856" y="456317"/>
                </a:cubicBezTo>
                <a:cubicBezTo>
                  <a:pt x="1138580" y="456588"/>
                  <a:pt x="1322832" y="457053"/>
                  <a:pt x="1133856" y="457200"/>
                </a:cubicBezTo>
                <a:cubicBezTo>
                  <a:pt x="944880" y="457347"/>
                  <a:pt x="188976" y="457200"/>
                  <a:pt x="0" y="457200"/>
                </a:cubicBezTo>
                <a:close/>
              </a:path>
            </a:pathLst>
          </a:custGeom>
          <a:solidFill>
            <a:srgbClr val="DCE9F6"/>
          </a:solidFill>
          <a:ln w="6350">
            <a:solidFill>
              <a:srgbClr val="DCE9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0768" y="4096512"/>
            <a:ext cx="1133856" cy="456317"/>
          </a:xfrm>
          <a:custGeom>
            <a:avLst/>
            <a:gdLst/>
            <a:ahLst/>
            <a:cxnLst/>
            <a:rect l="l" t="t" r="r" b="b"/>
            <a:pathLst>
              <a:path w="1133856" h="456317">
                <a:moveTo>
                  <a:pt x="0" y="456317"/>
                </a:moveTo>
                <a:cubicBezTo>
                  <a:pt x="4724" y="456194"/>
                  <a:pt x="18898" y="455912"/>
                  <a:pt x="28346" y="455577"/>
                </a:cubicBezTo>
                <a:cubicBezTo>
                  <a:pt x="37795" y="455241"/>
                  <a:pt x="47244" y="454869"/>
                  <a:pt x="56693" y="454306"/>
                </a:cubicBezTo>
                <a:cubicBezTo>
                  <a:pt x="66142" y="453743"/>
                  <a:pt x="75590" y="453113"/>
                  <a:pt x="85039" y="452200"/>
                </a:cubicBezTo>
                <a:cubicBezTo>
                  <a:pt x="94488" y="451286"/>
                  <a:pt x="103937" y="450258"/>
                  <a:pt x="113386" y="448826"/>
                </a:cubicBezTo>
                <a:cubicBezTo>
                  <a:pt x="122834" y="447394"/>
                  <a:pt x="132283" y="445776"/>
                  <a:pt x="141732" y="443608"/>
                </a:cubicBezTo>
                <a:cubicBezTo>
                  <a:pt x="151181" y="441440"/>
                  <a:pt x="160630" y="438985"/>
                  <a:pt x="170078" y="435816"/>
                </a:cubicBezTo>
                <a:cubicBezTo>
                  <a:pt x="179527" y="432648"/>
                  <a:pt x="188976" y="429062"/>
                  <a:pt x="198425" y="424594"/>
                </a:cubicBezTo>
                <a:cubicBezTo>
                  <a:pt x="207874" y="420127"/>
                  <a:pt x="217322" y="415082"/>
                  <a:pt x="226771" y="409011"/>
                </a:cubicBezTo>
                <a:cubicBezTo>
                  <a:pt x="236220" y="402941"/>
                  <a:pt x="245669" y="396114"/>
                  <a:pt x="255118" y="388173"/>
                </a:cubicBezTo>
                <a:cubicBezTo>
                  <a:pt x="264566" y="380232"/>
                  <a:pt x="274015" y="371354"/>
                  <a:pt x="283464" y="361366"/>
                </a:cubicBezTo>
                <a:cubicBezTo>
                  <a:pt x="292913" y="351377"/>
                  <a:pt x="302362" y="340301"/>
                  <a:pt x="311810" y="328241"/>
                </a:cubicBezTo>
                <a:cubicBezTo>
                  <a:pt x="321259" y="316181"/>
                  <a:pt x="330708" y="302949"/>
                  <a:pt x="340157" y="289006"/>
                </a:cubicBezTo>
                <a:cubicBezTo>
                  <a:pt x="349606" y="275062"/>
                  <a:pt x="359054" y="259967"/>
                  <a:pt x="368503" y="244582"/>
                </a:cubicBezTo>
                <a:cubicBezTo>
                  <a:pt x="377952" y="229197"/>
                  <a:pt x="387401" y="212819"/>
                  <a:pt x="396850" y="196695"/>
                </a:cubicBezTo>
                <a:cubicBezTo>
                  <a:pt x="406298" y="180572"/>
                  <a:pt x="415747" y="163770"/>
                  <a:pt x="425196" y="147843"/>
                </a:cubicBezTo>
                <a:cubicBezTo>
                  <a:pt x="434645" y="131916"/>
                  <a:pt x="444094" y="115776"/>
                  <a:pt x="453542" y="101132"/>
                </a:cubicBezTo>
                <a:cubicBezTo>
                  <a:pt x="462991" y="86488"/>
                  <a:pt x="472440" y="72216"/>
                  <a:pt x="481889" y="59978"/>
                </a:cubicBezTo>
                <a:cubicBezTo>
                  <a:pt x="491338" y="47739"/>
                  <a:pt x="500786" y="36515"/>
                  <a:pt x="510235" y="27700"/>
                </a:cubicBezTo>
                <a:cubicBezTo>
                  <a:pt x="519684" y="18885"/>
                  <a:pt x="529133" y="11705"/>
                  <a:pt x="538582" y="7088"/>
                </a:cubicBezTo>
                <a:cubicBezTo>
                  <a:pt x="548030" y="2472"/>
                  <a:pt x="557479" y="0"/>
                  <a:pt x="566928" y="0"/>
                </a:cubicBezTo>
                <a:cubicBezTo>
                  <a:pt x="576377" y="0"/>
                  <a:pt x="585826" y="2472"/>
                  <a:pt x="595274" y="7088"/>
                </a:cubicBezTo>
                <a:cubicBezTo>
                  <a:pt x="604723" y="11705"/>
                  <a:pt x="614172" y="18885"/>
                  <a:pt x="623621" y="27700"/>
                </a:cubicBezTo>
                <a:cubicBezTo>
                  <a:pt x="633070" y="36515"/>
                  <a:pt x="642518" y="47739"/>
                  <a:pt x="651967" y="59978"/>
                </a:cubicBezTo>
                <a:cubicBezTo>
                  <a:pt x="661416" y="72216"/>
                  <a:pt x="670865" y="86488"/>
                  <a:pt x="680314" y="101132"/>
                </a:cubicBezTo>
                <a:cubicBezTo>
                  <a:pt x="689762" y="115776"/>
                  <a:pt x="699211" y="131916"/>
                  <a:pt x="708660" y="147843"/>
                </a:cubicBezTo>
                <a:cubicBezTo>
                  <a:pt x="718109" y="163770"/>
                  <a:pt x="727558" y="180572"/>
                  <a:pt x="737006" y="196695"/>
                </a:cubicBezTo>
                <a:cubicBezTo>
                  <a:pt x="746455" y="212819"/>
                  <a:pt x="755904" y="229197"/>
                  <a:pt x="765353" y="244582"/>
                </a:cubicBezTo>
                <a:cubicBezTo>
                  <a:pt x="774802" y="259967"/>
                  <a:pt x="784250" y="275062"/>
                  <a:pt x="793699" y="289006"/>
                </a:cubicBezTo>
                <a:cubicBezTo>
                  <a:pt x="803148" y="302949"/>
                  <a:pt x="812597" y="316181"/>
                  <a:pt x="822046" y="328241"/>
                </a:cubicBezTo>
                <a:cubicBezTo>
                  <a:pt x="831494" y="340301"/>
                  <a:pt x="840943" y="351377"/>
                  <a:pt x="850392" y="361366"/>
                </a:cubicBezTo>
                <a:cubicBezTo>
                  <a:pt x="859841" y="371354"/>
                  <a:pt x="869290" y="380232"/>
                  <a:pt x="878738" y="388173"/>
                </a:cubicBezTo>
                <a:cubicBezTo>
                  <a:pt x="888187" y="396114"/>
                  <a:pt x="897636" y="402941"/>
                  <a:pt x="907085" y="409011"/>
                </a:cubicBezTo>
                <a:cubicBezTo>
                  <a:pt x="916534" y="415082"/>
                  <a:pt x="925982" y="420127"/>
                  <a:pt x="935431" y="424594"/>
                </a:cubicBezTo>
                <a:cubicBezTo>
                  <a:pt x="944880" y="429062"/>
                  <a:pt x="954329" y="432648"/>
                  <a:pt x="963778" y="435816"/>
                </a:cubicBezTo>
                <a:cubicBezTo>
                  <a:pt x="973226" y="438985"/>
                  <a:pt x="982675" y="441440"/>
                  <a:pt x="992124" y="443608"/>
                </a:cubicBezTo>
                <a:cubicBezTo>
                  <a:pt x="1001573" y="445776"/>
                  <a:pt x="1011022" y="447394"/>
                  <a:pt x="1020470" y="448826"/>
                </a:cubicBezTo>
                <a:cubicBezTo>
                  <a:pt x="1029919" y="450258"/>
                  <a:pt x="1039368" y="451286"/>
                  <a:pt x="1048817" y="452200"/>
                </a:cubicBezTo>
                <a:cubicBezTo>
                  <a:pt x="1058266" y="453113"/>
                  <a:pt x="1067714" y="453743"/>
                  <a:pt x="1077163" y="454306"/>
                </a:cubicBezTo>
                <a:cubicBezTo>
                  <a:pt x="1086612" y="454869"/>
                  <a:pt x="1096061" y="455241"/>
                  <a:pt x="1105510" y="455577"/>
                </a:cubicBezTo>
                <a:cubicBezTo>
                  <a:pt x="1114958" y="455912"/>
                  <a:pt x="1129132" y="456194"/>
                  <a:pt x="1133856" y="456317"/>
                </a:cubicBezTo>
              </a:path>
            </a:pathLst>
          </a:custGeom>
          <a:ln w="20320">
            <a:solidFill>
              <a:srgbClr val="1A62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93808" y="4261104"/>
            <a:ext cx="1316736" cy="0"/>
          </a:xfrm>
          <a:prstGeom prst="line">
            <a:avLst/>
          </a:prstGeom>
          <a:noFill/>
          <a:ln w="12700">
            <a:solidFill>
              <a:srgbClr val="4E90CE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985248" y="3803904"/>
            <a:ext cx="1133856" cy="457200"/>
          </a:xfrm>
          <a:custGeom>
            <a:avLst/>
            <a:gdLst/>
            <a:ahLst/>
            <a:cxnLst/>
            <a:rect l="l" t="t" r="r" b="b"/>
            <a:pathLst>
              <a:path w="1133856" h="457200">
                <a:moveTo>
                  <a:pt x="0" y="456317"/>
                </a:moveTo>
                <a:cubicBezTo>
                  <a:pt x="4724" y="456194"/>
                  <a:pt x="18898" y="455912"/>
                  <a:pt x="28346" y="455577"/>
                </a:cubicBezTo>
                <a:cubicBezTo>
                  <a:pt x="37795" y="455241"/>
                  <a:pt x="47244" y="454869"/>
                  <a:pt x="56693" y="454306"/>
                </a:cubicBezTo>
                <a:cubicBezTo>
                  <a:pt x="66142" y="453743"/>
                  <a:pt x="75590" y="453113"/>
                  <a:pt x="85039" y="452200"/>
                </a:cubicBezTo>
                <a:cubicBezTo>
                  <a:pt x="94488" y="451286"/>
                  <a:pt x="103937" y="450258"/>
                  <a:pt x="113386" y="448826"/>
                </a:cubicBezTo>
                <a:cubicBezTo>
                  <a:pt x="122834" y="447394"/>
                  <a:pt x="132283" y="445776"/>
                  <a:pt x="141732" y="443608"/>
                </a:cubicBezTo>
                <a:cubicBezTo>
                  <a:pt x="151181" y="441440"/>
                  <a:pt x="160630" y="438985"/>
                  <a:pt x="170078" y="435816"/>
                </a:cubicBezTo>
                <a:cubicBezTo>
                  <a:pt x="179527" y="432648"/>
                  <a:pt x="188976" y="429062"/>
                  <a:pt x="198425" y="424594"/>
                </a:cubicBezTo>
                <a:cubicBezTo>
                  <a:pt x="207874" y="420127"/>
                  <a:pt x="217322" y="415082"/>
                  <a:pt x="226771" y="409011"/>
                </a:cubicBezTo>
                <a:cubicBezTo>
                  <a:pt x="236220" y="402941"/>
                  <a:pt x="245669" y="396114"/>
                  <a:pt x="255118" y="388173"/>
                </a:cubicBezTo>
                <a:cubicBezTo>
                  <a:pt x="264566" y="380232"/>
                  <a:pt x="274015" y="371354"/>
                  <a:pt x="283464" y="361366"/>
                </a:cubicBezTo>
                <a:cubicBezTo>
                  <a:pt x="292913" y="351377"/>
                  <a:pt x="302362" y="340301"/>
                  <a:pt x="311810" y="328241"/>
                </a:cubicBezTo>
                <a:cubicBezTo>
                  <a:pt x="321259" y="316181"/>
                  <a:pt x="330708" y="302949"/>
                  <a:pt x="340157" y="289006"/>
                </a:cubicBezTo>
                <a:cubicBezTo>
                  <a:pt x="349606" y="275062"/>
                  <a:pt x="359054" y="259967"/>
                  <a:pt x="368503" y="244582"/>
                </a:cubicBezTo>
                <a:cubicBezTo>
                  <a:pt x="377952" y="229197"/>
                  <a:pt x="387401" y="212819"/>
                  <a:pt x="396850" y="196695"/>
                </a:cubicBezTo>
                <a:cubicBezTo>
                  <a:pt x="406298" y="180572"/>
                  <a:pt x="415747" y="163770"/>
                  <a:pt x="425196" y="147843"/>
                </a:cubicBezTo>
                <a:cubicBezTo>
                  <a:pt x="434645" y="131916"/>
                  <a:pt x="444094" y="115776"/>
                  <a:pt x="453542" y="101132"/>
                </a:cubicBezTo>
                <a:cubicBezTo>
                  <a:pt x="462991" y="86488"/>
                  <a:pt x="472440" y="72216"/>
                  <a:pt x="481889" y="59978"/>
                </a:cubicBezTo>
                <a:cubicBezTo>
                  <a:pt x="491338" y="47739"/>
                  <a:pt x="500786" y="36515"/>
                  <a:pt x="510235" y="27700"/>
                </a:cubicBezTo>
                <a:cubicBezTo>
                  <a:pt x="519684" y="18885"/>
                  <a:pt x="529133" y="11705"/>
                  <a:pt x="538582" y="7088"/>
                </a:cubicBezTo>
                <a:cubicBezTo>
                  <a:pt x="548030" y="2472"/>
                  <a:pt x="557479" y="0"/>
                  <a:pt x="566928" y="0"/>
                </a:cubicBezTo>
                <a:cubicBezTo>
                  <a:pt x="576377" y="0"/>
                  <a:pt x="585826" y="2472"/>
                  <a:pt x="595274" y="7088"/>
                </a:cubicBezTo>
                <a:cubicBezTo>
                  <a:pt x="604723" y="11705"/>
                  <a:pt x="614172" y="18885"/>
                  <a:pt x="623621" y="27700"/>
                </a:cubicBezTo>
                <a:cubicBezTo>
                  <a:pt x="633070" y="36515"/>
                  <a:pt x="642518" y="47739"/>
                  <a:pt x="651967" y="59978"/>
                </a:cubicBezTo>
                <a:cubicBezTo>
                  <a:pt x="661416" y="72216"/>
                  <a:pt x="670865" y="86488"/>
                  <a:pt x="680314" y="101132"/>
                </a:cubicBezTo>
                <a:cubicBezTo>
                  <a:pt x="689762" y="115776"/>
                  <a:pt x="699211" y="131916"/>
                  <a:pt x="708660" y="147843"/>
                </a:cubicBezTo>
                <a:cubicBezTo>
                  <a:pt x="718109" y="163770"/>
                  <a:pt x="727558" y="180572"/>
                  <a:pt x="737006" y="196695"/>
                </a:cubicBezTo>
                <a:cubicBezTo>
                  <a:pt x="746455" y="212819"/>
                  <a:pt x="755904" y="229197"/>
                  <a:pt x="765353" y="244582"/>
                </a:cubicBezTo>
                <a:cubicBezTo>
                  <a:pt x="774802" y="259967"/>
                  <a:pt x="784250" y="275062"/>
                  <a:pt x="793699" y="289006"/>
                </a:cubicBezTo>
                <a:cubicBezTo>
                  <a:pt x="803148" y="302949"/>
                  <a:pt x="812597" y="316181"/>
                  <a:pt x="822046" y="328241"/>
                </a:cubicBezTo>
                <a:cubicBezTo>
                  <a:pt x="831494" y="340301"/>
                  <a:pt x="840943" y="351377"/>
                  <a:pt x="850392" y="361366"/>
                </a:cubicBezTo>
                <a:cubicBezTo>
                  <a:pt x="859841" y="371354"/>
                  <a:pt x="869290" y="380232"/>
                  <a:pt x="878738" y="388173"/>
                </a:cubicBezTo>
                <a:cubicBezTo>
                  <a:pt x="888187" y="396114"/>
                  <a:pt x="897636" y="402941"/>
                  <a:pt x="907085" y="409011"/>
                </a:cubicBezTo>
                <a:cubicBezTo>
                  <a:pt x="916534" y="415082"/>
                  <a:pt x="925982" y="420127"/>
                  <a:pt x="935431" y="424594"/>
                </a:cubicBezTo>
                <a:cubicBezTo>
                  <a:pt x="944880" y="429062"/>
                  <a:pt x="954329" y="432648"/>
                  <a:pt x="963778" y="435816"/>
                </a:cubicBezTo>
                <a:cubicBezTo>
                  <a:pt x="973226" y="438985"/>
                  <a:pt x="982675" y="441440"/>
                  <a:pt x="992124" y="443608"/>
                </a:cubicBezTo>
                <a:cubicBezTo>
                  <a:pt x="1001573" y="445776"/>
                  <a:pt x="1011022" y="447394"/>
                  <a:pt x="1020470" y="448826"/>
                </a:cubicBezTo>
                <a:cubicBezTo>
                  <a:pt x="1029919" y="450258"/>
                  <a:pt x="1039368" y="451286"/>
                  <a:pt x="1048817" y="452200"/>
                </a:cubicBezTo>
                <a:cubicBezTo>
                  <a:pt x="1058266" y="453113"/>
                  <a:pt x="1067714" y="453743"/>
                  <a:pt x="1077163" y="454306"/>
                </a:cubicBezTo>
                <a:cubicBezTo>
                  <a:pt x="1086612" y="454869"/>
                  <a:pt x="1096061" y="455241"/>
                  <a:pt x="1105510" y="455577"/>
                </a:cubicBezTo>
                <a:cubicBezTo>
                  <a:pt x="1114958" y="455912"/>
                  <a:pt x="1129132" y="456047"/>
                  <a:pt x="1133856" y="456317"/>
                </a:cubicBezTo>
                <a:cubicBezTo>
                  <a:pt x="1138580" y="456588"/>
                  <a:pt x="1322832" y="457053"/>
                  <a:pt x="1133856" y="457200"/>
                </a:cubicBezTo>
                <a:cubicBezTo>
                  <a:pt x="944880" y="457347"/>
                  <a:pt x="188976" y="457200"/>
                  <a:pt x="0" y="457200"/>
                </a:cubicBezTo>
                <a:close/>
              </a:path>
            </a:pathLst>
          </a:custGeom>
          <a:solidFill>
            <a:srgbClr val="DCE9F6"/>
          </a:solidFill>
          <a:ln w="6350">
            <a:solidFill>
              <a:srgbClr val="DCE9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85248" y="3803904"/>
            <a:ext cx="1133856" cy="456317"/>
          </a:xfrm>
          <a:custGeom>
            <a:avLst/>
            <a:gdLst/>
            <a:ahLst/>
            <a:cxnLst/>
            <a:rect l="l" t="t" r="r" b="b"/>
            <a:pathLst>
              <a:path w="1133856" h="456317">
                <a:moveTo>
                  <a:pt x="0" y="456317"/>
                </a:moveTo>
                <a:cubicBezTo>
                  <a:pt x="4724" y="456194"/>
                  <a:pt x="18898" y="455912"/>
                  <a:pt x="28346" y="455577"/>
                </a:cubicBezTo>
                <a:cubicBezTo>
                  <a:pt x="37795" y="455241"/>
                  <a:pt x="47244" y="454869"/>
                  <a:pt x="56693" y="454306"/>
                </a:cubicBezTo>
                <a:cubicBezTo>
                  <a:pt x="66142" y="453743"/>
                  <a:pt x="75590" y="453113"/>
                  <a:pt x="85039" y="452200"/>
                </a:cubicBezTo>
                <a:cubicBezTo>
                  <a:pt x="94488" y="451286"/>
                  <a:pt x="103937" y="450258"/>
                  <a:pt x="113386" y="448826"/>
                </a:cubicBezTo>
                <a:cubicBezTo>
                  <a:pt x="122834" y="447394"/>
                  <a:pt x="132283" y="445776"/>
                  <a:pt x="141732" y="443608"/>
                </a:cubicBezTo>
                <a:cubicBezTo>
                  <a:pt x="151181" y="441440"/>
                  <a:pt x="160630" y="438985"/>
                  <a:pt x="170078" y="435816"/>
                </a:cubicBezTo>
                <a:cubicBezTo>
                  <a:pt x="179527" y="432648"/>
                  <a:pt x="188976" y="429062"/>
                  <a:pt x="198425" y="424594"/>
                </a:cubicBezTo>
                <a:cubicBezTo>
                  <a:pt x="207874" y="420127"/>
                  <a:pt x="217322" y="415082"/>
                  <a:pt x="226771" y="409011"/>
                </a:cubicBezTo>
                <a:cubicBezTo>
                  <a:pt x="236220" y="402941"/>
                  <a:pt x="245669" y="396114"/>
                  <a:pt x="255118" y="388173"/>
                </a:cubicBezTo>
                <a:cubicBezTo>
                  <a:pt x="264566" y="380232"/>
                  <a:pt x="274015" y="371354"/>
                  <a:pt x="283464" y="361366"/>
                </a:cubicBezTo>
                <a:cubicBezTo>
                  <a:pt x="292913" y="351377"/>
                  <a:pt x="302362" y="340301"/>
                  <a:pt x="311810" y="328241"/>
                </a:cubicBezTo>
                <a:cubicBezTo>
                  <a:pt x="321259" y="316181"/>
                  <a:pt x="330708" y="302949"/>
                  <a:pt x="340157" y="289006"/>
                </a:cubicBezTo>
                <a:cubicBezTo>
                  <a:pt x="349606" y="275062"/>
                  <a:pt x="359054" y="259967"/>
                  <a:pt x="368503" y="244582"/>
                </a:cubicBezTo>
                <a:cubicBezTo>
                  <a:pt x="377952" y="229197"/>
                  <a:pt x="387401" y="212819"/>
                  <a:pt x="396850" y="196695"/>
                </a:cubicBezTo>
                <a:cubicBezTo>
                  <a:pt x="406298" y="180572"/>
                  <a:pt x="415747" y="163770"/>
                  <a:pt x="425196" y="147843"/>
                </a:cubicBezTo>
                <a:cubicBezTo>
                  <a:pt x="434645" y="131916"/>
                  <a:pt x="444094" y="115776"/>
                  <a:pt x="453542" y="101132"/>
                </a:cubicBezTo>
                <a:cubicBezTo>
                  <a:pt x="462991" y="86488"/>
                  <a:pt x="472440" y="72216"/>
                  <a:pt x="481889" y="59978"/>
                </a:cubicBezTo>
                <a:cubicBezTo>
                  <a:pt x="491338" y="47739"/>
                  <a:pt x="500786" y="36515"/>
                  <a:pt x="510235" y="27700"/>
                </a:cubicBezTo>
                <a:cubicBezTo>
                  <a:pt x="519684" y="18885"/>
                  <a:pt x="529133" y="11705"/>
                  <a:pt x="538582" y="7088"/>
                </a:cubicBezTo>
                <a:cubicBezTo>
                  <a:pt x="548030" y="2472"/>
                  <a:pt x="557479" y="0"/>
                  <a:pt x="566928" y="0"/>
                </a:cubicBezTo>
                <a:cubicBezTo>
                  <a:pt x="576377" y="0"/>
                  <a:pt x="585826" y="2472"/>
                  <a:pt x="595274" y="7088"/>
                </a:cubicBezTo>
                <a:cubicBezTo>
                  <a:pt x="604723" y="11705"/>
                  <a:pt x="614172" y="18885"/>
                  <a:pt x="623621" y="27700"/>
                </a:cubicBezTo>
                <a:cubicBezTo>
                  <a:pt x="633070" y="36515"/>
                  <a:pt x="642518" y="47739"/>
                  <a:pt x="651967" y="59978"/>
                </a:cubicBezTo>
                <a:cubicBezTo>
                  <a:pt x="661416" y="72216"/>
                  <a:pt x="670865" y="86488"/>
                  <a:pt x="680314" y="101132"/>
                </a:cubicBezTo>
                <a:cubicBezTo>
                  <a:pt x="689762" y="115776"/>
                  <a:pt x="699211" y="131916"/>
                  <a:pt x="708660" y="147843"/>
                </a:cubicBezTo>
                <a:cubicBezTo>
                  <a:pt x="718109" y="163770"/>
                  <a:pt x="727558" y="180572"/>
                  <a:pt x="737006" y="196695"/>
                </a:cubicBezTo>
                <a:cubicBezTo>
                  <a:pt x="746455" y="212819"/>
                  <a:pt x="755904" y="229197"/>
                  <a:pt x="765353" y="244582"/>
                </a:cubicBezTo>
                <a:cubicBezTo>
                  <a:pt x="774802" y="259967"/>
                  <a:pt x="784250" y="275062"/>
                  <a:pt x="793699" y="289006"/>
                </a:cubicBezTo>
                <a:cubicBezTo>
                  <a:pt x="803148" y="302949"/>
                  <a:pt x="812597" y="316181"/>
                  <a:pt x="822046" y="328241"/>
                </a:cubicBezTo>
                <a:cubicBezTo>
                  <a:pt x="831494" y="340301"/>
                  <a:pt x="840943" y="351377"/>
                  <a:pt x="850392" y="361366"/>
                </a:cubicBezTo>
                <a:cubicBezTo>
                  <a:pt x="859841" y="371354"/>
                  <a:pt x="869290" y="380232"/>
                  <a:pt x="878738" y="388173"/>
                </a:cubicBezTo>
                <a:cubicBezTo>
                  <a:pt x="888187" y="396114"/>
                  <a:pt x="897636" y="402941"/>
                  <a:pt x="907085" y="409011"/>
                </a:cubicBezTo>
                <a:cubicBezTo>
                  <a:pt x="916534" y="415082"/>
                  <a:pt x="925982" y="420127"/>
                  <a:pt x="935431" y="424594"/>
                </a:cubicBezTo>
                <a:cubicBezTo>
                  <a:pt x="944880" y="429062"/>
                  <a:pt x="954329" y="432648"/>
                  <a:pt x="963778" y="435816"/>
                </a:cubicBezTo>
                <a:cubicBezTo>
                  <a:pt x="973226" y="438985"/>
                  <a:pt x="982675" y="441440"/>
                  <a:pt x="992124" y="443608"/>
                </a:cubicBezTo>
                <a:cubicBezTo>
                  <a:pt x="1001573" y="445776"/>
                  <a:pt x="1011022" y="447394"/>
                  <a:pt x="1020470" y="448826"/>
                </a:cubicBezTo>
                <a:cubicBezTo>
                  <a:pt x="1029919" y="450258"/>
                  <a:pt x="1039368" y="451286"/>
                  <a:pt x="1048817" y="452200"/>
                </a:cubicBezTo>
                <a:cubicBezTo>
                  <a:pt x="1058266" y="453113"/>
                  <a:pt x="1067714" y="453743"/>
                  <a:pt x="1077163" y="454306"/>
                </a:cubicBezTo>
                <a:cubicBezTo>
                  <a:pt x="1086612" y="454869"/>
                  <a:pt x="1096061" y="455241"/>
                  <a:pt x="1105510" y="455577"/>
                </a:cubicBezTo>
                <a:cubicBezTo>
                  <a:pt x="1114958" y="455912"/>
                  <a:pt x="1129132" y="456194"/>
                  <a:pt x="1133856" y="456317"/>
                </a:cubicBezTo>
              </a:path>
            </a:pathLst>
          </a:custGeom>
          <a:ln w="20320">
            <a:solidFill>
              <a:srgbClr val="1A62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38544" y="499262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同一个形状，电平逐周期抬升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541264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前者的有效表示，不保证后者也能被有效利用——这正是本工作要补上的一环。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291072"/>
            <a:ext cx="9866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 minipaper 第 1 节与第 2.1 节；示意为概念图，非真实数据。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607040" y="629107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 ·  机制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8"/>
              </a:lnSpc>
              <a:buNone/>
            </a:pPr>
            <a:r>
              <a:rPr lang="en-US" sz="29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电平漂移在几何上只多出 1 个方向，但几何简洁不等于有预测价值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窗口中心化保留了周期间的电平差异；这份差异正好落在原相位子空间之外。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3657600" cy="2011680"/>
          </a:xfrm>
          <a:prstGeom prst="ellipse">
            <a:avLst/>
          </a:prstGeom>
          <a:solidFill>
            <a:srgbClr val="EDF3FA"/>
          </a:solidFill>
          <a:ln w="12700">
            <a:solidFill>
              <a:srgbClr val="C5DA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3154680"/>
            <a:ext cx="1463040" cy="1554480"/>
          </a:xfrm>
          <a:prstGeom prst="line">
            <a:avLst/>
          </a:prstGeom>
          <a:noFill/>
          <a:ln w="12700">
            <a:solidFill>
              <a:srgbClr val="D3E3F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804111" y="4279392"/>
            <a:ext cx="2426818" cy="-694944"/>
          </a:xfrm>
          <a:prstGeom prst="line">
            <a:avLst/>
          </a:prstGeom>
          <a:noFill/>
          <a:ln w="12700">
            <a:solidFill>
              <a:srgbClr val="9DC3E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056486" y="4141318"/>
            <a:ext cx="102413" cy="102413"/>
          </a:xfrm>
          <a:prstGeom prst="ellipse">
            <a:avLst/>
          </a:prstGeom>
          <a:solidFill>
            <a:srgbClr val="4E90C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66314" y="3880714"/>
            <a:ext cx="102413" cy="102413"/>
          </a:xfrm>
          <a:prstGeom prst="ellipse">
            <a:avLst/>
          </a:prstGeom>
          <a:solidFill>
            <a:srgbClr val="4E90C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76142" y="3620110"/>
            <a:ext cx="102413" cy="102413"/>
          </a:xfrm>
          <a:prstGeom prst="ellipse">
            <a:avLst/>
          </a:prstGeom>
          <a:solidFill>
            <a:srgbClr val="4E90C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7348" y="3671316"/>
            <a:ext cx="964692" cy="-790956"/>
          </a:xfrm>
          <a:prstGeom prst="line">
            <a:avLst/>
          </a:prstGeom>
          <a:noFill/>
          <a:ln w="25400">
            <a:solidFill>
              <a:srgbClr val="0D2542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703320" y="23591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电平漂移方向（≤ 1 维）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4370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相位子空间  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5120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示意：几何上只多一个方向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2121408"/>
            <a:ext cx="5769864" cy="1463040"/>
          </a:xfrm>
          <a:prstGeom prst="roundRect">
            <a:avLst>
              <a:gd name="adj" fmla="val 3750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81344" y="22860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命题 1  ·  一个额外方向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81344" y="25420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rank( (I − P_S) · C(X_ℓ) )  ≤  1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181344" y="298094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跨周期电平扰动在相位子空间外最多增加一个方向。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52160" y="3767328"/>
            <a:ext cx="5769864" cy="1627632"/>
          </a:xfrm>
          <a:prstGeom prst="roundRect">
            <a:avLst>
              <a:gd name="adj" fmla="val 3371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81344" y="39319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命题 2  ·  预测加权的秩一近似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81344" y="418795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R(abᵀ) − R(W*) = (1/H)·‖RΣ^(1/2)‖_F²  ≤  (1/H)·E‖ε‖²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181344" y="480974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残差中不可预测的部分越小，单一秩就能承载几乎全部线性预测价值。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687568"/>
            <a:ext cx="11055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所以真正的判据不是「方向简不简洁」，而是它能否延续到未来、以及主干已经预测掉了多少。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291072"/>
            <a:ext cx="9866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命题 1、命题 2，minipaper 第 2.1–2.2 节（证明见论文）。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29107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 ·  证据（一）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8"/>
              </a:lnSpc>
              <a:buNone/>
            </a:pPr>
            <a:r>
              <a:rPr lang="en-US" sz="29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 1 个方向，就拿下 64%–86% 的可获得线性增益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而它只占输入方差 0.8%–4.6%——预测价值与信号能量几乎解耦。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901952"/>
          <a:ext cx="7452360" cy="36210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83880" y="1901952"/>
            <a:ext cx="3438144" cy="3621024"/>
          </a:xfrm>
          <a:prstGeom prst="roundRect">
            <a:avLst>
              <a:gd name="adj" fmla="val 1596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76488" y="21214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 的增益需要几个方向？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476488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2–4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784080" y="26060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六个主数据集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476488" y="30906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90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5–7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9784080" y="32278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Traffic 才需要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476488" y="38221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能量谱 ≠ 预测谱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76488" y="407822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ETTh2-720 上，达到 95% 所需的维度：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476488" y="43525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171432" y="4352544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预测谱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拿到 95% 的可获得改进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476488" y="48646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9CBE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418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9720072" y="486460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权重谱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才到 95% 的能量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579729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判断一个分量值不值得保留，要用预测准则，不能用方差准则。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291072"/>
            <a:ext cx="9866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训练/验证集统计，非测试误差；柱高取各数据集 4 个 horizon 的区间中点，完整区间见 minipaper Table 2。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0607040" y="629107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 ·  证据（二）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8"/>
              </a:lnSpc>
              <a:buNone/>
            </a:pPr>
            <a:r>
              <a:rPr lang="en-US" sz="29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分支自己变准了，融合结果反而变差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对分支的私有输入做子空间移除干预，主干输入与训练参数保持不变。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042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分支单独的误差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5968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7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−83.9%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移掉语义子空间后，分支作为独立预测器明显变好了。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2784" y="2139696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38544" y="23042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A63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融合后的误差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38544" y="25968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63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+40.6%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638544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但真正部署的预测变差了——同一个改动，方向相反。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041648"/>
            <a:ext cx="11055096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42062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为什么会这样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44988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修正量是  g ⊙ (ŷ_r − ŷ_φ)——一个分量有没有用，取决于它的搭档，而不是它自己的准确率。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9194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在早期的 72 个低秩 checkpoint 中，52 个出现同样的分离，72 个的融合误差全部上升（探索性结果，非独立复现）。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650992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按「分支自己准不准」去优化或筛选，会做出伤害最终预测的改动——必须看融合后的误差。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291072"/>
            <a:ext cx="9866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数值为源研究的相对误差汇总（dense ETTm2-192，ETTm2 四个 horizon 结论一致）。语义缺失性检验未完全通过，故支持的是「在多方向修正中功能性地依赖近期电平信息」。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0" y="629107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 ·  证据（三）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94"/>
              </a:lnSpc>
              <a:buNone/>
            </a:pPr>
            <a:r>
              <a:rPr lang="en-US" sz="27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主模式读近端电平、写整段位移，且这份依赖相对同维随机是特异的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个 model–setting 组（ETTh2-96/720、ETTm2-96/192、Weather-96/192 各三 seed）；全部只用 validation 划分、无新训 run。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3502152" cy="2926080"/>
          </a:xfrm>
          <a:prstGeom prst="roundRect">
            <a:avLst>
              <a:gd name="adj" fmla="val 1875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5798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读的一侧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6888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主模式输入模板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834640"/>
            <a:ext cx="2953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/ 18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41248" y="3639312"/>
            <a:ext cx="2953512" cy="64008"/>
          </a:xfrm>
          <a:prstGeom prst="roundRect">
            <a:avLst>
              <a:gd name="adj" fmla="val 42857"/>
            </a:avLst>
          </a:prstGeom>
          <a:solidFill>
            <a:srgbClr val="C9DDF1"/>
          </a:solidFill>
          <a:ln w="12700">
            <a:solidFill>
              <a:srgbClr val="C9DD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639312"/>
            <a:ext cx="2953512" cy="64008"/>
          </a:xfrm>
          <a:prstGeom prst="roundRect">
            <a:avLst>
              <a:gd name="adj" fmla="val 42857"/>
            </a:avLst>
          </a:prstGeom>
          <a:solidFill>
            <a:srgbClr val="1A62A8"/>
          </a:solidFill>
          <a:ln w="12700">
            <a:solidFill>
              <a:srgbClr val="1A62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858768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近期加权水平，解释率 0.57–0.73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判据阈值 ≥0.5 ✓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佐证：b₁ 的 53–70% 能量在最后 24 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502152" cy="2926080"/>
          </a:xfrm>
          <a:prstGeom prst="roundRect">
            <a:avLst>
              <a:gd name="adj" fmla="val 1875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215798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写的一侧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46888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主模式输出模板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834640"/>
            <a:ext cx="2953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18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4617720" y="3639312"/>
            <a:ext cx="2953512" cy="64008"/>
          </a:xfrm>
          <a:prstGeom prst="roundRect">
            <a:avLst>
              <a:gd name="adj" fmla="val 42857"/>
            </a:avLst>
          </a:prstGeom>
          <a:solidFill>
            <a:srgbClr val="C9DDF1"/>
          </a:solidFill>
          <a:ln w="12700">
            <a:solidFill>
              <a:srgbClr val="C9DD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363931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1A62A8"/>
          </a:solidFill>
          <a:ln w="12700">
            <a:solidFill>
              <a:srgbClr val="1A62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3858768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整体位移，解释率 0.91–0.97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其余 6 行全部是 Weather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曲率修正 4 行、倾斜修正 2 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19872" y="1920240"/>
            <a:ext cx="3502152" cy="2926080"/>
          </a:xfrm>
          <a:prstGeom prst="roundRect">
            <a:avLst>
              <a:gd name="adj" fmla="val 1875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94192" y="215798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特异性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246888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删语义子空间 &gt; 删同维随机子空间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2834640"/>
            <a:ext cx="2953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/ 18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8394192" y="3639312"/>
            <a:ext cx="2953512" cy="64008"/>
          </a:xfrm>
          <a:prstGeom prst="roundRect">
            <a:avLst>
              <a:gd name="adj" fmla="val 42857"/>
            </a:avLst>
          </a:prstGeom>
          <a:solidFill>
            <a:srgbClr val="C9DDF1"/>
          </a:solidFill>
          <a:ln w="12700">
            <a:solidFill>
              <a:srgbClr val="C9DD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94192" y="3639312"/>
            <a:ext cx="2953512" cy="64008"/>
          </a:xfrm>
          <a:prstGeom prst="roundRect">
            <a:avLst>
              <a:gd name="adj" fmla="val 42857"/>
            </a:avLst>
          </a:prstGeom>
          <a:solidFill>
            <a:srgbClr val="1A62A8"/>
          </a:solidFill>
          <a:ln w="12700">
            <a:solidFill>
              <a:srgbClr val="1A62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94192" y="3858768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超出随机 RRR 的 95% 零分布带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3/3 seed 成立 ✓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个有判别力格：+6.3 ~ +39.3 pp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5084064"/>
            <a:ext cx="11055096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2688" y="508406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证据边界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212848" y="5084064"/>
            <a:ext cx="9409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行中 8 行的语义子空间张满该头、按构造无判别力，不作特异性证据；保留语义子空间单独的充分性判据未通过（0/3）；且尚无「已知漂移方向」的对齐实验。故结论限于功能性依赖与相对同维随机的特异性。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291072"/>
            <a:ext cx="9866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训练头解剖与子空间干预只用 validation 划分；来源：minipaper 第 4.4 节、Table 4 与附录 A.1。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0" y="629107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 ·  证据（四）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94"/>
              </a:lnSpc>
              <a:buNone/>
            </a:pPr>
            <a:r>
              <a:rPr lang="en-US" sz="27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多留几个方向也没能改善：瓶颈不在挑哪个方向，而在「只留少数方向」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假设是「只留 1 个方向太窄，把它周围的一小簇方向一起留下会更好」。我们试了 1、2、4、8 个方向。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5349240" cy="1700784"/>
          </a:xfrm>
          <a:prstGeom prst="roundRect">
            <a:avLst>
              <a:gd name="adj" fmla="val 3226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06654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多覆盖了多少输入变化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377440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12%  →  47%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906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从只留 1 个方向加宽到 8 个（Electricity-336）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2784" y="1847088"/>
            <a:ext cx="5349240" cy="1700784"/>
          </a:xfrm>
          <a:prstGeom prst="roundRect">
            <a:avLst>
              <a:gd name="adj" fmla="val 3226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38544" y="206654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A63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多换来多少预测精度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38544" y="2377440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63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/ 7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638544" y="30906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 Weather-192 变好，其余 6 个即使挑最优宽度仍不如完整输入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785616"/>
            <a:ext cx="11055096" cy="1243584"/>
          </a:xfrm>
          <a:prstGeom prst="roundRect">
            <a:avLst>
              <a:gd name="adj" fmla="val 4412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3895344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三种「只留少数方向」的做法，同一个结局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2396" y="4206240"/>
            <a:ext cx="3291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A9CB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2396" y="42062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只留最主方向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48556" y="4206240"/>
            <a:ext cx="3291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A9CB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48556" y="42062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再加全局第 2 方向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4716" y="4206240"/>
            <a:ext cx="3291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A9CB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14716" y="42062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再加主方向的邻域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700016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6~7 / 7 个 setting 上，全部输给「直接用完整的 720 步输入」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248656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5248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缺的不是「没挑对方向」，而是「用固定的一小组方向读历史」本身有上限——所以 PhaseFormer-L 不固定方向，让模型自己学读什么、写什么。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291072"/>
            <a:ext cx="9866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邻域宽度实验（2026-09-16，98 个 run）：协议含明确披露的 test-set selection，不构成盲测或无偏泛化估计。来源：docs/PhaseFormer_direction1_neighborhood_report.md。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29107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 ·  方法与主结果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94"/>
              </a:lnSpc>
              <a:buNone/>
            </a:pPr>
            <a:r>
              <a:rPr lang="en-US" sz="27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确认账本：28 个 setting 中 23 个至少一项指标优于 Golden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条件性证据——单 seed 见证，配置搜索使用测试指标选择；账本混合多种机制配置，不是统一模型的平均性能。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56816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输入窗口  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87168" y="1664208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7168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相位主干  ŷ_φ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87168" y="2304288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DCE9F6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87168" y="23042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时间线性分支  ŷ_r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39696" y="2240280"/>
            <a:ext cx="347472" cy="-274320"/>
          </a:xfrm>
          <a:prstGeom prst="line">
            <a:avLst/>
          </a:prstGeom>
          <a:noFill/>
          <a:ln w="15875">
            <a:solidFill>
              <a:srgbClr val="4E90C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39696" y="2240280"/>
            <a:ext cx="347472" cy="338328"/>
          </a:xfrm>
          <a:prstGeom prst="line">
            <a:avLst/>
          </a:prstGeom>
          <a:noFill/>
          <a:ln w="15875">
            <a:solidFill>
              <a:srgbClr val="4E90C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1664208"/>
            <a:ext cx="2212848" cy="1143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73736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门控融合  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815584" y="20665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ŷ = (1−g)⊙ŷ_φ + g⊙ŷ_r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815584" y="2395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 = sigmoid(γ)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31536" y="1938528"/>
            <a:ext cx="310896" cy="292608"/>
          </a:xfrm>
          <a:prstGeom prst="line">
            <a:avLst/>
          </a:prstGeom>
          <a:noFill/>
          <a:ln w="15875">
            <a:solidFill>
              <a:srgbClr val="4E90C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31536" y="2542032"/>
            <a:ext cx="310896" cy="-310896"/>
          </a:xfrm>
          <a:prstGeom prst="line">
            <a:avLst/>
          </a:prstGeom>
          <a:noFill/>
          <a:ln w="15875">
            <a:solidFill>
              <a:srgbClr val="4E90C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1664208"/>
            <a:ext cx="3300984" cy="1143000"/>
          </a:xfrm>
          <a:prstGeom prst="roundRect">
            <a:avLst>
              <a:gd name="adj" fmla="val 4800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22208" y="17922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ŷ_r = x_L + W(x − x_L) + σc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522208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等价：ŷ = ŷ_φ + g⊙(ŷ_r − ŷ_φ)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522208" y="23957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修正量 = 两个预测的门控差值；低秩只是效率选项。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99232"/>
          <a:ext cx="11055096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1920240"/>
                <a:gridCol w="1645920"/>
                <a:gridCol w="1645920"/>
                <a:gridCol w="1819656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数据集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达标 setting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双指标达标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仅 MSE 达标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仅 MAE 达标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含 phase_only 行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ETTh2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 / 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ETTm2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 / 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Weather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 / 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Electricity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 / 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Traffic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 / 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63A2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ETTm1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 / 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ETTh1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 / 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63A2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合计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23 / 28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16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254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6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566928" y="5486400"/>
            <a:ext cx="11055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 行达标中：16 行双指标、3 行仅 MSE、4 行仅 MAE；其中 2 行是 phase_only 配置（未启用新分支），故「达标」≠「分支带来的提升」。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主协议口径（三 seed、matched baseline）：ETTh2 / ETTm2 / Weather 12/12 双指标提升；ETTm1、Traffic 则全部 horizon 变差。两者回答不同问题。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291072"/>
            <a:ext cx="9866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 minipaper Table 1（28 行确认账本）按数据集汇总；每行一个经审计 witness seed，非三 seed 均值。配置搜索使用测试指标选择，故为条件性证据，不是无偏测试估计。完整 28 行与出处见 Appendix A.2。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0607040" y="629107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 ·  结论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8"/>
              </a:lnSpc>
              <a:buNone/>
            </a:pPr>
            <a:r>
              <a:rPr lang="en-US" sz="29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容量要按「相对主干的预测价值」分配，而不是按信号能量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从几何分析，到机制验证，再到实验边界——一条闭环论证。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08483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CBE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206654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几何上很简洁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681728" y="2066544"/>
            <a:ext cx="6940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跨周期电平扰动在相位子空间外最多多出 1 个方向。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8950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CBE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28712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 1 个方向价值极高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2871216"/>
            <a:ext cx="6940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它拿下 64%–86% 的可获得线性增益，却只占输入方差 0.8%–4.6%：预测价值与信号能量解耦。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694176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CBE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243584" y="36758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分支的价值由搭档定义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675888"/>
            <a:ext cx="6940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修正量是两个预测的门控差值；让分支单独变好的改动，可能让融合结果变差。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49884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CBE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243584" y="4480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收益有明确边界，代价可量化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4480560"/>
            <a:ext cx="6940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主协议下 ETTh2 / ETTm2 / Weather 稳定双指标提升，ETTm1、Traffic 不提升；rank-H/8 把参数压到 16.4%–33.0%，MSE 平均只差 0.72%。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5468112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 w="12700">
            <a:solidFill>
              <a:srgbClr val="EDF3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546811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设计原则：把预测容量分配给「相对主干仍有增量的方向」。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291072"/>
            <a:ext cx="9866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数字均来自 minipaper 的主协议结果与已完成的机制分析（Niu et al., PhaseFormer, ICLR 2026）。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29107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 ·  贡献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94"/>
              </a:lnSpc>
              <a:buNone/>
            </a:pPr>
            <a:r>
              <a:rPr lang="en-US" sz="270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三条贡献：从可推导的几何，到可操作的判据，到边界清晰的实证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本文把相位表示与电平适应连起来，并把「相对主干的预测价值」确立为紧凑修正的组织原则。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11055096" cy="1225296"/>
          </a:xfrm>
          <a:prstGeom prst="roundRect">
            <a:avLst>
              <a:gd name="adj" fmla="val 447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5856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A62A8"/>
          </a:solidFill>
          <a:ln w="12700">
            <a:solidFill>
              <a:srgbClr val="1A6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103120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几何刻画：把「电平漂移」变成可推导的对象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2468880"/>
            <a:ext cx="6446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证明跨周期电平漂移在相位子空间之外最多只增加 1 个方向，并给出秩一修正的预测加权误差上界——使「该不该加这条通路」不再是经验判断。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75320" y="2258568"/>
            <a:ext cx="2779776" cy="475488"/>
          </a:xfrm>
          <a:prstGeom prst="roundRect">
            <a:avLst>
              <a:gd name="adj" fmla="val 19231"/>
            </a:avLst>
          </a:prstGeom>
          <a:solidFill>
            <a:srgbClr val="EDF3FA"/>
          </a:solidFill>
          <a:ln w="9525">
            <a:solidFill>
              <a:srgbClr val="A9CB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258568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命题 1、命题 2 · 第 2 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11055096" cy="1225296"/>
          </a:xfrm>
          <a:prstGeom prst="roundRect">
            <a:avLst>
              <a:gd name="adj" fmla="val 447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6484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A62A8"/>
          </a:solidFill>
          <a:ln w="12700">
            <a:solidFill>
              <a:srgbClr val="1A62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3648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72768" y="3493008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判据：按「相对主干的预测价值」取舍，而非信号能量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858768"/>
            <a:ext cx="6446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预测谱显示最有价值的方向只占输入方差 0.8%–4.6%；干预实验进一步显示，一个分量是否有用取决于它的搭档，而非自身准确率。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75320" y="3648456"/>
            <a:ext cx="2779776" cy="475488"/>
          </a:xfrm>
          <a:prstGeom prst="roundRect">
            <a:avLst>
              <a:gd name="adj" fmla="val 19231"/>
            </a:avLst>
          </a:prstGeom>
          <a:solidFill>
            <a:srgbClr val="EDF3FA"/>
          </a:solidFill>
          <a:ln w="9525">
            <a:solidFill>
              <a:srgbClr val="A9CB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3648456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 个 setting 预测谱 · 18 组训练头干预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4663440"/>
            <a:ext cx="11055096" cy="1225296"/>
          </a:xfrm>
          <a:prstGeom prst="roundRect">
            <a:avLst>
              <a:gd name="adj" fmla="val 447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03834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A62A8"/>
          </a:solidFill>
          <a:ln w="12700">
            <a:solidFill>
              <a:srgbClr val="1A62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72768" y="4882896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5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实证：边界清晰的低维适应方案与可量的容量–精度权衡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572768" y="5248656"/>
            <a:ext cx="6446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6617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门控线性分支在 ETTh2 / ETTm2 / Weather 全部 12 个 setting 双指标提升（MSE 最高 −8.73%）；rank-H/8 把总参数量压到 16.4%–33.0%，MSE 平均只差 0.72%。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75320" y="5038344"/>
            <a:ext cx="2779776" cy="475488"/>
          </a:xfrm>
          <a:prstGeom prst="roundRect">
            <a:avLst>
              <a:gd name="adj" fmla="val 19231"/>
            </a:avLst>
          </a:prstGeom>
          <a:solidFill>
            <a:srgbClr val="EDF3FA"/>
          </a:solidFill>
          <a:ln w="9525">
            <a:solidFill>
              <a:srgbClr val="A9CB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5038344"/>
            <a:ext cx="2779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2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 seed 对照 · 28 行确认账本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291072"/>
            <a:ext cx="9866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三项贡献对应 minipaper 第 1 节所列的三条；证据来源与适用边界见 minipaper 第 4 节与附录 A。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607040" y="629107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798A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PingFang SC"/>
        <a:cs typeface="PingFang SC"/>
        <a:font script="Jpan" typeface="游ゴシック Light"/>
        <a:font script="Hang" typeface="맑은 고딕"/>
        <a:font script="Hans" typeface="PingFang SC"/>
        <a:font script="Hant" typeface="PingFang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PingFang SC"/>
        <a:cs typeface="PingFang SC"/>
        <a:font script="Jpan" typeface="游ゴシック"/>
        <a:font script="Hang" typeface="맑은 고딕"/>
        <a:font script="Hans" typeface="PingFang SC"/>
        <a:font script="Hant" typeface="PingFang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PhaseFormer-L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PhaseFormer-L 低维电平适应</dc:title>
  <dc:subject>PptxGenJS Presentation</dc:subject>
  <dc:creator>Yiming Niu</dc:creator>
  <cp:lastModifiedBy>Yiming Niu</cp:lastModifiedBy>
  <cp:revision>1</cp:revision>
  <dcterms:created xsi:type="dcterms:W3CDTF">2026-09-22T11:34:40Z</dcterms:created>
  <dcterms:modified xsi:type="dcterms:W3CDTF">2026-09-22T11:34:40Z</dcterms:modified>
</cp:coreProperties>
</file>