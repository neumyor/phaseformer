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37160"/>
            <a:ext cx="11457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残差支路的任务本质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57432" cy="621792"/>
          </a:xfrm>
          <a:prstGeom prst="rect">
            <a:avLst/>
          </a:prstGeom>
          <a:solidFill>
            <a:srgbClr val="EBF2FA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658368"/>
            <a:ext cx="11457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66A8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三步独立分析指向同一结论：支路的主方向主要从近期历史读取水平信息，输出整段近似恒定的未来位移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65760" y="1344168"/>
            <a:ext cx="1145743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35608"/>
            <a:ext cx="2770632" cy="4407408"/>
          </a:xfrm>
          <a:prstGeom prst="rect">
            <a:avLst/>
          </a:prstGeom>
          <a:solidFill>
            <a:srgbClr val="F5F7FA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35608"/>
            <a:ext cx="2770632" cy="54864"/>
          </a:xfrm>
          <a:prstGeom prst="rect">
            <a:avLst/>
          </a:prstGeom>
          <a:solidFill>
            <a:srgbClr val="3A66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54533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66A8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分析一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78308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容量分析（7个场景）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2496312" cy="0"/>
          </a:xfrm>
          <a:prstGeom prst="line">
            <a:avLst/>
          </a:prstGeom>
          <a:noFill/>
          <a:ln w="6350">
            <a:solidFill>
              <a:srgbClr val="C8D8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03120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6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66%–86%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734056"/>
            <a:ext cx="2496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第一方向独占理论收益的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2/3 至 5/6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38144"/>
            <a:ext cx="2496312" cy="0"/>
          </a:xfrm>
          <a:prstGeom prst="line">
            <a:avLst/>
          </a:prstGeom>
          <a:noFill/>
          <a:ln w="6350">
            <a:solidFill>
              <a:srgbClr val="C8D8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511296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不训练神经网络，将支路写成线性回归</a:t>
            </a:r>
            <a:endParaRPr lang="en-US" sz="1050" dirty="0"/>
          </a:p>
          <a:p>
            <a:pPr marL="101600" indent="-101600">
              <a:spcAft>
                <a:spcPts val="300"/>
              </a:spcAft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求训练集上理论最优映射的奇异值分布</a:t>
            </a:r>
            <a:endParaRPr lang="en-US" sz="1050" dirty="0"/>
          </a:p>
          <a:p>
            <a:pPr marL="101600" indent="-101600">
              <a:spcAft>
                <a:spcPts val="300"/>
              </a:spcAft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λ₁/Σλᵢ 精确量化第一方向的贡献比例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910328"/>
            <a:ext cx="2587752" cy="804672"/>
          </a:xfrm>
          <a:prstGeom prst="rect">
            <a:avLst/>
          </a:prstGeom>
          <a:solidFill>
            <a:srgbClr val="F0F4F8"/>
          </a:solidFill>
          <a:ln w="9525">
            <a:solidFill>
              <a:srgbClr val="C8D8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4946904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验证集交叉核验：65.5%–86.2%，与训练集一致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7832" y="1435608"/>
            <a:ext cx="2770632" cy="4407408"/>
          </a:xfrm>
          <a:prstGeom prst="rect">
            <a:avLst/>
          </a:prstGeom>
          <a:solidFill>
            <a:srgbClr val="F5F7FA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7832" y="1435608"/>
            <a:ext cx="2770632" cy="54864"/>
          </a:xfrm>
          <a:prstGeom prst="rect">
            <a:avLst/>
          </a:prstGeom>
          <a:solidFill>
            <a:srgbClr val="3A66A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64992" y="154533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66A8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分析二（输入侧）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364992" y="178308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输入方向能量分布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64992" y="2029968"/>
            <a:ext cx="2496312" cy="0"/>
          </a:xfrm>
          <a:prstGeom prst="line">
            <a:avLst/>
          </a:prstGeom>
          <a:noFill/>
          <a:ln w="6350">
            <a:solidFill>
              <a:srgbClr val="C8D8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19272" y="2103120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6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53%–70%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3364992" y="2734056"/>
            <a:ext cx="2496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最近 24 步集中了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输入权重的过半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64992" y="3438144"/>
            <a:ext cx="2496312" cy="0"/>
          </a:xfrm>
          <a:prstGeom prst="line">
            <a:avLst/>
          </a:prstGeom>
          <a:noFill/>
          <a:ln w="6350">
            <a:solidFill>
              <a:srgbClr val="C8D8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64992" y="3511296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最优秩一映射 W₁ = a₁b₁ᵀ 中的 b₁</a:t>
            </a:r>
            <a:endParaRPr lang="en-US" sz="1050" dirty="0"/>
          </a:p>
          <a:p>
            <a:pPr marL="101600" indent="-101600">
              <a:spcAft>
                <a:spcPts val="300"/>
              </a:spcAft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计算 b₁ 在最近 k 步的平方权重占比</a:t>
            </a:r>
            <a:endParaRPr lang="en-US" sz="1050" dirty="0"/>
          </a:p>
          <a:p>
            <a:pPr marL="101600" indent="-101600">
              <a:spcAft>
                <a:spcPts val="300"/>
              </a:spcAft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最近168步覆盖 71%–90% 的总能量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9272" y="4910328"/>
            <a:ext cx="2587752" cy="804672"/>
          </a:xfrm>
          <a:prstGeom prst="rect">
            <a:avLst/>
          </a:prstGeom>
          <a:solidFill>
            <a:srgbClr val="F0F4F8"/>
          </a:solidFill>
          <a:ln w="9525">
            <a:solidFill>
              <a:srgbClr val="C8D8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92424" y="4946904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最接近的可解释模板：指数衰减加权均值（cos 0.58–0.78）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9904" y="1435608"/>
            <a:ext cx="2770632" cy="4407408"/>
          </a:xfrm>
          <a:prstGeom prst="rect">
            <a:avLst/>
          </a:prstGeom>
          <a:solidFill>
            <a:srgbClr val="F5F7FA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9904" y="1435608"/>
            <a:ext cx="2770632" cy="54864"/>
          </a:xfrm>
          <a:prstGeom prst="rect">
            <a:avLst/>
          </a:prstGeom>
          <a:solidFill>
            <a:srgbClr val="3A66A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27064" y="154533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66A8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分析二（输出侧）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27064" y="178308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输出方向余弦相似度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27064" y="2029968"/>
            <a:ext cx="2496312" cy="0"/>
          </a:xfrm>
          <a:prstGeom prst="line">
            <a:avLst/>
          </a:prstGeom>
          <a:noFill/>
          <a:ln w="6350">
            <a:solidFill>
              <a:srgbClr val="C8D8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81344" y="2103120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6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0.89–0.99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6227064" y="2734056"/>
            <a:ext cx="2496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输出方向接近整段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同步升降的恒定曲线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27064" y="3438144"/>
            <a:ext cx="2496312" cy="0"/>
          </a:xfrm>
          <a:prstGeom prst="line">
            <a:avLst/>
          </a:prstGeom>
          <a:noFill/>
          <a:ln w="6350">
            <a:solidFill>
              <a:srgbClr val="C8D8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27064" y="3511296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同一最优秩一映射中的输出方向 a₁</a:t>
            </a:r>
            <a:endParaRPr lang="en-US" sz="1050" dirty="0"/>
          </a:p>
          <a:p>
            <a:pPr marL="101600" indent="-101600">
              <a:spcAft>
                <a:spcPts val="300"/>
              </a:spcAft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计算 a₁ 与单位恒定向量的余弦相似度</a:t>
            </a:r>
            <a:endParaRPr lang="en-US" sz="1050" dirty="0"/>
          </a:p>
          <a:p>
            <a:pPr marL="101600" indent="-101600">
              <a:spcAft>
                <a:spcPts val="300"/>
              </a:spcAft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全部 7 场景符号一致率均为 1.0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81344" y="4910328"/>
            <a:ext cx="2587752" cy="804672"/>
          </a:xfrm>
          <a:prstGeom prst="rect">
            <a:avLst/>
          </a:prstGeom>
          <a:solidFill>
            <a:srgbClr val="F0F4F8"/>
          </a:solidFill>
          <a:ln w="9525">
            <a:solidFill>
              <a:srgbClr val="C8D8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54496" y="4946904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对比：a₁ 与线性斜坡的相似度仅 0.00–0.44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951976" y="1435608"/>
            <a:ext cx="2770632" cy="4407408"/>
          </a:xfrm>
          <a:prstGeom prst="rect">
            <a:avLst/>
          </a:prstGeom>
          <a:solidFill>
            <a:srgbClr val="F5F7FA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51976" y="1435608"/>
            <a:ext cx="2770632" cy="54864"/>
          </a:xfrm>
          <a:prstGeom prst="rect">
            <a:avLst/>
          </a:prstGeom>
          <a:solidFill>
            <a:srgbClr val="3A66A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089136" y="154533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66A8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分析三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089136" y="178308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Checkpoint 行空间投影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089136" y="2029968"/>
            <a:ext cx="2496312" cy="0"/>
          </a:xfrm>
          <a:prstGeom prst="line">
            <a:avLst/>
          </a:prstGeom>
          <a:noFill/>
          <a:ln w="6350">
            <a:solidFill>
              <a:srgbClr val="C8D8E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43416" y="2103120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6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5/7 场景</a:t>
            </a:r>
            <a:endParaRPr lang="en-US" sz="3400" dirty="0"/>
          </a:p>
        </p:txBody>
      </p:sp>
      <p:sp>
        <p:nvSpPr>
          <p:cNvPr id="45" name="Text 43"/>
          <p:cNvSpPr txBox="1"/>
          <p:nvPr/>
        </p:nvSpPr>
        <p:spPr>
          <a:xfrm>
            <a:off x="9089136" y="2734056"/>
            <a:ext cx="2496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实际训练权重覆盖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理论方向（0.81–0.98）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089136" y="3438144"/>
            <a:ext cx="2496312" cy="0"/>
          </a:xfrm>
          <a:prstGeom prst="line">
            <a:avLst/>
          </a:prstGeom>
          <a:noFill/>
          <a:ln w="6350">
            <a:solidFill>
              <a:srgbClr val="C8D8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089136" y="3511296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读取 3 个随机种子的已训练低秩 checkpoint</a:t>
            </a:r>
            <a:endParaRPr lang="en-US" sz="1050" dirty="0"/>
          </a:p>
          <a:p>
            <a:pPr marL="101600" indent="-101600">
              <a:spcAft>
                <a:spcPts val="300"/>
              </a:spcAft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计算理论方向 b₁ 在训练子空间中的投影长度</a:t>
            </a:r>
            <a:endParaRPr lang="en-US" sz="1050" dirty="0"/>
          </a:p>
          <a:p>
            <a:pPr marL="101600" indent="-101600">
              <a:spcAft>
                <a:spcPts val="300"/>
              </a:spcAft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接近 1 表示训练支路能完整读取该方向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043416" y="4910328"/>
            <a:ext cx="2587752" cy="804672"/>
          </a:xfrm>
          <a:prstGeom prst="rect">
            <a:avLst/>
          </a:prstGeom>
          <a:solidFill>
            <a:srgbClr val="FEF0EF"/>
          </a:solidFill>
          <a:ln w="9525">
            <a:solidFill>
              <a:srgbClr val="F0BAB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16568" y="4946904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404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ETTh2 例外：对齐度仅 0.53–0.72，该数据集存在更复杂结构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365760" y="591616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严格结论：5/7 个场景中，最优线性支路的主方向 = 近期加权水平 → 整段恒定位移；ETTh2 不遵循此模式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2026-09-16T02:59:58Z</dcterms:created>
  <dcterms:modified xsi:type="dcterms:W3CDTF">2026-09-16T02:59:58Z</dcterms:modified>
</cp:coreProperties>
</file>