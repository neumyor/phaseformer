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09728"/>
            <a:ext cx="11548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五种结构化低秩设计：结构与文献对应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594360"/>
            <a:ext cx="11548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82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控制基线 time_axis_matched_lowrank：时间点轴直接低秩 (L→r→H)，不分段，用于隔离坐标系贡献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886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AC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路线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886968"/>
            <a:ext cx="4617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AC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核心结构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886968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AC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对应研究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152144"/>
            <a:ext cx="11548872" cy="1042416"/>
          </a:xfrm>
          <a:prstGeom prst="rect">
            <a:avLst/>
          </a:prstGeom>
          <a:solidFill>
            <a:srgbClr val="0C1528"/>
          </a:solidFill>
          <a:ln w="19050">
            <a:solidFill>
              <a:srgbClr val="2F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52144"/>
            <a:ext cx="530352" cy="1042416"/>
          </a:xfrm>
          <a:prstGeom prst="rect">
            <a:avLst/>
          </a:prstGeom>
          <a:solidFill>
            <a:srgbClr val="2F5F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0040" y="1152144"/>
            <a:ext cx="5303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1179576"/>
            <a:ext cx="5230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周期轴低秩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417320"/>
            <a:ext cx="5230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8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将 (X − X_last) 重排为 K 个周期段 × P 个相位槽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B8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对每个相位槽共享同一个低秩映射：Y[k_y, p] = Σ_k W[k_y, k] S[k, p]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B8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 = decoder(r) @ encoder(K)，rank r ≪ 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99632" y="1207008"/>
            <a:ext cx="0" cy="932688"/>
          </a:xfrm>
          <a:prstGeom prst="line">
            <a:avLst/>
          </a:prstGeom>
          <a:noFill/>
          <a:ln w="12700">
            <a:solidFill>
              <a:srgbClr val="1E2E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91072" y="1179576"/>
            <a:ext cx="5440680" cy="9692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C8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SparseTSF（ICML 2024）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8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周期/跨周期稀疏连接思想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8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本设计将稀疏推广为低秩瓶颈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267712"/>
            <a:ext cx="11548872" cy="1042416"/>
          </a:xfrm>
          <a:prstGeom prst="rect">
            <a:avLst/>
          </a:prstGeom>
          <a:solidFill>
            <a:srgbClr val="0C1528"/>
          </a:solidFill>
          <a:ln w="19050">
            <a:solidFill>
              <a:srgbClr val="257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267712"/>
            <a:ext cx="530352" cy="1042416"/>
          </a:xfrm>
          <a:prstGeom prst="rect">
            <a:avLst/>
          </a:prstGeom>
          <a:solidFill>
            <a:srgbClr val="257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0040" y="2267712"/>
            <a:ext cx="5303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295144"/>
            <a:ext cx="5230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segment basis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2532888"/>
            <a:ext cx="5230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8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 R 个历史 basis 向量：B = E(S)，E: K → 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B8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解码为未来段：F = D(B)，D: R → K_y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B8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可选正交惩罚 λ ‖BB⊤ − I‖² 抑制冗余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99632" y="2322576"/>
            <a:ext cx="0" cy="932688"/>
          </a:xfrm>
          <a:prstGeom prst="line">
            <a:avLst/>
          </a:prstGeom>
          <a:noFill/>
          <a:ln w="12700">
            <a:solidFill>
              <a:srgbClr val="1E2E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91072" y="2295144"/>
            <a:ext cx="5440680" cy="9692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C8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TimeBase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8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segment-level basis 表示；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8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basis 在变量间共享，等价于跨通道低秩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383280"/>
            <a:ext cx="11548872" cy="1042416"/>
          </a:xfrm>
          <a:prstGeom prst="rect">
            <a:avLst/>
          </a:prstGeom>
          <a:solidFill>
            <a:srgbClr val="0C1528"/>
          </a:solidFill>
          <a:ln w="19050">
            <a:solidFill>
              <a:srgbClr val="8B55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383280"/>
            <a:ext cx="530352" cy="1042416"/>
          </a:xfrm>
          <a:prstGeom prst="rect">
            <a:avLst/>
          </a:prstGeom>
          <a:solidFill>
            <a:srgbClr val="8B55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20040" y="3383280"/>
            <a:ext cx="5303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3410712"/>
            <a:ext cx="5230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level-shape 分解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3648456"/>
            <a:ext cx="5230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8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每周期段拆为：level_k = mean_p S[k,p]（段均值）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B8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shape_{k,p} = S[k,p] − level_k（段内偏差）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B8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level 路径 K→K_y，shape 路径在周期轴上低秩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99632" y="3438144"/>
            <a:ext cx="0" cy="932688"/>
          </a:xfrm>
          <a:prstGeom prst="line">
            <a:avLst/>
          </a:prstGeom>
          <a:noFill/>
          <a:ln w="12700">
            <a:solidFill>
              <a:srgbClr val="1E2E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91072" y="3410712"/>
            <a:ext cx="5440680" cy="9692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C8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DLinear（AAAI 2023）趋势/余量分解思想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8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将 trend-remainder 分解搬入周期段坐标系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8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level ≈ 段振幅趋势，shape ≈ 段内波形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4498848"/>
            <a:ext cx="11548872" cy="1042416"/>
          </a:xfrm>
          <a:prstGeom prst="rect">
            <a:avLst/>
          </a:prstGeom>
          <a:solidFill>
            <a:srgbClr val="0C1528"/>
          </a:solidFill>
          <a:ln w="19050">
            <a:solidFill>
              <a:srgbClr val="9220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498848"/>
            <a:ext cx="530352" cy="1042416"/>
          </a:xfrm>
          <a:prstGeom prst="rect">
            <a:avLst/>
          </a:prstGeom>
          <a:solidFill>
            <a:srgbClr val="92202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20040" y="4498848"/>
            <a:ext cx="5303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" y="4526280"/>
            <a:ext cx="5230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近期周期稀疏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14400" y="4764024"/>
            <a:ext cx="5230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8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仅保最近 n 个周期段（硬截断或固定指数衰减）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B8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衰减权重 weight_i = decay^i，i=0 为最新段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B8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不引入可学习门控，预算 = recent_taps × K_y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99632" y="4553712"/>
            <a:ext cx="0" cy="932688"/>
          </a:xfrm>
          <a:prstGeom prst="line">
            <a:avLst/>
          </a:prstGeom>
          <a:noFill/>
          <a:ln w="12700">
            <a:solidFill>
              <a:srgbClr val="1E2E4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91072" y="4526280"/>
            <a:ext cx="5440680" cy="9692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C8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SparseTSF 稀疏选择思想（近期段有效）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8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指数平滑（Holt-Winters）固定衰减先验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8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本设计固定衰减，排除可学习稀疏的混淆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5614416"/>
            <a:ext cx="11548872" cy="1042416"/>
          </a:xfrm>
          <a:prstGeom prst="rect">
            <a:avLst/>
          </a:prstGeom>
          <a:solidFill>
            <a:srgbClr val="0C1528"/>
          </a:solidFill>
          <a:ln w="19050">
            <a:solidFill>
              <a:srgbClr val="5A20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5614416"/>
            <a:ext cx="530352" cy="1042416"/>
          </a:xfrm>
          <a:prstGeom prst="rect">
            <a:avLst/>
          </a:prstGeom>
          <a:solidFill>
            <a:srgbClr val="5A208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20040" y="5614416"/>
            <a:ext cx="5303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2600" dirty="0"/>
          </a:p>
        </p:txBody>
      </p:sp>
      <p:sp>
        <p:nvSpPr>
          <p:cNvPr id="38" name="Text 36"/>
          <p:cNvSpPr txBox="1"/>
          <p:nvPr/>
        </p:nvSpPr>
        <p:spPr>
          <a:xfrm>
            <a:off x="914400" y="5641848"/>
            <a:ext cx="5230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可分离 / Kronecker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914400" y="5879592"/>
            <a:ext cx="5230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8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权重矩阵分解为 J 个可分离项之和：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B8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 ≈ Σ_j  A_j（周期轴 K→K_y）⊗ B_j（相位特征 P）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B8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 = Σ_j [A_j 映射的段均值] × B_j 相位特征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99632" y="5669280"/>
            <a:ext cx="0" cy="932688"/>
          </a:xfrm>
          <a:prstGeom prst="line">
            <a:avLst/>
          </a:prstGeom>
          <a:noFill/>
          <a:ln w="12700">
            <a:solidFill>
              <a:srgbClr val="1E2E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91072" y="5641848"/>
            <a:ext cx="5440680" cy="9692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C8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Tucker 分解 / Kronecker 积低秩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8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Koopa（NIPS 2023）Koopman 算子可分离特征思想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8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J=1 退化为 level-only 映射乘固定相位形状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2026-09-16T02:50:14Z</dcterms:created>
  <dcterms:modified xsi:type="dcterms:W3CDTF">2026-09-16T02:50:14Z</dcterms:modified>
</cp:coreProperties>
</file>